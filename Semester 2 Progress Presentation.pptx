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7"/>
  </p:notesMasterIdLst>
  <p:sldIdLst>
    <p:sldId id="277" r:id="rId5"/>
    <p:sldId id="257" r:id="rId6"/>
    <p:sldId id="283" r:id="rId7"/>
    <p:sldId id="284" r:id="rId8"/>
    <p:sldId id="285" r:id="rId9"/>
    <p:sldId id="309" r:id="rId10"/>
    <p:sldId id="286" r:id="rId11"/>
    <p:sldId id="287" r:id="rId12"/>
    <p:sldId id="306" r:id="rId13"/>
    <p:sldId id="288" r:id="rId14"/>
    <p:sldId id="304" r:id="rId15"/>
    <p:sldId id="289" r:id="rId16"/>
    <p:sldId id="312" r:id="rId17"/>
    <p:sldId id="303" r:id="rId18"/>
    <p:sldId id="290" r:id="rId19"/>
    <p:sldId id="291" r:id="rId20"/>
    <p:sldId id="305" r:id="rId21"/>
    <p:sldId id="310" r:id="rId22"/>
    <p:sldId id="292" r:id="rId23"/>
    <p:sldId id="293" r:id="rId24"/>
    <p:sldId id="311" r:id="rId25"/>
    <p:sldId id="313" r:id="rId26"/>
    <p:sldId id="294" r:id="rId27"/>
    <p:sldId id="295" r:id="rId28"/>
    <p:sldId id="297" r:id="rId29"/>
    <p:sldId id="307" r:id="rId30"/>
    <p:sldId id="299" r:id="rId31"/>
    <p:sldId id="314" r:id="rId32"/>
    <p:sldId id="300" r:id="rId33"/>
    <p:sldId id="301" r:id="rId34"/>
    <p:sldId id="302" r:id="rId35"/>
    <p:sldId id="278" r:id="rId36"/>
  </p:sldIdLst>
  <p:sldSz cx="12192000" cy="6858000"/>
  <p:notesSz cx="6858000" cy="9144000"/>
  <p:defaultTextStyle>
    <a:defPPr>
      <a:defRPr lang="en-L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EDF81B7-A880-3059-2BD8-968084970720}" name="WAKED,Ahlam" initials="" userId="S::ahlamwaked@ccj.edu.lb::19c7e792-92db-41c5-ae0c-d88250dbfd04" providerId="AD"/>
  <p188:author id="{A6EE84DD-EE5F-81F3-EF54-4431B466D1ED}" name="Alissar Yehya" initials="AY" userId="S::ay36@aub.edu.lb::9f7ae346-7500-40ea-a04a-51a5208c63b0" providerId="AD"/>
  <p188:author id="{DD9BECE6-4A60-1D27-BBB1-6219C43EB6FF}" name="Niveen Abi Ghannam" initials="NG" userId="S::na226@aub.edu.lb::b51352a6-c757-48be-aaa5-ae71d189920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21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19"/>
    <p:restoredTop sz="80151" autoAdjust="0"/>
  </p:normalViewPr>
  <p:slideViewPr>
    <p:cSldViewPr snapToGrid="0">
      <p:cViewPr varScale="1">
        <p:scale>
          <a:sx n="69" d="100"/>
          <a:sy n="69" d="100"/>
        </p:scale>
        <p:origin x="1152" y="58"/>
      </p:cViewPr>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909FE-021D-D342-9480-E43D7F7A700B}" type="datetimeFigureOut">
              <a:rPr lang="en-LB" smtClean="0"/>
              <a:t>02/27/2026</a:t>
            </a:fld>
            <a:endParaRPr lang="en-L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91081-CCB8-1C45-A46F-18FA1E858F29}" type="slidenum">
              <a:rPr lang="en-LB" smtClean="0"/>
              <a:t>‹#›</a:t>
            </a:fld>
            <a:endParaRPr lang="en-LB"/>
          </a:p>
        </p:txBody>
      </p:sp>
    </p:spTree>
    <p:extLst>
      <p:ext uri="{BB962C8B-B14F-4D97-AF65-F5344CB8AC3E}">
        <p14:creationId xmlns:p14="http://schemas.microsoft.com/office/powerpoint/2010/main" val="1480454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b="1" dirty="0"/>
              <a:t>Prompts / Sentence Starters:</a:t>
            </a:r>
            <a:endParaRPr lang="en-US" sz="4000" dirty="0"/>
          </a:p>
          <a:p>
            <a:r>
              <a:rPr lang="en-US" sz="5400" b="0" dirty="0">
                <a:solidFill>
                  <a:srgbClr val="CCCCCC"/>
                </a:solidFill>
                <a:effectLst/>
                <a:latin typeface="Consolas" panose="020B0609020204030204" pitchFamily="49" charset="0"/>
              </a:rPr>
              <a:t>"Good morning/afternoon. Thank you for taking the time to review our progress. Today, we're presenting our Final Year Project on Data-Driven Prediction of Material Waste in Construction Projects Using Machine Learning. I'm [Your Name], and I'm joined by my teammates Lucas, Saro, Shahan, and Jad. We're working under the supervision of Dr. Mohamed-Asem Abdul Malak and Dr. Farah Demachkieh. This presentation will cover our problem statement, methodology, what we accomplished in Semester 1, the significant enhancements we've made in Semester 2, and demonstrate how the system works. Let's begin.</a:t>
            </a:r>
          </a:p>
          <a:p>
            <a:endParaRPr lang="en-LB" dirty="0"/>
          </a:p>
        </p:txBody>
      </p:sp>
      <p:sp>
        <p:nvSpPr>
          <p:cNvPr id="4" name="Slide Number Placeholder 3"/>
          <p:cNvSpPr>
            <a:spLocks noGrp="1"/>
          </p:cNvSpPr>
          <p:nvPr>
            <p:ph type="sldNum" sz="quarter" idx="5"/>
          </p:nvPr>
        </p:nvSpPr>
        <p:spPr/>
        <p:txBody>
          <a:bodyPr/>
          <a:lstStyle/>
          <a:p>
            <a:fld id="{09091081-CCB8-1C45-A46F-18FA1E858F29}" type="slidenum">
              <a:rPr lang="en-LB" smtClean="0"/>
              <a:t>1</a:t>
            </a:fld>
            <a:endParaRPr lang="en-LB"/>
          </a:p>
        </p:txBody>
      </p:sp>
    </p:spTree>
    <p:extLst>
      <p:ext uri="{BB962C8B-B14F-4D97-AF65-F5344CB8AC3E}">
        <p14:creationId xmlns:p14="http://schemas.microsoft.com/office/powerpoint/2010/main" val="1933662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Consolas" panose="020B0609020204030204" pitchFamily="49" charset="0"/>
              </a:rPr>
              <a:t>Let me start by explaining the problem we're addressing. In the Middle East construction industry, materials account for 50 to 60 percent of total project costs. Currently, contractors use fixed waste allowances, typically between 5 and 15 percent, but these are often inaccurate. For steel reinforcement specifically, waste can vary significantly from 3 to 8 percent depending on project characteristics. The gap we identified is that there are no data-driven prediction tools that link specific project parameters to expected waste levels. Our objectives are clear: First, develop a machine learning model that predicts steel waste with high accuracy - our target is R-squared greater than or equal to 0.60 and mean absolute error less than or equal to 2.0 percent. Second, create an explainable AI system using SHAP-based feature importance so users understand why predictions are made. Third, quantify the financial and environmental impact by calculating cost and CO₂ emissions. And fourth, build a production-ready web application that makes this technology accessible to industry professionals. The formula shown here is how we calculate steel waste percentage - it's the difference between ordered and installed theoretical quantities, divided by installed theoretical, multiplied by 100.</a:t>
            </a:r>
          </a:p>
        </p:txBody>
      </p:sp>
      <p:sp>
        <p:nvSpPr>
          <p:cNvPr id="4" name="Slide Number Placeholder 3"/>
          <p:cNvSpPr>
            <a:spLocks noGrp="1"/>
          </p:cNvSpPr>
          <p:nvPr>
            <p:ph type="sldNum" sz="quarter" idx="5"/>
          </p:nvPr>
        </p:nvSpPr>
        <p:spPr/>
        <p:txBody>
          <a:bodyPr/>
          <a:lstStyle/>
          <a:p>
            <a:fld id="{09091081-CCB8-1C45-A46F-18FA1E858F29}" type="slidenum">
              <a:rPr lang="en-LB" smtClean="0"/>
              <a:t>2</a:t>
            </a:fld>
            <a:endParaRPr lang="en-LB"/>
          </a:p>
        </p:txBody>
      </p:sp>
    </p:spTree>
    <p:extLst>
      <p:ext uri="{BB962C8B-B14F-4D97-AF65-F5344CB8AC3E}">
        <p14:creationId xmlns:p14="http://schemas.microsoft.com/office/powerpoint/2010/main" val="1501478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Consolas" panose="020B0609020204030204" pitchFamily="49" charset="0"/>
              </a:rPr>
              <a:t>Our methodology follows a systematic five-phase approach. Phase 1 involved an extensive literature review where we reviewed over 50 research papers on construction waste and identified 16 key waste drivers, which we categorized into material-related, management-related, and project dynamics parameters. Phase 2 focused on data collection and generation. We started with a literature-based synthetic dataset of 3,000 projects, and we're currently working with A.R. Hourie Enterprises to integrate real project data. All data is validated against industry practices. Phase 3 was model development, where we tested 10 different machine learning algorithms and selected the best-performing one - Gradient Boosting. We evaluated models using multiple metrics: Mean Absolute Error, Root Mean Squared Error, R-squared, Mean Absolute Percentage Error, and cross-validation. Phase 4 involved system enhancement, where we added explainability using SHAP, cost and CO₂ impact analysis, reliability indicators, and built a professional web interface. Phase 5 is validation and deployment, where we conduct cross-validation testing, validate against real-world scenarios, and deploy a production-ready system. This methodology ensures we build a robust, validated, and practical solution.</a:t>
            </a:r>
          </a:p>
        </p:txBody>
      </p:sp>
      <p:sp>
        <p:nvSpPr>
          <p:cNvPr id="4" name="Slide Number Placeholder 3"/>
          <p:cNvSpPr>
            <a:spLocks noGrp="1"/>
          </p:cNvSpPr>
          <p:nvPr>
            <p:ph type="sldNum" sz="quarter" idx="5"/>
          </p:nvPr>
        </p:nvSpPr>
        <p:spPr/>
        <p:txBody>
          <a:bodyPr/>
          <a:lstStyle/>
          <a:p>
            <a:fld id="{09091081-CCB8-1C45-A46F-18FA1E858F29}" type="slidenum">
              <a:rPr lang="en-LB" smtClean="0"/>
              <a:t>3</a:t>
            </a:fld>
            <a:endParaRPr lang="en-LB"/>
          </a:p>
        </p:txBody>
      </p:sp>
    </p:spTree>
    <p:extLst>
      <p:ext uri="{BB962C8B-B14F-4D97-AF65-F5344CB8AC3E}">
        <p14:creationId xmlns:p14="http://schemas.microsoft.com/office/powerpoint/2010/main" val="3135259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Consolas" panose="020B0609020204030204" pitchFamily="49" charset="0"/>
              </a:rPr>
              <a:t>Now let me recap what we accomplished in Semester 1. First, we conducted an extensive literature review and identified 16 key waste drivers from research papers and industry practices. We categorized these into three groups: 4 material-related parameters, 5 management-related parameters, and 7 project dynamics parameters. Second, we generated a synthetic dataset of 3,000 projects based on relationships we derived from the literature, and we validated the distributions and correlations to ensure realism. Third, we tested 10 different machine learning algorithms, including Random Forest, XGBoost, Linear Regression, and others. Our best-performing model was Gradient Boosting, which achieved a test MAE of 0.73 percent - that's 63 percent better than our target of 2.0 percent. The test RMSE was 0.92 percent, 69 percent better than our 3.0 percent target. The R-squared value was 0.93, which is 55 percent better than our target of 0.60. The MAPE was 10.88 percent, which is excellent for this type of prediction. Finally, we created a basic web interface using simple HTML, CSS, and JavaScript - it was functional but had a very basic design, as you can see in the screenshot. This gave us a solid foundation to build upon in Semester 2.</a:t>
            </a:r>
          </a:p>
        </p:txBody>
      </p:sp>
      <p:sp>
        <p:nvSpPr>
          <p:cNvPr id="4" name="Slide Number Placeholder 3"/>
          <p:cNvSpPr>
            <a:spLocks noGrp="1"/>
          </p:cNvSpPr>
          <p:nvPr>
            <p:ph type="sldNum" sz="quarter" idx="5"/>
          </p:nvPr>
        </p:nvSpPr>
        <p:spPr/>
        <p:txBody>
          <a:bodyPr/>
          <a:lstStyle/>
          <a:p>
            <a:fld id="{09091081-CCB8-1C45-A46F-18FA1E858F29}" type="slidenum">
              <a:rPr lang="en-LB" smtClean="0"/>
              <a:t>4</a:t>
            </a:fld>
            <a:endParaRPr lang="en-LB"/>
          </a:p>
        </p:txBody>
      </p:sp>
    </p:spTree>
    <p:extLst>
      <p:ext uri="{BB962C8B-B14F-4D97-AF65-F5344CB8AC3E}">
        <p14:creationId xmlns:p14="http://schemas.microsoft.com/office/powerpoint/2010/main" val="3767646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Let me explain how we generated our synthetic dataset. Our approach was literature-based - we derived relationships from over 50 research papers on construction waste. All variables follow realistic, industry-typical distributions, and variables are generated in order of dependency to maintain logical relationships. We use a fixed random seed of 42 for reproducibility. We generated 3,000 projects, which is sufficient for machine learning training. All 16 input features are included, and values are within industry-typical bounds. We have quality control checks to ensure data coherence. For example, we know from research that higher supervision leads to better material control, which leads to lower waste. More change orders lead to higher design revisions, which increases waste. Better cutting optimization reduces waste. These relationships are encoded in our generation logic, making the synthetic data realistic and useful for training our machine learning model.</a:t>
            </a:r>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5</a:t>
            </a:fld>
            <a:endParaRPr lang="en-LB"/>
          </a:p>
        </p:txBody>
      </p:sp>
    </p:spTree>
    <p:extLst>
      <p:ext uri="{BB962C8B-B14F-4D97-AF65-F5344CB8AC3E}">
        <p14:creationId xmlns:p14="http://schemas.microsoft.com/office/powerpoint/2010/main" val="193376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The generation pipeline works in five steps. First, we generate categorical variables independently - these are stock length policy, contract type, and project phase. Second, we generate dependent variables based on the categorical ones - for example, reinforcement ratio depends on project phase, and number of unique lengths depends on stock length policy. Third, we generate correlated variables based on other variables - material control depends on supervision index, storage handling depends on material control, and so on. Fourth, we calculate steel waste using a research-derived formula that incorporates all 16 parameters, with a baseline of 6.5 percent plus stochastic noise to add realism. Fifth, we output a complete project record with all parameters and the calculated waste percentage. </a:t>
            </a:r>
            <a:endParaRPr lang="fr-FR" dirty="0"/>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6</a:t>
            </a:fld>
            <a:endParaRPr lang="en-LB"/>
          </a:p>
        </p:txBody>
      </p:sp>
    </p:spTree>
    <p:extLst>
      <p:ext uri="{BB962C8B-B14F-4D97-AF65-F5344CB8AC3E}">
        <p14:creationId xmlns:p14="http://schemas.microsoft.com/office/powerpoint/2010/main" val="3070081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One of the major improvements this semester is the complete transformation of our web interface. In Semester 1, we had a basic interface with simple HTML, CSS, and JavaScript - it was functional but had minimal styling and a single-page design. In Semester 2, we've created a modern, professional interface. We use a professional color palette with a minimal aesthetic - we removed all glossy colors and gradients for a clean, modern look. The architecture now uses Flask with Jinja2 templating, allowing for template inheritance and better code organization. The layout is fully responsive using Bootstrap 5, optimized for mobile, tablet, and desktop devices. We now have multiple pages: a landing page with hero section, a prediction page with comprehensive form and results, an about page with system overview, and a features page with detailed documentation. The user experience is significantly enhanced with clear navigation, organized sections, and visual feedback. Key improvements include professional branding, responsive design, template inheritance following the DRY principle, organized static assets in separate folders, consistent spacing and typography, and modern UI components like cards, badges, and icons. This transformation makes the system not just functional, but professional and user-friendly.</a:t>
            </a:r>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7</a:t>
            </a:fld>
            <a:endParaRPr lang="en-LB"/>
          </a:p>
        </p:txBody>
      </p:sp>
    </p:spTree>
    <p:extLst>
      <p:ext uri="{BB962C8B-B14F-4D97-AF65-F5344CB8AC3E}">
        <p14:creationId xmlns:p14="http://schemas.microsoft.com/office/powerpoint/2010/main" val="872594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Let me walk you through how easy it is to use our website. The user journey is straightforward and intuitive. Step 1 is accessing the website - users simply navigate to the URL, no installation or software download required. They're greeted with a clean, welcoming landing page with clear call-to-action buttons. Step 2 is navigating to the prediction page - users click the 'Make Prediction' button or use the intuitive navigation menu. Step 3 is entering project parameters. We have 16 input fields organized into logical sections: Project Information, Material Parameters, Management &amp; Control, and Project Dynamics. Each field has helpful placeholders showing expected ranges, and we have input validation with real-time feedback. For quick testing, we provide default values that users can modify.</a:t>
            </a:r>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8</a:t>
            </a:fld>
            <a:endParaRPr lang="en-LB"/>
          </a:p>
        </p:txBody>
      </p:sp>
    </p:spTree>
    <p:extLst>
      <p:ext uri="{BB962C8B-B14F-4D97-AF65-F5344CB8AC3E}">
        <p14:creationId xmlns:p14="http://schemas.microsoft.com/office/powerpoint/2010/main" val="2162746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Step 4 is submitting and getting results - users click a single 'Predict' button, and the system processes the request in under 2 seconds. Results are comprehensive and displayed clearly: waste percentage prediction with category classification, top 5 waste-driving factors with SHAP values, reliability indicator showing confidence level, cost impact analysis, CO₂ emissions, and potential savings. Step 5 is interpreting and acting on the results. We provide clear visual indicators with color-coded categories, actionable insights showing which factors to address, financial and environmental impact, and a reliability confidence level. The entire process takes less than a minute, and everything the user needs is in one place - no switching between different tools or interfaces.</a:t>
            </a:r>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9</a:t>
            </a:fld>
            <a:endParaRPr lang="en-LB"/>
          </a:p>
        </p:txBody>
      </p:sp>
    </p:spTree>
    <p:extLst>
      <p:ext uri="{BB962C8B-B14F-4D97-AF65-F5344CB8AC3E}">
        <p14:creationId xmlns:p14="http://schemas.microsoft.com/office/powerpoint/2010/main" val="39725681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Let me show you a live example of using the website. For this example, we have a commercial building project in the frame phase with 100,000 kilograms of steel. I'll walk through entering the parameters and interpreting the results. The key insights are that the system identifies actionable factors that project managers can control, provides clear financial and environmental implications, and the reliability indicator guides how to interpret the results. This example demonstrates how easy and valuable the system is to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10</a:t>
            </a:fld>
            <a:endParaRPr lang="en-LB"/>
          </a:p>
        </p:txBody>
      </p:sp>
    </p:spTree>
    <p:extLst>
      <p:ext uri="{BB962C8B-B14F-4D97-AF65-F5344CB8AC3E}">
        <p14:creationId xmlns:p14="http://schemas.microsoft.com/office/powerpoint/2010/main" val="2314393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For input, we enter a project ID, set reinforcement ratio to 120 kilograms per cubic meter, specify 20 unique lengths, select standard 12-meter stock length policy, set cutting optimization to none, supervision index to 3, material control to 2, change orders to 1 per month, design revisions to 2 per month, and fill in all 16 parameters. When we submit, the system processes this in under 2 seconds and returns comprehensive results. The predicted waste is 11.16 percent, which is categorized as Poor - meaning immediate action is needed. The reliability is Medium with 41 percent confidence, indicating the input data is somewhat similar to our training data. The top waste-driving factors are identified: Offcut Reuse Policy contributes plus 1.57, meaning it increases waste - this suggests implementing an offcut reuse policy could help. Cutting Optimization contributes plus 1.18, also increasing waste - this suggests better cutting optimization is needed. Interestingly, Change Orders contributes minus 0.95, meaning it decreases waste relative to the baseline - this is counterintuitive but shows the model captures complex relationships. The cost impact shows 8,926 dollars in waste cost, and the CO₂ impact is 27,894 kilograms. With a 50 percent reduction scenario, potential savings are 4,463 dollars. </a:t>
            </a:r>
            <a:endParaRPr lang="fr-FR" dirty="0"/>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11</a:t>
            </a:fld>
            <a:endParaRPr lang="en-LB"/>
          </a:p>
        </p:txBody>
      </p:sp>
    </p:spTree>
    <p:extLst>
      <p:ext uri="{BB962C8B-B14F-4D97-AF65-F5344CB8AC3E}">
        <p14:creationId xmlns:p14="http://schemas.microsoft.com/office/powerpoint/2010/main" val="2458202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Consolas" panose="020B0609020204030204" pitchFamily="49" charset="0"/>
              </a:rPr>
              <a:t>We're currently working on integrating real project data from A.R. Hourie Enterprises, one of the largest construction companies in the region. This partnership was established through our advisors, Dr. Malak and Dr. Demachkieh. The data collection process began with an initial meeting with Ms. Karen El Zind at Hourie Enterprises, where we received expert input on how steel waste interacts with different parameters. We then identified our data requirements, established a data sharing agreement that complies with confidentiality and ethics standards, and are now in the process of cleaning, validating, and formatting the data for integration. </a:t>
            </a:r>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12</a:t>
            </a:fld>
            <a:endParaRPr lang="en-LB"/>
          </a:p>
        </p:txBody>
      </p:sp>
    </p:spTree>
    <p:extLst>
      <p:ext uri="{BB962C8B-B14F-4D97-AF65-F5344CB8AC3E}">
        <p14:creationId xmlns:p14="http://schemas.microsoft.com/office/powerpoint/2010/main" val="35430982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Consolas" panose="020B0609020204030204" pitchFamily="49" charset="0"/>
              </a:rPr>
              <a:t>The expected data characteristics include geographic diversity across the Middle East, residential and commercial building projects, recent projects from the last 5 to 10 years, all 16 features we need plus actual waste percentages, and multiple projects - the exact number is still being determined. </a:t>
            </a:r>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13</a:t>
            </a:fld>
            <a:endParaRPr lang="en-LB"/>
          </a:p>
        </p:txBody>
      </p:sp>
    </p:spTree>
    <p:extLst>
      <p:ext uri="{BB962C8B-B14F-4D97-AF65-F5344CB8AC3E}">
        <p14:creationId xmlns:p14="http://schemas.microsoft.com/office/powerpoint/2010/main" val="6051489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Consolas" panose="020B0609020204030204" pitchFamily="49" charset="0"/>
              </a:rPr>
              <a:t>Our implementation plan involves data validation with quality checks and outlier detection, feature alignment to ensure compatibility with our model, model retraining to incorporate real data into the training set, performance validation to compare real versus synthetic performance, and continuous improvement through iterative model updates. The benefits are significant: improved model accuracy with real-world patterns, validation of our synthetic data assumptions, regional-specific calibration for the Middle East market, and enhanced model credibility. This real data integration will strengthen our model and make it even more applicable to industry use.</a:t>
            </a:r>
          </a:p>
          <a:p>
            <a:endParaRPr lang="fr-FR" dirty="0"/>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14</a:t>
            </a:fld>
            <a:endParaRPr lang="en-LB"/>
          </a:p>
        </p:txBody>
      </p:sp>
    </p:spTree>
    <p:extLst>
      <p:ext uri="{BB962C8B-B14F-4D97-AF65-F5344CB8AC3E}">
        <p14:creationId xmlns:p14="http://schemas.microsoft.com/office/powerpoint/2010/main" val="394210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Before diving into technical details, let me give you an overview of all four enhancements we completed this semester. First, Model Explainability and Transparency - we implemented SHAP-based feature importance that shows the top 5 waste-driving factors for each prediction, helping engineers identify actionable parameters. Second, Cost and CO₂ Impact Estimation - we calculate both financial impact showing waste cost in dollars, and environmental impact showing CO₂ emissions, plus potential savings scenarios. Third, Prediction Reliability Indicator - we use k-nearest neighbors to provide confidence scoring with High, Medium, or Low reliability levels, ensuring transparent uncertainty communication. Fourth, Professional Web Application Interface - we completely redesigned the interface with modern, responsive design, multiple pages, and a template-based architecture using Flask and Jinja2. All four features are seamlessly integrated into the system, working together to provide comprehensive insights. Now let me show you the technical implementation of each feature.</a:t>
            </a:r>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15</a:t>
            </a:fld>
            <a:endParaRPr lang="en-LB"/>
          </a:p>
        </p:txBody>
      </p:sp>
    </p:spTree>
    <p:extLst>
      <p:ext uri="{BB962C8B-B14F-4D97-AF65-F5344CB8AC3E}">
        <p14:creationId xmlns:p14="http://schemas.microsoft.com/office/powerpoint/2010/main" val="619048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One of our key technical implementations is SHAP explainability. SHAP stands for SHapley Additive exPlanations - it's a game-theoretic approach that explains how each feature contributes to a prediction. For tree-based models like our Gradient Boosting model, we use TreeExplainer, which provides fast, exact SHAP values. The technical implementation works like this: We prepare the input features using the same preprocessing pipeline as prediction, initialize a SHAP TreeExplainer with our trained model, calculate SHAP values for the input, extract contribution values, create a dictionary mapping each feature to its contribution, sort features by absolute contribution to identify the most impactful factors, and return the top N features. </a:t>
            </a:r>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16</a:t>
            </a:fld>
            <a:endParaRPr lang="en-LB"/>
          </a:p>
        </p:txBody>
      </p:sp>
    </p:spTree>
    <p:extLst>
      <p:ext uri="{BB962C8B-B14F-4D97-AF65-F5344CB8AC3E}">
        <p14:creationId xmlns:p14="http://schemas.microsoft.com/office/powerpoint/2010/main" val="34699751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Key features of this implementation include fast calculation with O(n) complexity for tree models, exact values with no approximation needed, feature ranking that identifies the most impactful factors, impact direction showing whether factors increase or decrease waste, and a fallback to standard feature importance if SHAP is unavailable.</a:t>
            </a:r>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17</a:t>
            </a:fld>
            <a:endParaRPr lang="en-LB"/>
          </a:p>
        </p:txBody>
      </p:sp>
    </p:spTree>
    <p:extLst>
      <p:ext uri="{BB962C8B-B14F-4D97-AF65-F5344CB8AC3E}">
        <p14:creationId xmlns:p14="http://schemas.microsoft.com/office/powerpoint/2010/main" val="3785857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The output shows the top 5 waste-driving factors with contribution values, clear indication of which factors increase or decrease waste, and actionable insights for project managers. This explainability feature builds trust in AI predictions and helps engineers understand why certain predictions are made.</a:t>
            </a:r>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18</a:t>
            </a:fld>
            <a:endParaRPr lang="en-LB"/>
          </a:p>
        </p:txBody>
      </p:sp>
    </p:spTree>
    <p:extLst>
      <p:ext uri="{BB962C8B-B14F-4D97-AF65-F5344CB8AC3E}">
        <p14:creationId xmlns:p14="http://schemas.microsoft.com/office/powerpoint/2010/main" val="21392802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Our reliability calculation uses k-nearest neighbors to measure how similar the input data is to our training data. We find the 10 nearest training samples using Euclidean distance, calculate both raw distances and normalized distances by feature standard deviation, and combine them with a weighted average - 60 percent weight on distance score and 40 percent on normalized score. The reliability level is determined as High for scores 70 percent and above, Medium for 40 to 70 percent, and Low for below 40 percent. This provides engineers with a clear confidence indicator. For cost and CO₂ impact, we calculate waste quantity in kilograms by multiplying waste percentage by total steel quantity, calculate waste cost by multiplying waste quantity by 0.80 dollars per kilogram, and calculate CO₂ emissions by multiplying waste quantity by 2.5 kilograms of CO₂ per kilogram of steel. We also calculate potential savings assuming a 50 percent waste reduction scenario. Key features include reliability measurement of input similarity, dual metrics combining raw and normalized distances, real-time financial calculations, environmental impact assessment with CO₂ emissions and reduction potential, and configurable parameters - unit costs and emission factors can be adjusted. These features provide comprehensive insights beyond just the prediction, helping users understand both the confidence level and the financial and environmental implications.</a:t>
            </a:r>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19</a:t>
            </a:fld>
            <a:endParaRPr lang="en-LB"/>
          </a:p>
        </p:txBody>
      </p:sp>
    </p:spTree>
    <p:extLst>
      <p:ext uri="{BB962C8B-B14F-4D97-AF65-F5344CB8AC3E}">
        <p14:creationId xmlns:p14="http://schemas.microsoft.com/office/powerpoint/2010/main" val="2045443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Our reliability calculation uses k-nearest neighbors to measure how similar the input data is to our training data. We find the 10 nearest training samples using Euclidean distance, calculate both raw distances and normalized distances by feature standard deviation, and combine them with a weighted average - 60 percent weight on distance score and 40 percent on normalized score. The reliability level is determined as High for scores 70 percent and above, Medium for 40 to 70 percent, and Low for below 40 percent. This provides engineers with a clear confidence indicator. For cost and CO₂ impact, we calculate waste quantity in kilograms by multiplying waste percentage by total steel quantity, calculate waste cost by multiplying waste quantity by 0.80 dollars per kilogram, and calculate CO₂ emissions by multiplying waste quantity by 2.5 kilograms of CO₂ per kilogram of steel. We also calculate potential savings assuming a 50 percent waste reduction scenario. Key features include reliability measurement of input similarity, dual metrics combining raw and normalized distances, real-time financial calculations, environmental impact assessment with CO₂ emissions and reduction potential, and configurable parameters - unit costs and emission factors can be adjusted. These features provide comprehensive insights beyond just the prediction, helping users understand both the confidence level and the financial and environmental implications.</a:t>
            </a:r>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20</a:t>
            </a:fld>
            <a:endParaRPr lang="en-LB"/>
          </a:p>
        </p:txBody>
      </p:sp>
    </p:spTree>
    <p:extLst>
      <p:ext uri="{BB962C8B-B14F-4D97-AF65-F5344CB8AC3E}">
        <p14:creationId xmlns:p14="http://schemas.microsoft.com/office/powerpoint/2010/main" val="35384702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Our reliability calculation uses k-nearest neighbors to measure how similar the input data is to our training data. We find the 10 nearest training samples using Euclidean distance, calculate both raw distances and normalized distances by feature standard deviation, and combine them with a weighted average - 60 percent weight on distance score and 40 percent on normalized score. The reliability level is determined as High for scores 70 percent and above, Medium for 40 to 70 percent, and Low for below 40 percent. This provides engineers with a clear confidence indicator. For cost and CO₂ impact, we calculate waste quantity in kilograms by multiplying waste percentage by total steel quantity, calculate waste cost by multiplying waste quantity by 0.80 dollars per kilogram, and calculate CO₂ emissions by multiplying waste quantity by 2.5 kilograms of CO₂ per kilogram of steel. We also calculate potential savings assuming a 50 percent waste reduction scenario. Key features include reliability measurement of input similarity, dual metrics combining raw and normalized distances, real-time financial calculations, environmental impact assessment with CO₂ emissions and reduction potential, and configurable parameters - unit costs and emission factors can be adjusted. These features provide comprehensive insights beyond just the prediction, helping users understand both the confidence level and the financial and environmental implications.</a:t>
            </a:r>
          </a:p>
          <a:p>
            <a:endParaRPr lang="fr-FR" dirty="0"/>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21</a:t>
            </a:fld>
            <a:endParaRPr lang="en-LB"/>
          </a:p>
        </p:txBody>
      </p:sp>
    </p:spTree>
    <p:extLst>
      <p:ext uri="{BB962C8B-B14F-4D97-AF65-F5344CB8AC3E}">
        <p14:creationId xmlns:p14="http://schemas.microsoft.com/office/powerpoint/2010/main" val="3268416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Our Flask backend architecture is clean and efficient. The predict route handles POST requests, loads the trained model, extracts all 16 parameters from form data, converts them to a pandas DataFrame, and performs sequential processing: model prediction, SHAP explanation, reliability calculation, and cost/CO₂ impact analysis. All results are then rendered in the Jinja2 template. The frontend architecture uses Jinja2 template inheritance with a base template, organized static assets in separate folders for CSS, JavaScript, and images, responsive design using Bootstrap 5 grid system, and JavaScript for form validation and interactivity.</a:t>
            </a:r>
            <a:endParaRPr lang="fr-FR" dirty="0"/>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22</a:t>
            </a:fld>
            <a:endParaRPr lang="en-LB"/>
          </a:p>
        </p:txBody>
      </p:sp>
    </p:spTree>
    <p:extLst>
      <p:ext uri="{BB962C8B-B14F-4D97-AF65-F5344CB8AC3E}">
        <p14:creationId xmlns:p14="http://schemas.microsoft.com/office/powerpoint/2010/main" val="32412917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Our Flask backend architecture is clean and efficient. The predict route handles POST requests, loads the trained model, extracts all 16 parameters from form data, converts them to a pandas DataFrame, and performs sequential processing: model prediction, SHAP explanation, reliability calculation, and cost/CO₂ impact analysis. All results are then rendered in the Jinja2 template. The frontend architecture uses Jinja2 template inheritance with a base template, organized static assets in separate folders for CSS, JavaScript, and images, responsive design using Bootstrap 5 grid system, and JavaScript for form validation and interactivity.</a:t>
            </a:r>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23</a:t>
            </a:fld>
            <a:endParaRPr lang="en-LB"/>
          </a:p>
        </p:txBody>
      </p:sp>
    </p:spTree>
    <p:extLst>
      <p:ext uri="{BB962C8B-B14F-4D97-AF65-F5344CB8AC3E}">
        <p14:creationId xmlns:p14="http://schemas.microsoft.com/office/powerpoint/2010/main" val="32144896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Key technical points include a single route that handles all prediction logic, sequential processing that completes in under 2 seconds, template rendering where Jinja2 receives all computed results, comprehensive error handling with graceful failure and user-friendly messages, and excellent performance. This architecture ensures clean separation of concerns - model logic is in the ModelComparison class, web logic is in Flask routes, and presentation logic is in templates. The result is a maintainable, scalable, and professional system.</a:t>
            </a:r>
          </a:p>
          <a:p>
            <a:endParaRPr lang="fr-FR" dirty="0"/>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24</a:t>
            </a:fld>
            <a:endParaRPr lang="en-LB"/>
          </a:p>
        </p:txBody>
      </p:sp>
    </p:spTree>
    <p:extLst>
      <p:ext uri="{BB962C8B-B14F-4D97-AF65-F5344CB8AC3E}">
        <p14:creationId xmlns:p14="http://schemas.microsoft.com/office/powerpoint/2010/main" val="28530420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Consolas" panose="020B0609020204030204" pitchFamily="49" charset="0"/>
              </a:rPr>
              <a:t>Looking at what's left from our methodology, our immediate next steps include completing the Hourie data integration, retraining the model with real data, validating and comparing performance, final testing and documentation, and collecting user feedback. For future enhancements, we see several opportunities. First, data expansion - we want to add additional real project datasets, expand geographically beyond the Middle East, include temporal data for longitudinal studies, and cover different project types. Second, model improvements - we can optimize hyperparameters, explore ensemble methods, implement real-time learning for online updates, and add uncertainty quantification. Third, feature extensions - we want to add additional material types like concrete and blocks, include weather and environmental factors, add supply chain parameters, and incorporate advanced BIM integration metrics.</a:t>
            </a:r>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25</a:t>
            </a:fld>
            <a:endParaRPr lang="en-LB"/>
          </a:p>
        </p:txBody>
      </p:sp>
    </p:spTree>
    <p:extLst>
      <p:ext uri="{BB962C8B-B14F-4D97-AF65-F5344CB8AC3E}">
        <p14:creationId xmlns:p14="http://schemas.microsoft.com/office/powerpoint/2010/main" val="6240532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Fourth, system enhancements - we plan to add user authentication and history tracking, project comparison tools, batch prediction capabilities, an API for third-party integration, and a mobile application. Fifth, research and validation - we want to conduct field studies, run industry pilot programs, publish academic papers, and create best practices documentation. This roadmap ensures continuous improvement and expansion of the system's capabilities and impact.</a:t>
            </a:r>
          </a:p>
          <a:p>
            <a:endParaRPr lang="fr-FR" dirty="0"/>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26</a:t>
            </a:fld>
            <a:endParaRPr lang="en-LB"/>
          </a:p>
        </p:txBody>
      </p:sp>
    </p:spTree>
    <p:extLst>
      <p:ext uri="{BB962C8B-B14F-4D97-AF65-F5344CB8AC3E}">
        <p14:creationId xmlns:p14="http://schemas.microsoft.com/office/powerpoint/2010/main" val="10400689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The industry impact is significant. For cost savings, we can help save 4,000 to 8,000 dollars per project with 100,000 kilograms of steel. Annually, this could translate to millions in savings across the industry. We also improve estimation accuracy for better bidding. For environmental impact, we can reduce CO₂ emissions by 10,000 to 20,000 kilograms per project, improve material efficiency by reducing waste and thus less production needed, and contribute to sustainability goals aligned with net-zero targets. </a:t>
            </a:r>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27</a:t>
            </a:fld>
            <a:endParaRPr lang="en-LB"/>
          </a:p>
        </p:txBody>
      </p:sp>
    </p:spTree>
    <p:extLst>
      <p:ext uri="{BB962C8B-B14F-4D97-AF65-F5344CB8AC3E}">
        <p14:creationId xmlns:p14="http://schemas.microsoft.com/office/powerpoint/2010/main" val="17771850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In terms of innovation, this is the first steel-specific waste prediction system with explainability features. We've combined prediction, financial analysis, and environmental impact in one tool. We've focused on engineering needs with reliability indicators for responsible decision-making. And we've created a practical tool ready for immediate industry use. Our academic contribution includes a replicable methodology framework that can be applied to other materials, research that validates the ML approach for construction waste, and knowledge that advances understanding of waste drivers. This project demonstrates that academic research can create real-world value.</a:t>
            </a:r>
          </a:p>
        </p:txBody>
      </p:sp>
      <p:sp>
        <p:nvSpPr>
          <p:cNvPr id="4" name="Slide Number Placeholder 3"/>
          <p:cNvSpPr>
            <a:spLocks noGrp="1"/>
          </p:cNvSpPr>
          <p:nvPr>
            <p:ph type="sldNum" sz="quarter" idx="5"/>
          </p:nvPr>
        </p:nvSpPr>
        <p:spPr/>
        <p:txBody>
          <a:bodyPr/>
          <a:lstStyle/>
          <a:p>
            <a:fld id="{09091081-CCB8-1C45-A46F-18FA1E858F29}" type="slidenum">
              <a:rPr lang="en-LB" smtClean="0"/>
              <a:t>28</a:t>
            </a:fld>
            <a:endParaRPr lang="en-LB"/>
          </a:p>
        </p:txBody>
      </p:sp>
    </p:spTree>
    <p:extLst>
      <p:ext uri="{BB962C8B-B14F-4D97-AF65-F5344CB8AC3E}">
        <p14:creationId xmlns:p14="http://schemas.microsoft.com/office/powerpoint/2010/main" val="22430380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Now let's try the system! I've provided a QR code that you can scan with your phone to access the website directly. The link goes straight to the prediction page, no login is required, and the interface is mobile-friendly. I've prepared two suggested test scenarios for you to try. Scenario 1 is a low waste project with good practices: reinforcement ratio of 100 kilograms per cubic meter, 15 unique lengths, standard 12-meter stock length policy, full cutting optimization, supervision index of 5, material control of 3, storage handling of 5, BIM integration of 3, systematic offcut reuse, zero change orders, and zero design revisions. This should give you a low waste percentage with high reliability. </a:t>
            </a:r>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29</a:t>
            </a:fld>
            <a:endParaRPr lang="en-LB"/>
          </a:p>
        </p:txBody>
      </p:sp>
    </p:spTree>
    <p:extLst>
      <p:ext uri="{BB962C8B-B14F-4D97-AF65-F5344CB8AC3E}">
        <p14:creationId xmlns:p14="http://schemas.microsoft.com/office/powerpoint/2010/main" val="26462641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Scenario 2 is a high waste project with poor practices: reinforcement ratio of 180 kilograms per cubic meter, 35 unique lengths, custom stock lengths, no cutting optimization, supervision index of 1, material control of 1, storage handling of 1, no BIM integration, no offcut reuse, 5 change orders per month, and 8 design revisions per month. This should give you a high waste percentage with medium or low reliability. I've also provided parameter ranges for testing - reinforcement ratio from 60 to 180, unique lengths from 5 to 40, supervision index from 1 to 5, and so on. When you test, observe how the prediction changes with different inputs, which factors appear in the top 5 waste drivers, how the reliability indicator varies, the cost and CO₂ impact calculations, and the overall ease of use and interface quality. Please scan the QR code and try it out - we'd love to hear your feedback!</a:t>
            </a:r>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30</a:t>
            </a:fld>
            <a:endParaRPr lang="en-LB"/>
          </a:p>
        </p:txBody>
      </p:sp>
    </p:spTree>
    <p:extLst>
      <p:ext uri="{BB962C8B-B14F-4D97-AF65-F5344CB8AC3E}">
        <p14:creationId xmlns:p14="http://schemas.microsoft.com/office/powerpoint/2010/main" val="41804685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CCCCC"/>
                </a:solidFill>
                <a:effectLst/>
                <a:latin typeface="Consolas" panose="020B0609020204030204" pitchFamily="49" charset="0"/>
              </a:rPr>
              <a:t>In conclusion, we've accomplished a great deal. We've identified a real problem and developed a practical solution. We've created a high-performance machine learning model with 93 percent R-squared accuracy. We've integrated explainable AI with SHAP, added cost and CO₂ impact analysis, implemented reliability indicators, built a professional web application, and are making progress on real data integration. Key takeaways are that a data-driven approach using machine learning significantly outperforms traditional methods, the system provides immediate practical value with cost and environmental benefits, we've focused on engineering needs with explainability and reliability for responsible use, and we've created a production-ready system ready for industry deployment. Our next steps include completing the Hourie data integration, retraining and validating the model, collecting user feedback, and completing our final report. Thank you for your attention. We're happy to answer any questions you may have, and we encourage you to try the system using the QR code we provided.</a:t>
            </a:r>
          </a:p>
          <a:p>
            <a:endParaRPr lang="fr-FR" dirty="0"/>
          </a:p>
        </p:txBody>
      </p:sp>
      <p:sp>
        <p:nvSpPr>
          <p:cNvPr id="4" name="Slide Number Placeholder 3"/>
          <p:cNvSpPr>
            <a:spLocks noGrp="1"/>
          </p:cNvSpPr>
          <p:nvPr>
            <p:ph type="sldNum" sz="quarter" idx="5"/>
          </p:nvPr>
        </p:nvSpPr>
        <p:spPr/>
        <p:txBody>
          <a:bodyPr/>
          <a:lstStyle/>
          <a:p>
            <a:fld id="{09091081-CCB8-1C45-A46F-18FA1E858F29}" type="slidenum">
              <a:rPr lang="en-LB" smtClean="0"/>
              <a:t>31</a:t>
            </a:fld>
            <a:endParaRPr lang="en-LB"/>
          </a:p>
        </p:txBody>
      </p:sp>
    </p:spTree>
    <p:extLst>
      <p:ext uri="{BB962C8B-B14F-4D97-AF65-F5344CB8AC3E}">
        <p14:creationId xmlns:p14="http://schemas.microsoft.com/office/powerpoint/2010/main" val="3316541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179C0-FB5C-A1FB-BDF1-DB1F4794FF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LB"/>
          </a:p>
        </p:txBody>
      </p:sp>
      <p:sp>
        <p:nvSpPr>
          <p:cNvPr id="3" name="Subtitle 2">
            <a:extLst>
              <a:ext uri="{FF2B5EF4-FFF2-40B4-BE49-F238E27FC236}">
                <a16:creationId xmlns:a16="http://schemas.microsoft.com/office/drawing/2014/main" id="{B48DD56B-FA87-FA6A-D510-788CB03773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LB"/>
          </a:p>
        </p:txBody>
      </p:sp>
      <p:sp>
        <p:nvSpPr>
          <p:cNvPr id="4" name="Date Placeholder 3">
            <a:extLst>
              <a:ext uri="{FF2B5EF4-FFF2-40B4-BE49-F238E27FC236}">
                <a16:creationId xmlns:a16="http://schemas.microsoft.com/office/drawing/2014/main" id="{B3C1F656-AE98-A755-7FE4-55511E65AFFB}"/>
              </a:ext>
            </a:extLst>
          </p:cNvPr>
          <p:cNvSpPr>
            <a:spLocks noGrp="1"/>
          </p:cNvSpPr>
          <p:nvPr>
            <p:ph type="dt" sz="half" idx="10"/>
          </p:nvPr>
        </p:nvSpPr>
        <p:spPr/>
        <p:txBody>
          <a:bodyPr/>
          <a:lstStyle/>
          <a:p>
            <a:fld id="{AEE748FF-1935-A646-967B-964B9CAEE7A1}" type="datetimeFigureOut">
              <a:rPr lang="en-LB" smtClean="0"/>
              <a:t>02/27/2026</a:t>
            </a:fld>
            <a:endParaRPr lang="en-LB"/>
          </a:p>
        </p:txBody>
      </p:sp>
      <p:sp>
        <p:nvSpPr>
          <p:cNvPr id="5" name="Footer Placeholder 4">
            <a:extLst>
              <a:ext uri="{FF2B5EF4-FFF2-40B4-BE49-F238E27FC236}">
                <a16:creationId xmlns:a16="http://schemas.microsoft.com/office/drawing/2014/main" id="{7B680C3F-E751-A1E1-6524-56648EBF1C58}"/>
              </a:ext>
            </a:extLst>
          </p:cNvPr>
          <p:cNvSpPr>
            <a:spLocks noGrp="1"/>
          </p:cNvSpPr>
          <p:nvPr>
            <p:ph type="ftr" sz="quarter" idx="11"/>
          </p:nvPr>
        </p:nvSpPr>
        <p:spPr/>
        <p:txBody>
          <a:bodyPr/>
          <a:lstStyle/>
          <a:p>
            <a:endParaRPr lang="en-LB"/>
          </a:p>
        </p:txBody>
      </p:sp>
      <p:sp>
        <p:nvSpPr>
          <p:cNvPr id="6" name="Slide Number Placeholder 5">
            <a:extLst>
              <a:ext uri="{FF2B5EF4-FFF2-40B4-BE49-F238E27FC236}">
                <a16:creationId xmlns:a16="http://schemas.microsoft.com/office/drawing/2014/main" id="{A8084D17-0D64-79AD-B154-833BCE200C1C}"/>
              </a:ext>
            </a:extLst>
          </p:cNvPr>
          <p:cNvSpPr>
            <a:spLocks noGrp="1"/>
          </p:cNvSpPr>
          <p:nvPr>
            <p:ph type="sldNum" sz="quarter" idx="12"/>
          </p:nvPr>
        </p:nvSpPr>
        <p:spPr/>
        <p:txBody>
          <a:bodyPr/>
          <a:lstStyle/>
          <a:p>
            <a:fld id="{77379608-8FB2-8E42-8944-01EDA5B106D2}" type="slidenum">
              <a:rPr lang="en-LB" smtClean="0"/>
              <a:t>‹#›</a:t>
            </a:fld>
            <a:endParaRPr lang="en-LB"/>
          </a:p>
        </p:txBody>
      </p:sp>
    </p:spTree>
    <p:extLst>
      <p:ext uri="{BB962C8B-B14F-4D97-AF65-F5344CB8AC3E}">
        <p14:creationId xmlns:p14="http://schemas.microsoft.com/office/powerpoint/2010/main" val="1656322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FFFE-465A-4610-0715-3A0B7A0261F4}"/>
              </a:ext>
            </a:extLst>
          </p:cNvPr>
          <p:cNvSpPr>
            <a:spLocks noGrp="1"/>
          </p:cNvSpPr>
          <p:nvPr>
            <p:ph type="title"/>
          </p:nvPr>
        </p:nvSpPr>
        <p:spPr/>
        <p:txBody>
          <a:bodyPr/>
          <a:lstStyle/>
          <a:p>
            <a:r>
              <a:rPr lang="en-US"/>
              <a:t>Click to edit Master title style</a:t>
            </a:r>
            <a:endParaRPr lang="en-LB"/>
          </a:p>
        </p:txBody>
      </p:sp>
      <p:sp>
        <p:nvSpPr>
          <p:cNvPr id="3" name="Content Placeholder 2">
            <a:extLst>
              <a:ext uri="{FF2B5EF4-FFF2-40B4-BE49-F238E27FC236}">
                <a16:creationId xmlns:a16="http://schemas.microsoft.com/office/drawing/2014/main" id="{6D4866B3-A42C-D30F-5111-A7D53527C9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B"/>
          </a:p>
        </p:txBody>
      </p:sp>
      <p:sp>
        <p:nvSpPr>
          <p:cNvPr id="4" name="Date Placeholder 3">
            <a:extLst>
              <a:ext uri="{FF2B5EF4-FFF2-40B4-BE49-F238E27FC236}">
                <a16:creationId xmlns:a16="http://schemas.microsoft.com/office/drawing/2014/main" id="{41530932-1D22-2312-8D29-6283428E9FDC}"/>
              </a:ext>
            </a:extLst>
          </p:cNvPr>
          <p:cNvSpPr>
            <a:spLocks noGrp="1"/>
          </p:cNvSpPr>
          <p:nvPr>
            <p:ph type="dt" sz="half" idx="10"/>
          </p:nvPr>
        </p:nvSpPr>
        <p:spPr/>
        <p:txBody>
          <a:bodyPr/>
          <a:lstStyle/>
          <a:p>
            <a:fld id="{AEE748FF-1935-A646-967B-964B9CAEE7A1}" type="datetimeFigureOut">
              <a:rPr lang="en-LB" smtClean="0"/>
              <a:t>02/27/2026</a:t>
            </a:fld>
            <a:endParaRPr lang="en-LB"/>
          </a:p>
        </p:txBody>
      </p:sp>
      <p:sp>
        <p:nvSpPr>
          <p:cNvPr id="5" name="Footer Placeholder 4">
            <a:extLst>
              <a:ext uri="{FF2B5EF4-FFF2-40B4-BE49-F238E27FC236}">
                <a16:creationId xmlns:a16="http://schemas.microsoft.com/office/drawing/2014/main" id="{A0229DBC-DCFC-A0FC-46C1-155DA2FDF5FE}"/>
              </a:ext>
            </a:extLst>
          </p:cNvPr>
          <p:cNvSpPr>
            <a:spLocks noGrp="1"/>
          </p:cNvSpPr>
          <p:nvPr>
            <p:ph type="ftr" sz="quarter" idx="11"/>
          </p:nvPr>
        </p:nvSpPr>
        <p:spPr/>
        <p:txBody>
          <a:bodyPr/>
          <a:lstStyle/>
          <a:p>
            <a:endParaRPr lang="en-LB"/>
          </a:p>
        </p:txBody>
      </p:sp>
      <p:sp>
        <p:nvSpPr>
          <p:cNvPr id="6" name="Slide Number Placeholder 5">
            <a:extLst>
              <a:ext uri="{FF2B5EF4-FFF2-40B4-BE49-F238E27FC236}">
                <a16:creationId xmlns:a16="http://schemas.microsoft.com/office/drawing/2014/main" id="{33319492-225C-9B1D-D8AA-21A1FA6C6667}"/>
              </a:ext>
            </a:extLst>
          </p:cNvPr>
          <p:cNvSpPr>
            <a:spLocks noGrp="1"/>
          </p:cNvSpPr>
          <p:nvPr>
            <p:ph type="sldNum" sz="quarter" idx="12"/>
          </p:nvPr>
        </p:nvSpPr>
        <p:spPr/>
        <p:txBody>
          <a:bodyPr/>
          <a:lstStyle/>
          <a:p>
            <a:fld id="{77379608-8FB2-8E42-8944-01EDA5B106D2}" type="slidenum">
              <a:rPr lang="en-LB" smtClean="0"/>
              <a:t>‹#›</a:t>
            </a:fld>
            <a:endParaRPr lang="en-LB"/>
          </a:p>
        </p:txBody>
      </p:sp>
    </p:spTree>
    <p:extLst>
      <p:ext uri="{BB962C8B-B14F-4D97-AF65-F5344CB8AC3E}">
        <p14:creationId xmlns:p14="http://schemas.microsoft.com/office/powerpoint/2010/main" val="97826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BCC1E-73F1-D83A-F2B8-D921E3C04D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LB"/>
          </a:p>
        </p:txBody>
      </p:sp>
      <p:sp>
        <p:nvSpPr>
          <p:cNvPr id="3" name="Text Placeholder 2">
            <a:extLst>
              <a:ext uri="{FF2B5EF4-FFF2-40B4-BE49-F238E27FC236}">
                <a16:creationId xmlns:a16="http://schemas.microsoft.com/office/drawing/2014/main" id="{2DB14704-7BAD-6EEB-14DB-2DC4346DE4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BF3710-A495-934D-4B36-4D45DE0AFD5D}"/>
              </a:ext>
            </a:extLst>
          </p:cNvPr>
          <p:cNvSpPr>
            <a:spLocks noGrp="1"/>
          </p:cNvSpPr>
          <p:nvPr>
            <p:ph type="dt" sz="half" idx="10"/>
          </p:nvPr>
        </p:nvSpPr>
        <p:spPr/>
        <p:txBody>
          <a:bodyPr/>
          <a:lstStyle/>
          <a:p>
            <a:fld id="{AEE748FF-1935-A646-967B-964B9CAEE7A1}" type="datetimeFigureOut">
              <a:rPr lang="en-LB" smtClean="0"/>
              <a:t>02/27/2026</a:t>
            </a:fld>
            <a:endParaRPr lang="en-LB"/>
          </a:p>
        </p:txBody>
      </p:sp>
      <p:sp>
        <p:nvSpPr>
          <p:cNvPr id="5" name="Footer Placeholder 4">
            <a:extLst>
              <a:ext uri="{FF2B5EF4-FFF2-40B4-BE49-F238E27FC236}">
                <a16:creationId xmlns:a16="http://schemas.microsoft.com/office/drawing/2014/main" id="{B6F2A940-28BA-84E7-6206-DBB7B6EFE8CA}"/>
              </a:ext>
            </a:extLst>
          </p:cNvPr>
          <p:cNvSpPr>
            <a:spLocks noGrp="1"/>
          </p:cNvSpPr>
          <p:nvPr>
            <p:ph type="ftr" sz="quarter" idx="11"/>
          </p:nvPr>
        </p:nvSpPr>
        <p:spPr/>
        <p:txBody>
          <a:bodyPr/>
          <a:lstStyle/>
          <a:p>
            <a:endParaRPr lang="en-LB"/>
          </a:p>
        </p:txBody>
      </p:sp>
      <p:sp>
        <p:nvSpPr>
          <p:cNvPr id="6" name="Slide Number Placeholder 5">
            <a:extLst>
              <a:ext uri="{FF2B5EF4-FFF2-40B4-BE49-F238E27FC236}">
                <a16:creationId xmlns:a16="http://schemas.microsoft.com/office/drawing/2014/main" id="{FE755B2A-D442-474C-388D-E29338FC58B4}"/>
              </a:ext>
            </a:extLst>
          </p:cNvPr>
          <p:cNvSpPr>
            <a:spLocks noGrp="1"/>
          </p:cNvSpPr>
          <p:nvPr>
            <p:ph type="sldNum" sz="quarter" idx="12"/>
          </p:nvPr>
        </p:nvSpPr>
        <p:spPr/>
        <p:txBody>
          <a:bodyPr/>
          <a:lstStyle/>
          <a:p>
            <a:fld id="{77379608-8FB2-8E42-8944-01EDA5B106D2}" type="slidenum">
              <a:rPr lang="en-LB" smtClean="0"/>
              <a:t>‹#›</a:t>
            </a:fld>
            <a:endParaRPr lang="en-LB"/>
          </a:p>
        </p:txBody>
      </p:sp>
    </p:spTree>
    <p:extLst>
      <p:ext uri="{BB962C8B-B14F-4D97-AF65-F5344CB8AC3E}">
        <p14:creationId xmlns:p14="http://schemas.microsoft.com/office/powerpoint/2010/main" val="2552206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B15B8-FBD7-757C-880D-BDE345512D27}"/>
              </a:ext>
            </a:extLst>
          </p:cNvPr>
          <p:cNvSpPr>
            <a:spLocks noGrp="1"/>
          </p:cNvSpPr>
          <p:nvPr>
            <p:ph type="title"/>
          </p:nvPr>
        </p:nvSpPr>
        <p:spPr/>
        <p:txBody>
          <a:bodyPr/>
          <a:lstStyle/>
          <a:p>
            <a:r>
              <a:rPr lang="en-US"/>
              <a:t>Click to edit Master title style</a:t>
            </a:r>
            <a:endParaRPr lang="en-LB"/>
          </a:p>
        </p:txBody>
      </p:sp>
      <p:sp>
        <p:nvSpPr>
          <p:cNvPr id="3" name="Content Placeholder 2">
            <a:extLst>
              <a:ext uri="{FF2B5EF4-FFF2-40B4-BE49-F238E27FC236}">
                <a16:creationId xmlns:a16="http://schemas.microsoft.com/office/drawing/2014/main" id="{8E3D919D-B3C7-A47A-1194-109B07D659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B"/>
          </a:p>
        </p:txBody>
      </p:sp>
      <p:sp>
        <p:nvSpPr>
          <p:cNvPr id="4" name="Content Placeholder 3">
            <a:extLst>
              <a:ext uri="{FF2B5EF4-FFF2-40B4-BE49-F238E27FC236}">
                <a16:creationId xmlns:a16="http://schemas.microsoft.com/office/drawing/2014/main" id="{38275C12-0D08-4AB3-D94A-D26DBA2935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B"/>
          </a:p>
        </p:txBody>
      </p:sp>
      <p:sp>
        <p:nvSpPr>
          <p:cNvPr id="5" name="Date Placeholder 4">
            <a:extLst>
              <a:ext uri="{FF2B5EF4-FFF2-40B4-BE49-F238E27FC236}">
                <a16:creationId xmlns:a16="http://schemas.microsoft.com/office/drawing/2014/main" id="{CF0765C5-63E4-DB2E-EE41-89B582C1C4A2}"/>
              </a:ext>
            </a:extLst>
          </p:cNvPr>
          <p:cNvSpPr>
            <a:spLocks noGrp="1"/>
          </p:cNvSpPr>
          <p:nvPr>
            <p:ph type="dt" sz="half" idx="10"/>
          </p:nvPr>
        </p:nvSpPr>
        <p:spPr/>
        <p:txBody>
          <a:bodyPr/>
          <a:lstStyle/>
          <a:p>
            <a:fld id="{AEE748FF-1935-A646-967B-964B9CAEE7A1}" type="datetimeFigureOut">
              <a:rPr lang="en-LB" smtClean="0"/>
              <a:t>02/27/2026</a:t>
            </a:fld>
            <a:endParaRPr lang="en-LB"/>
          </a:p>
        </p:txBody>
      </p:sp>
      <p:sp>
        <p:nvSpPr>
          <p:cNvPr id="6" name="Footer Placeholder 5">
            <a:extLst>
              <a:ext uri="{FF2B5EF4-FFF2-40B4-BE49-F238E27FC236}">
                <a16:creationId xmlns:a16="http://schemas.microsoft.com/office/drawing/2014/main" id="{AB3B7A2F-C925-7CB3-76DF-5144710EB4B3}"/>
              </a:ext>
            </a:extLst>
          </p:cNvPr>
          <p:cNvSpPr>
            <a:spLocks noGrp="1"/>
          </p:cNvSpPr>
          <p:nvPr>
            <p:ph type="ftr" sz="quarter" idx="11"/>
          </p:nvPr>
        </p:nvSpPr>
        <p:spPr/>
        <p:txBody>
          <a:bodyPr/>
          <a:lstStyle/>
          <a:p>
            <a:endParaRPr lang="en-LB"/>
          </a:p>
        </p:txBody>
      </p:sp>
      <p:sp>
        <p:nvSpPr>
          <p:cNvPr id="7" name="Slide Number Placeholder 6">
            <a:extLst>
              <a:ext uri="{FF2B5EF4-FFF2-40B4-BE49-F238E27FC236}">
                <a16:creationId xmlns:a16="http://schemas.microsoft.com/office/drawing/2014/main" id="{18B5617B-E473-5722-FE43-73EF986FCA9E}"/>
              </a:ext>
            </a:extLst>
          </p:cNvPr>
          <p:cNvSpPr>
            <a:spLocks noGrp="1"/>
          </p:cNvSpPr>
          <p:nvPr>
            <p:ph type="sldNum" sz="quarter" idx="12"/>
          </p:nvPr>
        </p:nvSpPr>
        <p:spPr/>
        <p:txBody>
          <a:bodyPr/>
          <a:lstStyle/>
          <a:p>
            <a:fld id="{77379608-8FB2-8E42-8944-01EDA5B106D2}" type="slidenum">
              <a:rPr lang="en-LB" smtClean="0"/>
              <a:t>‹#›</a:t>
            </a:fld>
            <a:endParaRPr lang="en-LB"/>
          </a:p>
        </p:txBody>
      </p:sp>
    </p:spTree>
    <p:extLst>
      <p:ext uri="{BB962C8B-B14F-4D97-AF65-F5344CB8AC3E}">
        <p14:creationId xmlns:p14="http://schemas.microsoft.com/office/powerpoint/2010/main" val="128231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598E5-9EC2-9D8C-8BC4-83D07DD0CAE5}"/>
              </a:ext>
            </a:extLst>
          </p:cNvPr>
          <p:cNvSpPr>
            <a:spLocks noGrp="1"/>
          </p:cNvSpPr>
          <p:nvPr>
            <p:ph type="title"/>
          </p:nvPr>
        </p:nvSpPr>
        <p:spPr>
          <a:xfrm>
            <a:off x="839788" y="365125"/>
            <a:ext cx="10515600" cy="1325563"/>
          </a:xfrm>
        </p:spPr>
        <p:txBody>
          <a:bodyPr/>
          <a:lstStyle/>
          <a:p>
            <a:r>
              <a:rPr lang="en-US"/>
              <a:t>Click to edit Master title style</a:t>
            </a:r>
            <a:endParaRPr lang="en-LB"/>
          </a:p>
        </p:txBody>
      </p:sp>
      <p:sp>
        <p:nvSpPr>
          <p:cNvPr id="3" name="Text Placeholder 2">
            <a:extLst>
              <a:ext uri="{FF2B5EF4-FFF2-40B4-BE49-F238E27FC236}">
                <a16:creationId xmlns:a16="http://schemas.microsoft.com/office/drawing/2014/main" id="{2F8FE3AA-7C43-1355-8575-B78E0710CE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AC8308-392C-F317-8374-E91219E334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B"/>
          </a:p>
        </p:txBody>
      </p:sp>
      <p:sp>
        <p:nvSpPr>
          <p:cNvPr id="5" name="Text Placeholder 4">
            <a:extLst>
              <a:ext uri="{FF2B5EF4-FFF2-40B4-BE49-F238E27FC236}">
                <a16:creationId xmlns:a16="http://schemas.microsoft.com/office/drawing/2014/main" id="{D3C192B3-936F-4DD7-6207-A583B41FBD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B6E971-8DE9-E9AF-59B3-0F5CD21561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B"/>
          </a:p>
        </p:txBody>
      </p:sp>
      <p:sp>
        <p:nvSpPr>
          <p:cNvPr id="7" name="Date Placeholder 6">
            <a:extLst>
              <a:ext uri="{FF2B5EF4-FFF2-40B4-BE49-F238E27FC236}">
                <a16:creationId xmlns:a16="http://schemas.microsoft.com/office/drawing/2014/main" id="{F5D1C64C-DA1A-2B12-C830-50F9FC4490BD}"/>
              </a:ext>
            </a:extLst>
          </p:cNvPr>
          <p:cNvSpPr>
            <a:spLocks noGrp="1"/>
          </p:cNvSpPr>
          <p:nvPr>
            <p:ph type="dt" sz="half" idx="10"/>
          </p:nvPr>
        </p:nvSpPr>
        <p:spPr/>
        <p:txBody>
          <a:bodyPr/>
          <a:lstStyle/>
          <a:p>
            <a:fld id="{AEE748FF-1935-A646-967B-964B9CAEE7A1}" type="datetimeFigureOut">
              <a:rPr lang="en-LB" smtClean="0"/>
              <a:t>02/27/2026</a:t>
            </a:fld>
            <a:endParaRPr lang="en-LB"/>
          </a:p>
        </p:txBody>
      </p:sp>
      <p:sp>
        <p:nvSpPr>
          <p:cNvPr id="8" name="Footer Placeholder 7">
            <a:extLst>
              <a:ext uri="{FF2B5EF4-FFF2-40B4-BE49-F238E27FC236}">
                <a16:creationId xmlns:a16="http://schemas.microsoft.com/office/drawing/2014/main" id="{4F202873-5793-A718-B98A-2CC6F549CD5B}"/>
              </a:ext>
            </a:extLst>
          </p:cNvPr>
          <p:cNvSpPr>
            <a:spLocks noGrp="1"/>
          </p:cNvSpPr>
          <p:nvPr>
            <p:ph type="ftr" sz="quarter" idx="11"/>
          </p:nvPr>
        </p:nvSpPr>
        <p:spPr/>
        <p:txBody>
          <a:bodyPr/>
          <a:lstStyle/>
          <a:p>
            <a:endParaRPr lang="en-LB"/>
          </a:p>
        </p:txBody>
      </p:sp>
      <p:sp>
        <p:nvSpPr>
          <p:cNvPr id="9" name="Slide Number Placeholder 8">
            <a:extLst>
              <a:ext uri="{FF2B5EF4-FFF2-40B4-BE49-F238E27FC236}">
                <a16:creationId xmlns:a16="http://schemas.microsoft.com/office/drawing/2014/main" id="{0CDDDE5C-892C-030B-A701-82567BAA7011}"/>
              </a:ext>
            </a:extLst>
          </p:cNvPr>
          <p:cNvSpPr>
            <a:spLocks noGrp="1"/>
          </p:cNvSpPr>
          <p:nvPr>
            <p:ph type="sldNum" sz="quarter" idx="12"/>
          </p:nvPr>
        </p:nvSpPr>
        <p:spPr/>
        <p:txBody>
          <a:bodyPr/>
          <a:lstStyle/>
          <a:p>
            <a:fld id="{77379608-8FB2-8E42-8944-01EDA5B106D2}" type="slidenum">
              <a:rPr lang="en-LB" smtClean="0"/>
              <a:t>‹#›</a:t>
            </a:fld>
            <a:endParaRPr lang="en-LB"/>
          </a:p>
        </p:txBody>
      </p:sp>
    </p:spTree>
    <p:extLst>
      <p:ext uri="{BB962C8B-B14F-4D97-AF65-F5344CB8AC3E}">
        <p14:creationId xmlns:p14="http://schemas.microsoft.com/office/powerpoint/2010/main" val="1369258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5C2AF-639E-06BD-F5B9-EC646129F2E7}"/>
              </a:ext>
            </a:extLst>
          </p:cNvPr>
          <p:cNvSpPr>
            <a:spLocks noGrp="1"/>
          </p:cNvSpPr>
          <p:nvPr>
            <p:ph type="title"/>
          </p:nvPr>
        </p:nvSpPr>
        <p:spPr/>
        <p:txBody>
          <a:bodyPr/>
          <a:lstStyle/>
          <a:p>
            <a:r>
              <a:rPr lang="en-US"/>
              <a:t>Click to edit Master title style</a:t>
            </a:r>
            <a:endParaRPr lang="en-LB"/>
          </a:p>
        </p:txBody>
      </p:sp>
      <p:sp>
        <p:nvSpPr>
          <p:cNvPr id="3" name="Date Placeholder 2">
            <a:extLst>
              <a:ext uri="{FF2B5EF4-FFF2-40B4-BE49-F238E27FC236}">
                <a16:creationId xmlns:a16="http://schemas.microsoft.com/office/drawing/2014/main" id="{BE330714-CBC9-3319-0BDE-E00131452654}"/>
              </a:ext>
            </a:extLst>
          </p:cNvPr>
          <p:cNvSpPr>
            <a:spLocks noGrp="1"/>
          </p:cNvSpPr>
          <p:nvPr>
            <p:ph type="dt" sz="half" idx="10"/>
          </p:nvPr>
        </p:nvSpPr>
        <p:spPr/>
        <p:txBody>
          <a:bodyPr/>
          <a:lstStyle/>
          <a:p>
            <a:fld id="{AEE748FF-1935-A646-967B-964B9CAEE7A1}" type="datetimeFigureOut">
              <a:rPr lang="en-LB" smtClean="0"/>
              <a:t>02/27/2026</a:t>
            </a:fld>
            <a:endParaRPr lang="en-LB"/>
          </a:p>
        </p:txBody>
      </p:sp>
      <p:sp>
        <p:nvSpPr>
          <p:cNvPr id="4" name="Footer Placeholder 3">
            <a:extLst>
              <a:ext uri="{FF2B5EF4-FFF2-40B4-BE49-F238E27FC236}">
                <a16:creationId xmlns:a16="http://schemas.microsoft.com/office/drawing/2014/main" id="{594CD2EE-7F67-9B95-892D-2A794F4C811C}"/>
              </a:ext>
            </a:extLst>
          </p:cNvPr>
          <p:cNvSpPr>
            <a:spLocks noGrp="1"/>
          </p:cNvSpPr>
          <p:nvPr>
            <p:ph type="ftr" sz="quarter" idx="11"/>
          </p:nvPr>
        </p:nvSpPr>
        <p:spPr/>
        <p:txBody>
          <a:bodyPr/>
          <a:lstStyle/>
          <a:p>
            <a:endParaRPr lang="en-LB"/>
          </a:p>
        </p:txBody>
      </p:sp>
      <p:sp>
        <p:nvSpPr>
          <p:cNvPr id="5" name="Slide Number Placeholder 4">
            <a:extLst>
              <a:ext uri="{FF2B5EF4-FFF2-40B4-BE49-F238E27FC236}">
                <a16:creationId xmlns:a16="http://schemas.microsoft.com/office/drawing/2014/main" id="{FE72742E-2DED-5FCB-9511-70A3A38501B7}"/>
              </a:ext>
            </a:extLst>
          </p:cNvPr>
          <p:cNvSpPr>
            <a:spLocks noGrp="1"/>
          </p:cNvSpPr>
          <p:nvPr>
            <p:ph type="sldNum" sz="quarter" idx="12"/>
          </p:nvPr>
        </p:nvSpPr>
        <p:spPr/>
        <p:txBody>
          <a:bodyPr/>
          <a:lstStyle/>
          <a:p>
            <a:fld id="{77379608-8FB2-8E42-8944-01EDA5B106D2}" type="slidenum">
              <a:rPr lang="en-LB" smtClean="0"/>
              <a:t>‹#›</a:t>
            </a:fld>
            <a:endParaRPr lang="en-LB"/>
          </a:p>
        </p:txBody>
      </p:sp>
    </p:spTree>
    <p:extLst>
      <p:ext uri="{BB962C8B-B14F-4D97-AF65-F5344CB8AC3E}">
        <p14:creationId xmlns:p14="http://schemas.microsoft.com/office/powerpoint/2010/main" val="3434643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3660F6-D230-472A-0BD0-9A1BC161B6CD}"/>
              </a:ext>
            </a:extLst>
          </p:cNvPr>
          <p:cNvSpPr>
            <a:spLocks noGrp="1"/>
          </p:cNvSpPr>
          <p:nvPr>
            <p:ph type="dt" sz="half" idx="10"/>
          </p:nvPr>
        </p:nvSpPr>
        <p:spPr/>
        <p:txBody>
          <a:bodyPr/>
          <a:lstStyle/>
          <a:p>
            <a:fld id="{AEE748FF-1935-A646-967B-964B9CAEE7A1}" type="datetimeFigureOut">
              <a:rPr lang="en-LB" smtClean="0"/>
              <a:t>02/27/2026</a:t>
            </a:fld>
            <a:endParaRPr lang="en-LB"/>
          </a:p>
        </p:txBody>
      </p:sp>
      <p:sp>
        <p:nvSpPr>
          <p:cNvPr id="3" name="Footer Placeholder 2">
            <a:extLst>
              <a:ext uri="{FF2B5EF4-FFF2-40B4-BE49-F238E27FC236}">
                <a16:creationId xmlns:a16="http://schemas.microsoft.com/office/drawing/2014/main" id="{C1AA36D4-FEF1-CC3E-CCA8-246B805AEEDF}"/>
              </a:ext>
            </a:extLst>
          </p:cNvPr>
          <p:cNvSpPr>
            <a:spLocks noGrp="1"/>
          </p:cNvSpPr>
          <p:nvPr>
            <p:ph type="ftr" sz="quarter" idx="11"/>
          </p:nvPr>
        </p:nvSpPr>
        <p:spPr/>
        <p:txBody>
          <a:bodyPr/>
          <a:lstStyle/>
          <a:p>
            <a:endParaRPr lang="en-LB"/>
          </a:p>
        </p:txBody>
      </p:sp>
      <p:sp>
        <p:nvSpPr>
          <p:cNvPr id="4" name="Slide Number Placeholder 3">
            <a:extLst>
              <a:ext uri="{FF2B5EF4-FFF2-40B4-BE49-F238E27FC236}">
                <a16:creationId xmlns:a16="http://schemas.microsoft.com/office/drawing/2014/main" id="{87A3DFED-8AAF-0194-55B0-A030110C34E6}"/>
              </a:ext>
            </a:extLst>
          </p:cNvPr>
          <p:cNvSpPr>
            <a:spLocks noGrp="1"/>
          </p:cNvSpPr>
          <p:nvPr>
            <p:ph type="sldNum" sz="quarter" idx="12"/>
          </p:nvPr>
        </p:nvSpPr>
        <p:spPr/>
        <p:txBody>
          <a:bodyPr/>
          <a:lstStyle/>
          <a:p>
            <a:fld id="{77379608-8FB2-8E42-8944-01EDA5B106D2}" type="slidenum">
              <a:rPr lang="en-LB" smtClean="0"/>
              <a:t>‹#›</a:t>
            </a:fld>
            <a:endParaRPr lang="en-LB"/>
          </a:p>
        </p:txBody>
      </p:sp>
    </p:spTree>
    <p:extLst>
      <p:ext uri="{BB962C8B-B14F-4D97-AF65-F5344CB8AC3E}">
        <p14:creationId xmlns:p14="http://schemas.microsoft.com/office/powerpoint/2010/main" val="12705639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D9FA-5421-9FB1-B69D-F0EF6B42DD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B"/>
          </a:p>
        </p:txBody>
      </p:sp>
      <p:sp>
        <p:nvSpPr>
          <p:cNvPr id="3" name="Content Placeholder 2">
            <a:extLst>
              <a:ext uri="{FF2B5EF4-FFF2-40B4-BE49-F238E27FC236}">
                <a16:creationId xmlns:a16="http://schemas.microsoft.com/office/drawing/2014/main" id="{2EA2AD2E-304F-C21B-6B48-5D4A4CFEEB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B"/>
          </a:p>
        </p:txBody>
      </p:sp>
      <p:sp>
        <p:nvSpPr>
          <p:cNvPr id="4" name="Text Placeholder 3">
            <a:extLst>
              <a:ext uri="{FF2B5EF4-FFF2-40B4-BE49-F238E27FC236}">
                <a16:creationId xmlns:a16="http://schemas.microsoft.com/office/drawing/2014/main" id="{262304AB-5877-21D4-F6B6-0D251B8D32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500092-2895-EB8A-0626-FFD23CE1E127}"/>
              </a:ext>
            </a:extLst>
          </p:cNvPr>
          <p:cNvSpPr>
            <a:spLocks noGrp="1"/>
          </p:cNvSpPr>
          <p:nvPr>
            <p:ph type="dt" sz="half" idx="10"/>
          </p:nvPr>
        </p:nvSpPr>
        <p:spPr/>
        <p:txBody>
          <a:bodyPr/>
          <a:lstStyle/>
          <a:p>
            <a:fld id="{AEE748FF-1935-A646-967B-964B9CAEE7A1}" type="datetimeFigureOut">
              <a:rPr lang="en-LB" smtClean="0"/>
              <a:t>02/27/2026</a:t>
            </a:fld>
            <a:endParaRPr lang="en-LB"/>
          </a:p>
        </p:txBody>
      </p:sp>
      <p:sp>
        <p:nvSpPr>
          <p:cNvPr id="6" name="Footer Placeholder 5">
            <a:extLst>
              <a:ext uri="{FF2B5EF4-FFF2-40B4-BE49-F238E27FC236}">
                <a16:creationId xmlns:a16="http://schemas.microsoft.com/office/drawing/2014/main" id="{4A2F2C1C-32D0-462B-78EA-ABD39118D7BF}"/>
              </a:ext>
            </a:extLst>
          </p:cNvPr>
          <p:cNvSpPr>
            <a:spLocks noGrp="1"/>
          </p:cNvSpPr>
          <p:nvPr>
            <p:ph type="ftr" sz="quarter" idx="11"/>
          </p:nvPr>
        </p:nvSpPr>
        <p:spPr/>
        <p:txBody>
          <a:bodyPr/>
          <a:lstStyle/>
          <a:p>
            <a:endParaRPr lang="en-LB"/>
          </a:p>
        </p:txBody>
      </p:sp>
      <p:sp>
        <p:nvSpPr>
          <p:cNvPr id="7" name="Slide Number Placeholder 6">
            <a:extLst>
              <a:ext uri="{FF2B5EF4-FFF2-40B4-BE49-F238E27FC236}">
                <a16:creationId xmlns:a16="http://schemas.microsoft.com/office/drawing/2014/main" id="{F52ECE9E-B3B4-E570-5652-5EDFA4ABE614}"/>
              </a:ext>
            </a:extLst>
          </p:cNvPr>
          <p:cNvSpPr>
            <a:spLocks noGrp="1"/>
          </p:cNvSpPr>
          <p:nvPr>
            <p:ph type="sldNum" sz="quarter" idx="12"/>
          </p:nvPr>
        </p:nvSpPr>
        <p:spPr/>
        <p:txBody>
          <a:bodyPr/>
          <a:lstStyle/>
          <a:p>
            <a:fld id="{77379608-8FB2-8E42-8944-01EDA5B106D2}" type="slidenum">
              <a:rPr lang="en-LB" smtClean="0"/>
              <a:t>‹#›</a:t>
            </a:fld>
            <a:endParaRPr lang="en-LB"/>
          </a:p>
        </p:txBody>
      </p:sp>
    </p:spTree>
    <p:extLst>
      <p:ext uri="{BB962C8B-B14F-4D97-AF65-F5344CB8AC3E}">
        <p14:creationId xmlns:p14="http://schemas.microsoft.com/office/powerpoint/2010/main" val="242392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BFE6A-B910-D9E7-66B9-25CC8BC002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B"/>
          </a:p>
        </p:txBody>
      </p:sp>
      <p:sp>
        <p:nvSpPr>
          <p:cNvPr id="3" name="Picture Placeholder 2">
            <a:extLst>
              <a:ext uri="{FF2B5EF4-FFF2-40B4-BE49-F238E27FC236}">
                <a16:creationId xmlns:a16="http://schemas.microsoft.com/office/drawing/2014/main" id="{5BE335FF-C2AE-31BB-A455-9D8C97E064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B"/>
          </a:p>
        </p:txBody>
      </p:sp>
      <p:sp>
        <p:nvSpPr>
          <p:cNvPr id="4" name="Text Placeholder 3">
            <a:extLst>
              <a:ext uri="{FF2B5EF4-FFF2-40B4-BE49-F238E27FC236}">
                <a16:creationId xmlns:a16="http://schemas.microsoft.com/office/drawing/2014/main" id="{9F2FBFDC-787B-4392-7D08-5B4E2C2AB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FF4B01-C2BD-A00A-7ECC-F9CC40C558F5}"/>
              </a:ext>
            </a:extLst>
          </p:cNvPr>
          <p:cNvSpPr>
            <a:spLocks noGrp="1"/>
          </p:cNvSpPr>
          <p:nvPr>
            <p:ph type="dt" sz="half" idx="10"/>
          </p:nvPr>
        </p:nvSpPr>
        <p:spPr/>
        <p:txBody>
          <a:bodyPr/>
          <a:lstStyle/>
          <a:p>
            <a:fld id="{AEE748FF-1935-A646-967B-964B9CAEE7A1}" type="datetimeFigureOut">
              <a:rPr lang="en-LB" smtClean="0"/>
              <a:t>02/27/2026</a:t>
            </a:fld>
            <a:endParaRPr lang="en-LB"/>
          </a:p>
        </p:txBody>
      </p:sp>
      <p:sp>
        <p:nvSpPr>
          <p:cNvPr id="6" name="Footer Placeholder 5">
            <a:extLst>
              <a:ext uri="{FF2B5EF4-FFF2-40B4-BE49-F238E27FC236}">
                <a16:creationId xmlns:a16="http://schemas.microsoft.com/office/drawing/2014/main" id="{CF6A9A5B-A9C1-1230-B3D3-AA717BFD2CB7}"/>
              </a:ext>
            </a:extLst>
          </p:cNvPr>
          <p:cNvSpPr>
            <a:spLocks noGrp="1"/>
          </p:cNvSpPr>
          <p:nvPr>
            <p:ph type="ftr" sz="quarter" idx="11"/>
          </p:nvPr>
        </p:nvSpPr>
        <p:spPr/>
        <p:txBody>
          <a:bodyPr/>
          <a:lstStyle/>
          <a:p>
            <a:endParaRPr lang="en-LB"/>
          </a:p>
        </p:txBody>
      </p:sp>
      <p:sp>
        <p:nvSpPr>
          <p:cNvPr id="7" name="Slide Number Placeholder 6">
            <a:extLst>
              <a:ext uri="{FF2B5EF4-FFF2-40B4-BE49-F238E27FC236}">
                <a16:creationId xmlns:a16="http://schemas.microsoft.com/office/drawing/2014/main" id="{2C8D075D-8728-A864-4AE9-6BF4E20E6501}"/>
              </a:ext>
            </a:extLst>
          </p:cNvPr>
          <p:cNvSpPr>
            <a:spLocks noGrp="1"/>
          </p:cNvSpPr>
          <p:nvPr>
            <p:ph type="sldNum" sz="quarter" idx="12"/>
          </p:nvPr>
        </p:nvSpPr>
        <p:spPr/>
        <p:txBody>
          <a:bodyPr/>
          <a:lstStyle/>
          <a:p>
            <a:fld id="{77379608-8FB2-8E42-8944-01EDA5B106D2}" type="slidenum">
              <a:rPr lang="en-LB" smtClean="0"/>
              <a:t>‹#›</a:t>
            </a:fld>
            <a:endParaRPr lang="en-LB"/>
          </a:p>
        </p:txBody>
      </p:sp>
    </p:spTree>
    <p:extLst>
      <p:ext uri="{BB962C8B-B14F-4D97-AF65-F5344CB8AC3E}">
        <p14:creationId xmlns:p14="http://schemas.microsoft.com/office/powerpoint/2010/main" val="3130832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C1FBE-FA4A-0245-3AE6-13913493D13C}"/>
              </a:ext>
            </a:extLst>
          </p:cNvPr>
          <p:cNvSpPr>
            <a:spLocks noGrp="1"/>
          </p:cNvSpPr>
          <p:nvPr>
            <p:ph type="title"/>
          </p:nvPr>
        </p:nvSpPr>
        <p:spPr/>
        <p:txBody>
          <a:bodyPr/>
          <a:lstStyle/>
          <a:p>
            <a:r>
              <a:rPr lang="en-US"/>
              <a:t>Click to edit Master title style</a:t>
            </a:r>
            <a:endParaRPr lang="en-LB"/>
          </a:p>
        </p:txBody>
      </p:sp>
      <p:sp>
        <p:nvSpPr>
          <p:cNvPr id="3" name="Vertical Text Placeholder 2">
            <a:extLst>
              <a:ext uri="{FF2B5EF4-FFF2-40B4-BE49-F238E27FC236}">
                <a16:creationId xmlns:a16="http://schemas.microsoft.com/office/drawing/2014/main" id="{FE28BB4F-4323-6A05-79B4-5804EA918B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B"/>
          </a:p>
        </p:txBody>
      </p:sp>
      <p:sp>
        <p:nvSpPr>
          <p:cNvPr id="4" name="Date Placeholder 3">
            <a:extLst>
              <a:ext uri="{FF2B5EF4-FFF2-40B4-BE49-F238E27FC236}">
                <a16:creationId xmlns:a16="http://schemas.microsoft.com/office/drawing/2014/main" id="{3954BAF0-9474-913A-7ED5-A08FC1D0182D}"/>
              </a:ext>
            </a:extLst>
          </p:cNvPr>
          <p:cNvSpPr>
            <a:spLocks noGrp="1"/>
          </p:cNvSpPr>
          <p:nvPr>
            <p:ph type="dt" sz="half" idx="10"/>
          </p:nvPr>
        </p:nvSpPr>
        <p:spPr/>
        <p:txBody>
          <a:bodyPr/>
          <a:lstStyle/>
          <a:p>
            <a:fld id="{AEE748FF-1935-A646-967B-964B9CAEE7A1}" type="datetimeFigureOut">
              <a:rPr lang="en-LB" smtClean="0"/>
              <a:t>02/27/2026</a:t>
            </a:fld>
            <a:endParaRPr lang="en-LB"/>
          </a:p>
        </p:txBody>
      </p:sp>
      <p:sp>
        <p:nvSpPr>
          <p:cNvPr id="5" name="Footer Placeholder 4">
            <a:extLst>
              <a:ext uri="{FF2B5EF4-FFF2-40B4-BE49-F238E27FC236}">
                <a16:creationId xmlns:a16="http://schemas.microsoft.com/office/drawing/2014/main" id="{4CF26B32-3ABD-3D18-DB07-BE21957A1272}"/>
              </a:ext>
            </a:extLst>
          </p:cNvPr>
          <p:cNvSpPr>
            <a:spLocks noGrp="1"/>
          </p:cNvSpPr>
          <p:nvPr>
            <p:ph type="ftr" sz="quarter" idx="11"/>
          </p:nvPr>
        </p:nvSpPr>
        <p:spPr/>
        <p:txBody>
          <a:bodyPr/>
          <a:lstStyle/>
          <a:p>
            <a:endParaRPr lang="en-LB"/>
          </a:p>
        </p:txBody>
      </p:sp>
      <p:sp>
        <p:nvSpPr>
          <p:cNvPr id="6" name="Slide Number Placeholder 5">
            <a:extLst>
              <a:ext uri="{FF2B5EF4-FFF2-40B4-BE49-F238E27FC236}">
                <a16:creationId xmlns:a16="http://schemas.microsoft.com/office/drawing/2014/main" id="{0B9C6704-8308-BDD6-BBF5-38FD253AF0B1}"/>
              </a:ext>
            </a:extLst>
          </p:cNvPr>
          <p:cNvSpPr>
            <a:spLocks noGrp="1"/>
          </p:cNvSpPr>
          <p:nvPr>
            <p:ph type="sldNum" sz="quarter" idx="12"/>
          </p:nvPr>
        </p:nvSpPr>
        <p:spPr/>
        <p:txBody>
          <a:bodyPr/>
          <a:lstStyle/>
          <a:p>
            <a:fld id="{77379608-8FB2-8E42-8944-01EDA5B106D2}" type="slidenum">
              <a:rPr lang="en-LB" smtClean="0"/>
              <a:t>‹#›</a:t>
            </a:fld>
            <a:endParaRPr lang="en-LB"/>
          </a:p>
        </p:txBody>
      </p:sp>
    </p:spTree>
    <p:extLst>
      <p:ext uri="{BB962C8B-B14F-4D97-AF65-F5344CB8AC3E}">
        <p14:creationId xmlns:p14="http://schemas.microsoft.com/office/powerpoint/2010/main" val="3269455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77D3F2-4D5E-9A36-7154-067E9BF68C1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LB"/>
          </a:p>
        </p:txBody>
      </p:sp>
      <p:sp>
        <p:nvSpPr>
          <p:cNvPr id="3" name="Vertical Text Placeholder 2">
            <a:extLst>
              <a:ext uri="{FF2B5EF4-FFF2-40B4-BE49-F238E27FC236}">
                <a16:creationId xmlns:a16="http://schemas.microsoft.com/office/drawing/2014/main" id="{971BFB4F-3334-8EA5-6C7D-D3A655EF77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B"/>
          </a:p>
        </p:txBody>
      </p:sp>
      <p:sp>
        <p:nvSpPr>
          <p:cNvPr id="4" name="Date Placeholder 3">
            <a:extLst>
              <a:ext uri="{FF2B5EF4-FFF2-40B4-BE49-F238E27FC236}">
                <a16:creationId xmlns:a16="http://schemas.microsoft.com/office/drawing/2014/main" id="{2F446914-AF47-29EF-E000-49D68321B6EC}"/>
              </a:ext>
            </a:extLst>
          </p:cNvPr>
          <p:cNvSpPr>
            <a:spLocks noGrp="1"/>
          </p:cNvSpPr>
          <p:nvPr>
            <p:ph type="dt" sz="half" idx="10"/>
          </p:nvPr>
        </p:nvSpPr>
        <p:spPr/>
        <p:txBody>
          <a:bodyPr/>
          <a:lstStyle/>
          <a:p>
            <a:fld id="{AEE748FF-1935-A646-967B-964B9CAEE7A1}" type="datetimeFigureOut">
              <a:rPr lang="en-LB" smtClean="0"/>
              <a:t>02/27/2026</a:t>
            </a:fld>
            <a:endParaRPr lang="en-LB"/>
          </a:p>
        </p:txBody>
      </p:sp>
      <p:sp>
        <p:nvSpPr>
          <p:cNvPr id="5" name="Footer Placeholder 4">
            <a:extLst>
              <a:ext uri="{FF2B5EF4-FFF2-40B4-BE49-F238E27FC236}">
                <a16:creationId xmlns:a16="http://schemas.microsoft.com/office/drawing/2014/main" id="{70452D8E-AEF0-6D7F-3D89-FCD39852DAD1}"/>
              </a:ext>
            </a:extLst>
          </p:cNvPr>
          <p:cNvSpPr>
            <a:spLocks noGrp="1"/>
          </p:cNvSpPr>
          <p:nvPr>
            <p:ph type="ftr" sz="quarter" idx="11"/>
          </p:nvPr>
        </p:nvSpPr>
        <p:spPr/>
        <p:txBody>
          <a:bodyPr/>
          <a:lstStyle/>
          <a:p>
            <a:endParaRPr lang="en-LB"/>
          </a:p>
        </p:txBody>
      </p:sp>
      <p:sp>
        <p:nvSpPr>
          <p:cNvPr id="6" name="Slide Number Placeholder 5">
            <a:extLst>
              <a:ext uri="{FF2B5EF4-FFF2-40B4-BE49-F238E27FC236}">
                <a16:creationId xmlns:a16="http://schemas.microsoft.com/office/drawing/2014/main" id="{5A0B0324-AFD4-EB9A-E98F-C67913A58223}"/>
              </a:ext>
            </a:extLst>
          </p:cNvPr>
          <p:cNvSpPr>
            <a:spLocks noGrp="1"/>
          </p:cNvSpPr>
          <p:nvPr>
            <p:ph type="sldNum" sz="quarter" idx="12"/>
          </p:nvPr>
        </p:nvSpPr>
        <p:spPr/>
        <p:txBody>
          <a:bodyPr/>
          <a:lstStyle/>
          <a:p>
            <a:fld id="{77379608-8FB2-8E42-8944-01EDA5B106D2}" type="slidenum">
              <a:rPr lang="en-LB" smtClean="0"/>
              <a:t>‹#›</a:t>
            </a:fld>
            <a:endParaRPr lang="en-LB"/>
          </a:p>
        </p:txBody>
      </p:sp>
    </p:spTree>
    <p:extLst>
      <p:ext uri="{BB962C8B-B14F-4D97-AF65-F5344CB8AC3E}">
        <p14:creationId xmlns:p14="http://schemas.microsoft.com/office/powerpoint/2010/main" val="475336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Slide">
    <p:bg>
      <p:bgPr>
        <a:solidFill>
          <a:srgbClr val="84003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199945A-F0AD-07A8-152D-2BC4156C9F10}"/>
              </a:ext>
            </a:extLst>
          </p:cNvPr>
          <p:cNvPicPr>
            <a:picLocks noChangeAspect="1"/>
          </p:cNvPicPr>
          <p:nvPr userDrawn="1"/>
        </p:nvPicPr>
        <p:blipFill>
          <a:blip r:embed="rId2"/>
          <a:stretch>
            <a:fillRect/>
          </a:stretch>
        </p:blipFill>
        <p:spPr>
          <a:xfrm>
            <a:off x="882761" y="5860690"/>
            <a:ext cx="637309" cy="637309"/>
          </a:xfrm>
          <a:prstGeom prst="rect">
            <a:avLst/>
          </a:prstGeom>
        </p:spPr>
      </p:pic>
      <p:pic>
        <p:nvPicPr>
          <p:cNvPr id="4" name="Picture 3" descr="Text&#10;&#10;Description automatically generated with medium confidence">
            <a:extLst>
              <a:ext uri="{FF2B5EF4-FFF2-40B4-BE49-F238E27FC236}">
                <a16:creationId xmlns:a16="http://schemas.microsoft.com/office/drawing/2014/main" id="{F1B2BDB8-3F43-1D5F-55E5-63B3AC8026F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2761" y="1337400"/>
            <a:ext cx="4512880" cy="1054411"/>
          </a:xfrm>
          <a:prstGeom prst="rect">
            <a:avLst/>
          </a:prstGeom>
        </p:spPr>
      </p:pic>
    </p:spTree>
    <p:extLst>
      <p:ext uri="{BB962C8B-B14F-4D97-AF65-F5344CB8AC3E}">
        <p14:creationId xmlns:p14="http://schemas.microsoft.com/office/powerpoint/2010/main" val="12567365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8BB430-B246-9C97-239C-264513AF5F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LB"/>
          </a:p>
        </p:txBody>
      </p:sp>
      <p:sp>
        <p:nvSpPr>
          <p:cNvPr id="3" name="Text Placeholder 2">
            <a:extLst>
              <a:ext uri="{FF2B5EF4-FFF2-40B4-BE49-F238E27FC236}">
                <a16:creationId xmlns:a16="http://schemas.microsoft.com/office/drawing/2014/main" id="{159854A7-47DA-7EE4-3057-4F33829ED8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B"/>
          </a:p>
        </p:txBody>
      </p:sp>
      <p:sp>
        <p:nvSpPr>
          <p:cNvPr id="4" name="Date Placeholder 3">
            <a:extLst>
              <a:ext uri="{FF2B5EF4-FFF2-40B4-BE49-F238E27FC236}">
                <a16:creationId xmlns:a16="http://schemas.microsoft.com/office/drawing/2014/main" id="{2F68C044-0264-2EE9-631E-C6463590F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E748FF-1935-A646-967B-964B9CAEE7A1}" type="datetimeFigureOut">
              <a:rPr lang="en-LB" smtClean="0"/>
              <a:t>02/27/2026</a:t>
            </a:fld>
            <a:endParaRPr lang="en-LB"/>
          </a:p>
        </p:txBody>
      </p:sp>
      <p:sp>
        <p:nvSpPr>
          <p:cNvPr id="5" name="Footer Placeholder 4">
            <a:extLst>
              <a:ext uri="{FF2B5EF4-FFF2-40B4-BE49-F238E27FC236}">
                <a16:creationId xmlns:a16="http://schemas.microsoft.com/office/drawing/2014/main" id="{7F597E8A-37B5-FF55-4700-587A46EC0A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LB"/>
          </a:p>
        </p:txBody>
      </p:sp>
      <p:sp>
        <p:nvSpPr>
          <p:cNvPr id="6" name="Slide Number Placeholder 5">
            <a:extLst>
              <a:ext uri="{FF2B5EF4-FFF2-40B4-BE49-F238E27FC236}">
                <a16:creationId xmlns:a16="http://schemas.microsoft.com/office/drawing/2014/main" id="{D39EE637-8ED3-51C3-0791-4BAB0C480A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379608-8FB2-8E42-8944-01EDA5B106D2}" type="slidenum">
              <a:rPr lang="en-LB" smtClean="0"/>
              <a:t>‹#›</a:t>
            </a:fld>
            <a:endParaRPr lang="en-LB"/>
          </a:p>
        </p:txBody>
      </p:sp>
    </p:spTree>
    <p:extLst>
      <p:ext uri="{BB962C8B-B14F-4D97-AF65-F5344CB8AC3E}">
        <p14:creationId xmlns:p14="http://schemas.microsoft.com/office/powerpoint/2010/main" val="3520350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American university of beirut:…">
            <a:extLst>
              <a:ext uri="{FF2B5EF4-FFF2-40B4-BE49-F238E27FC236}">
                <a16:creationId xmlns:a16="http://schemas.microsoft.com/office/drawing/2014/main" id="{B99A7999-4916-D2C4-6B0B-D7B6942D8F7E}"/>
              </a:ext>
            </a:extLst>
          </p:cNvPr>
          <p:cNvSpPr txBox="1"/>
          <p:nvPr/>
        </p:nvSpPr>
        <p:spPr>
          <a:xfrm>
            <a:off x="832238" y="3045071"/>
            <a:ext cx="8445577" cy="3629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p>
            <a:pPr algn="l">
              <a:lnSpc>
                <a:spcPct val="90000"/>
              </a:lnSpc>
              <a:defRPr sz="4500" b="1" cap="all">
                <a:solidFill>
                  <a:srgbClr val="FFFFFF"/>
                </a:solidFill>
                <a:latin typeface="Proxima Nova Rg"/>
                <a:ea typeface="Proxima Nova Rg"/>
                <a:cs typeface="Proxima Nova Rg"/>
                <a:sym typeface="Proxima Nova"/>
              </a:defRPr>
            </a:pPr>
            <a:r>
              <a:rPr lang="en-US" sz="2250" dirty="0">
                <a:latin typeface="Helvetica" pitchFamily="2" charset="0"/>
              </a:rPr>
              <a:t>Waste prediction System – prosses presentation</a:t>
            </a:r>
            <a:endParaRPr lang="fr-FR" sz="2250" dirty="0">
              <a:latin typeface="Helvetica" pitchFamily="2" charset="0"/>
            </a:endParaRPr>
          </a:p>
        </p:txBody>
      </p:sp>
      <p:sp>
        <p:nvSpPr>
          <p:cNvPr id="3" name="Fadlo R. Khuri, MD">
            <a:extLst>
              <a:ext uri="{FF2B5EF4-FFF2-40B4-BE49-F238E27FC236}">
                <a16:creationId xmlns:a16="http://schemas.microsoft.com/office/drawing/2014/main" id="{E1EB0969-EA77-FFED-502D-1CC99BA09EA2}"/>
              </a:ext>
            </a:extLst>
          </p:cNvPr>
          <p:cNvSpPr txBox="1"/>
          <p:nvPr/>
        </p:nvSpPr>
        <p:spPr>
          <a:xfrm>
            <a:off x="891741" y="3571585"/>
            <a:ext cx="4471996" cy="19364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lvl1pPr algn="l" defTabSz="457200">
              <a:defRPr sz="3500">
                <a:solidFill>
                  <a:srgbClr val="FFFFFF"/>
                </a:solidFill>
                <a:latin typeface="Proxima Nova Lt"/>
                <a:ea typeface="Proxima Nova Lt"/>
                <a:cs typeface="Proxima Nova Lt"/>
                <a:sym typeface="Proxima Nova Semibold"/>
              </a:defRPr>
            </a:lvl1pPr>
          </a:lstStyle>
          <a:p>
            <a:r>
              <a:rPr lang="en-US" sz="1750" dirty="0">
                <a:latin typeface="Helvetica" pitchFamily="2" charset="0"/>
              </a:rPr>
              <a:t>Team: Lucas Chebly (</a:t>
            </a:r>
            <a:r>
              <a:rPr lang="fr-FR" sz="1750" dirty="0"/>
              <a:t>202305338)</a:t>
            </a:r>
          </a:p>
          <a:p>
            <a:r>
              <a:rPr lang="fr-FR" sz="1750" b="0" dirty="0">
                <a:solidFill>
                  <a:srgbClr val="CCCCCC"/>
                </a:solidFill>
                <a:effectLst/>
                <a:latin typeface="Consolas" panose="020B0609020204030204" pitchFamily="49" charset="0"/>
              </a:rPr>
              <a:t>	</a:t>
            </a:r>
            <a:r>
              <a:rPr lang="fr-FR" sz="1750" dirty="0">
                <a:solidFill>
                  <a:srgbClr val="CCCCCC"/>
                </a:solidFill>
                <a:latin typeface="Consolas" panose="020B0609020204030204" pitchFamily="49" charset="0"/>
              </a:rPr>
              <a:t>  </a:t>
            </a:r>
            <a:r>
              <a:rPr lang="fr-FR" sz="1750" b="0" dirty="0">
                <a:solidFill>
                  <a:schemeClr val="bg1"/>
                </a:solidFill>
                <a:effectLst/>
                <a:latin typeface="Consolas" panose="020B0609020204030204" pitchFamily="49" charset="0"/>
              </a:rPr>
              <a:t>Saro Meghdessian (202309358)</a:t>
            </a:r>
          </a:p>
          <a:p>
            <a:r>
              <a:rPr lang="fr-FR" sz="1750" dirty="0">
                <a:solidFill>
                  <a:schemeClr val="bg1"/>
                </a:solidFill>
                <a:latin typeface="Consolas" panose="020B0609020204030204" pitchFamily="49" charset="0"/>
              </a:rPr>
              <a:t>	  </a:t>
            </a:r>
            <a:r>
              <a:rPr lang="nl-NL" sz="1750" b="0" dirty="0">
                <a:solidFill>
                  <a:schemeClr val="bg1"/>
                </a:solidFill>
                <a:effectLst/>
                <a:latin typeface="Consolas" panose="020B0609020204030204" pitchFamily="49" charset="0"/>
              </a:rPr>
              <a:t>Shahan Nadjarian (202304615)</a:t>
            </a:r>
          </a:p>
          <a:p>
            <a:r>
              <a:rPr lang="nl-NL" sz="1750" dirty="0">
                <a:solidFill>
                  <a:schemeClr val="bg1"/>
                </a:solidFill>
                <a:latin typeface="Consolas" panose="020B0609020204030204" pitchFamily="49" charset="0"/>
              </a:rPr>
              <a:t>	  </a:t>
            </a:r>
            <a:r>
              <a:rPr lang="nl-NL" sz="1750" b="0" dirty="0">
                <a:solidFill>
                  <a:schemeClr val="bg1"/>
                </a:solidFill>
                <a:effectLst/>
                <a:latin typeface="Consolas" panose="020B0609020204030204" pitchFamily="49" charset="0"/>
              </a:rPr>
              <a:t>Jad Raad (202309924)</a:t>
            </a:r>
          </a:p>
          <a:p>
            <a:endParaRPr lang="fr-FR" sz="1750" b="0" dirty="0">
              <a:solidFill>
                <a:schemeClr val="bg1"/>
              </a:solidFill>
              <a:effectLst/>
              <a:latin typeface="Consolas" panose="020B0609020204030204" pitchFamily="49" charset="0"/>
            </a:endParaRPr>
          </a:p>
          <a:p>
            <a:endParaRPr lang="fr-FR" sz="1750" b="0" dirty="0">
              <a:solidFill>
                <a:srgbClr val="CCCCCC"/>
              </a:solidFill>
              <a:effectLst/>
              <a:latin typeface="Consolas" panose="020B0609020204030204" pitchFamily="49" charset="0"/>
            </a:endParaRPr>
          </a:p>
          <a:p>
            <a:endParaRPr sz="1750" dirty="0">
              <a:latin typeface="Helvetica" pitchFamily="2" charset="0"/>
            </a:endParaRPr>
          </a:p>
        </p:txBody>
      </p:sp>
      <p:sp>
        <p:nvSpPr>
          <p:cNvPr id="5" name="Office of the President  |  American University of Beirut">
            <a:extLst>
              <a:ext uri="{FF2B5EF4-FFF2-40B4-BE49-F238E27FC236}">
                <a16:creationId xmlns:a16="http://schemas.microsoft.com/office/drawing/2014/main" id="{6C68B999-77D6-85F7-7025-4018B821B740}"/>
              </a:ext>
            </a:extLst>
          </p:cNvPr>
          <p:cNvSpPr txBox="1"/>
          <p:nvPr/>
        </p:nvSpPr>
        <p:spPr>
          <a:xfrm>
            <a:off x="834004" y="5020955"/>
            <a:ext cx="7096494" cy="5668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spAutoFit/>
          </a:bodyPr>
          <a:lstStyle>
            <a:lvl1pPr algn="l" defTabSz="457200">
              <a:defRPr sz="2700">
                <a:solidFill>
                  <a:srgbClr val="FFFFFF"/>
                </a:solidFill>
                <a:latin typeface="Proxima Nova Lt"/>
                <a:ea typeface="Proxima Nova Lt"/>
                <a:cs typeface="Proxima Nova Lt"/>
                <a:sym typeface="Proxima Nova Semibold"/>
              </a:defRPr>
            </a:lvl1pPr>
          </a:lstStyle>
          <a:p>
            <a:r>
              <a:rPr lang="en-US" sz="1750" dirty="0">
                <a:latin typeface="Helvetica" pitchFamily="2" charset="0"/>
              </a:rPr>
              <a:t>Advisor: </a:t>
            </a:r>
            <a:r>
              <a:rPr lang="fr-FR" sz="1750" b="0" dirty="0">
                <a:solidFill>
                  <a:schemeClr val="bg1"/>
                </a:solidFill>
                <a:effectLst/>
                <a:latin typeface="Consolas" panose="020B0609020204030204" pitchFamily="49" charset="0"/>
              </a:rPr>
              <a:t>Dr. Mohamed-Asem Abdul Malak, Dr. Farah Demachkieh</a:t>
            </a:r>
          </a:p>
          <a:p>
            <a:endParaRPr sz="1600" dirty="0">
              <a:latin typeface="Helvetica" pitchFamily="2" charset="0"/>
            </a:endParaRPr>
          </a:p>
        </p:txBody>
      </p:sp>
      <p:sp>
        <p:nvSpPr>
          <p:cNvPr id="6" name="Line">
            <a:extLst>
              <a:ext uri="{FF2B5EF4-FFF2-40B4-BE49-F238E27FC236}">
                <a16:creationId xmlns:a16="http://schemas.microsoft.com/office/drawing/2014/main" id="{3DAB7E1E-D463-1727-8D2A-93A0A65FF17B}"/>
              </a:ext>
            </a:extLst>
          </p:cNvPr>
          <p:cNvSpPr/>
          <p:nvPr/>
        </p:nvSpPr>
        <p:spPr>
          <a:xfrm flipV="1">
            <a:off x="891741" y="4804761"/>
            <a:ext cx="6981020" cy="33452"/>
          </a:xfrm>
          <a:prstGeom prst="line">
            <a:avLst/>
          </a:prstGeom>
          <a:ln w="25400" cap="rnd">
            <a:solidFill>
              <a:srgbClr val="FFFFFF">
                <a:alpha val="66798"/>
              </a:srgbClr>
            </a:solidFill>
            <a:custDash>
              <a:ds d="100000" sp="200000"/>
            </a:custDash>
          </a:ln>
        </p:spPr>
        <p:txBody>
          <a:bodyPr lIns="25400" tIns="25400" rIns="25400" bIns="25400" anchor="ctr"/>
          <a:lstStyle/>
          <a:p>
            <a:endParaRPr sz="900" dirty="0"/>
          </a:p>
        </p:txBody>
      </p:sp>
      <p:sp>
        <p:nvSpPr>
          <p:cNvPr id="7" name="TextBox 6">
            <a:extLst>
              <a:ext uri="{FF2B5EF4-FFF2-40B4-BE49-F238E27FC236}">
                <a16:creationId xmlns:a16="http://schemas.microsoft.com/office/drawing/2014/main" id="{E31EEC14-95BE-8CB2-9047-71690751923C}"/>
              </a:ext>
            </a:extLst>
          </p:cNvPr>
          <p:cNvSpPr txBox="1"/>
          <p:nvPr/>
        </p:nvSpPr>
        <p:spPr>
          <a:xfrm>
            <a:off x="3849666" y="6234364"/>
            <a:ext cx="6097464" cy="369332"/>
          </a:xfrm>
          <a:prstGeom prst="rect">
            <a:avLst/>
          </a:prstGeom>
          <a:noFill/>
        </p:spPr>
        <p:txBody>
          <a:bodyPr wrap="square">
            <a:spAutoFit/>
          </a:bodyPr>
          <a:lstStyle/>
          <a:p>
            <a:r>
              <a:rPr lang="en-US" sz="1800" b="1" i="1" dirty="0">
                <a:solidFill>
                  <a:schemeClr val="bg1"/>
                </a:solidFill>
                <a:latin typeface="Helvetica" pitchFamily="2" charset="0"/>
              </a:rPr>
              <a:t>Purpose:</a:t>
            </a:r>
            <a:r>
              <a:rPr lang="en-US" sz="1800" i="1" dirty="0">
                <a:solidFill>
                  <a:schemeClr val="bg1"/>
                </a:solidFill>
                <a:latin typeface="Helvetica" pitchFamily="2" charset="0"/>
              </a:rPr>
              <a:t> Establish identity and context.</a:t>
            </a:r>
            <a:endParaRPr lang="en-LB">
              <a:solidFill>
                <a:schemeClr val="bg1"/>
              </a:solidFill>
            </a:endParaRPr>
          </a:p>
        </p:txBody>
      </p:sp>
    </p:spTree>
    <p:extLst>
      <p:ext uri="{BB962C8B-B14F-4D97-AF65-F5344CB8AC3E}">
        <p14:creationId xmlns:p14="http://schemas.microsoft.com/office/powerpoint/2010/main" val="2806152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4054F-47F9-0AC2-9FEA-9AE1934E7E1E}"/>
              </a:ext>
            </a:extLst>
          </p:cNvPr>
          <p:cNvSpPr>
            <a:spLocks noGrp="1"/>
          </p:cNvSpPr>
          <p:nvPr>
            <p:ph type="title"/>
          </p:nvPr>
        </p:nvSpPr>
        <p:spPr/>
        <p:txBody>
          <a:bodyPr/>
          <a:lstStyle/>
          <a:p>
            <a:r>
              <a:rPr lang="en-US" dirty="0">
                <a:solidFill>
                  <a:srgbClr val="8B2132"/>
                </a:solidFill>
                <a:latin typeface="Helvetica" pitchFamily="2" charset="0"/>
              </a:rPr>
              <a:t>Problem Statement</a:t>
            </a:r>
            <a:endParaRPr lang="en-LB" dirty="0">
              <a:solidFill>
                <a:srgbClr val="8B2132"/>
              </a:solidFill>
              <a:latin typeface="Helvetica" pitchFamily="2" charset="0"/>
            </a:endParaRPr>
          </a:p>
        </p:txBody>
      </p:sp>
      <p:sp>
        <p:nvSpPr>
          <p:cNvPr id="3" name="Content Placeholder 2">
            <a:extLst>
              <a:ext uri="{FF2B5EF4-FFF2-40B4-BE49-F238E27FC236}">
                <a16:creationId xmlns:a16="http://schemas.microsoft.com/office/drawing/2014/main" id="{D35CC79D-BB00-644E-537E-EA259A983CC1}"/>
              </a:ext>
            </a:extLst>
          </p:cNvPr>
          <p:cNvSpPr>
            <a:spLocks noGrp="1"/>
          </p:cNvSpPr>
          <p:nvPr>
            <p:ph idx="1"/>
          </p:nvPr>
        </p:nvSpPr>
        <p:spPr>
          <a:xfrm>
            <a:off x="838200" y="1824503"/>
            <a:ext cx="10515600" cy="4351338"/>
          </a:xfrm>
        </p:spPr>
        <p:txBody>
          <a:bodyPr>
            <a:normAutofit/>
          </a:bodyPr>
          <a:lstStyle/>
          <a:p>
            <a:pPr marL="0" indent="0">
              <a:buNone/>
            </a:pPr>
            <a:r>
              <a:rPr lang="en-US" sz="1800" dirty="0">
                <a:solidFill>
                  <a:srgbClr val="8B2132"/>
                </a:solidFill>
                <a:latin typeface="Helvetica" pitchFamily="2" charset="0"/>
              </a:rPr>
              <a:t>- Construction materials = </a:t>
            </a:r>
            <a:r>
              <a:rPr lang="en-US" sz="1800" dirty="0">
                <a:latin typeface="Helvetica" pitchFamily="2" charset="0"/>
              </a:rPr>
              <a:t>50-60% of project costs in Middle East</a:t>
            </a:r>
          </a:p>
          <a:p>
            <a:pPr marL="0" indent="0">
              <a:buNone/>
            </a:pPr>
            <a:r>
              <a:rPr lang="en-US" sz="1800" dirty="0">
                <a:solidFill>
                  <a:srgbClr val="8B2132"/>
                </a:solidFill>
                <a:latin typeface="Helvetica" pitchFamily="2" charset="0"/>
              </a:rPr>
              <a:t>- Current practice: </a:t>
            </a:r>
            <a:r>
              <a:rPr lang="en-US" sz="1800" dirty="0">
                <a:latin typeface="Helvetica" pitchFamily="2" charset="0"/>
              </a:rPr>
              <a:t>Fixed waste allowances (5-15%) - inaccurate</a:t>
            </a:r>
          </a:p>
          <a:p>
            <a:pPr marL="0" indent="0">
              <a:buNone/>
            </a:pPr>
            <a:r>
              <a:rPr lang="en-US" sz="1800" dirty="0">
                <a:solidFill>
                  <a:srgbClr val="8B2132"/>
                </a:solidFill>
                <a:latin typeface="Helvetica" pitchFamily="2" charset="0"/>
              </a:rPr>
              <a:t>- Steel reinforcement waste: </a:t>
            </a:r>
            <a:r>
              <a:rPr lang="en-US" sz="1800" dirty="0">
                <a:latin typeface="Helvetica" pitchFamily="2" charset="0"/>
              </a:rPr>
              <a:t>3-8% with significant variation</a:t>
            </a:r>
          </a:p>
          <a:p>
            <a:pPr marL="0" indent="0">
              <a:buNone/>
            </a:pPr>
            <a:r>
              <a:rPr lang="en-US" sz="1800" dirty="0">
                <a:solidFill>
                  <a:srgbClr val="8B2132"/>
                </a:solidFill>
                <a:latin typeface="Helvetica" pitchFamily="2" charset="0"/>
              </a:rPr>
              <a:t>- Gap: </a:t>
            </a:r>
            <a:r>
              <a:rPr lang="en-US" sz="1800" dirty="0">
                <a:latin typeface="Helvetica" pitchFamily="2" charset="0"/>
              </a:rPr>
              <a:t>No data-driven prediction tools linking project parameters to waste</a:t>
            </a:r>
          </a:p>
          <a:p>
            <a:pPr marL="0" indent="0">
              <a:buNone/>
            </a:pPr>
            <a:endParaRPr lang="en-US" sz="1800" dirty="0">
              <a:latin typeface="Helvetica" pitchFamily="2" charset="0"/>
            </a:endParaRPr>
          </a:p>
          <a:p>
            <a:pPr marL="0" indent="0">
              <a:buNone/>
            </a:pPr>
            <a:r>
              <a:rPr lang="en-US" sz="1800" dirty="0">
                <a:solidFill>
                  <a:srgbClr val="8B2132"/>
                </a:solidFill>
                <a:latin typeface="Helvetica" pitchFamily="2" charset="0"/>
              </a:rPr>
              <a:t>Project Objectives:</a:t>
            </a:r>
          </a:p>
          <a:p>
            <a:pPr marL="0" indent="0">
              <a:buNone/>
            </a:pPr>
            <a:r>
              <a:rPr lang="en-US" sz="1800" dirty="0">
                <a:latin typeface="Helvetica" pitchFamily="2" charset="0"/>
              </a:rPr>
              <a:t>1. Develop ML model predicting steel waste (Target: R² ≥ 0.60, MAE ≤ 2.0%)</a:t>
            </a:r>
          </a:p>
          <a:p>
            <a:pPr marL="0" indent="0">
              <a:buNone/>
            </a:pPr>
            <a:r>
              <a:rPr lang="en-US" sz="1800" dirty="0">
                <a:latin typeface="Helvetica" pitchFamily="2" charset="0"/>
              </a:rPr>
              <a:t>2. Create explainable AI system (SHAP-based feature importance)</a:t>
            </a:r>
          </a:p>
          <a:p>
            <a:pPr marL="0" indent="0">
              <a:buNone/>
            </a:pPr>
            <a:r>
              <a:rPr lang="en-US" sz="1800" dirty="0">
                <a:latin typeface="Helvetica" pitchFamily="2" charset="0"/>
              </a:rPr>
              <a:t>3. Quantify financial and environmental impact (Cost &amp; CO₂)</a:t>
            </a:r>
          </a:p>
          <a:p>
            <a:pPr marL="0" indent="0">
              <a:buNone/>
            </a:pPr>
            <a:r>
              <a:rPr lang="en-US" sz="1800" dirty="0">
                <a:latin typeface="Helvetica" pitchFamily="2" charset="0"/>
              </a:rPr>
              <a:t>4. Build production-ready web application</a:t>
            </a:r>
            <a:endParaRPr lang="en-LB" sz="1800" dirty="0">
              <a:latin typeface="Helvetica" pitchFamily="2" charset="0"/>
            </a:endParaRPr>
          </a:p>
        </p:txBody>
      </p:sp>
    </p:spTree>
    <p:extLst>
      <p:ext uri="{BB962C8B-B14F-4D97-AF65-F5344CB8AC3E}">
        <p14:creationId xmlns:p14="http://schemas.microsoft.com/office/powerpoint/2010/main" val="13219772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4054F-47F9-0AC2-9FEA-9AE1934E7E1E}"/>
              </a:ext>
            </a:extLst>
          </p:cNvPr>
          <p:cNvSpPr>
            <a:spLocks noGrp="1"/>
          </p:cNvSpPr>
          <p:nvPr>
            <p:ph type="title"/>
          </p:nvPr>
        </p:nvSpPr>
        <p:spPr>
          <a:xfrm>
            <a:off x="658851" y="97495"/>
            <a:ext cx="10874298" cy="1325563"/>
          </a:xfrm>
        </p:spPr>
        <p:txBody>
          <a:bodyPr>
            <a:normAutofit/>
          </a:bodyPr>
          <a:lstStyle/>
          <a:p>
            <a:r>
              <a:rPr lang="en-US" dirty="0">
                <a:solidFill>
                  <a:srgbClr val="8B2132"/>
                </a:solidFill>
                <a:latin typeface="Helvetica" pitchFamily="2" charset="0"/>
              </a:rPr>
              <a:t>Methodology</a:t>
            </a:r>
            <a:endParaRPr lang="en-LB" dirty="0">
              <a:solidFill>
                <a:srgbClr val="8B2132"/>
              </a:solidFill>
              <a:latin typeface="Helvetica" pitchFamily="2" charset="0"/>
            </a:endParaRPr>
          </a:p>
        </p:txBody>
      </p:sp>
      <p:sp>
        <p:nvSpPr>
          <p:cNvPr id="3" name="Content Placeholder 2">
            <a:extLst>
              <a:ext uri="{FF2B5EF4-FFF2-40B4-BE49-F238E27FC236}">
                <a16:creationId xmlns:a16="http://schemas.microsoft.com/office/drawing/2014/main" id="{D35CC79D-BB00-644E-537E-EA259A983CC1}"/>
              </a:ext>
            </a:extLst>
          </p:cNvPr>
          <p:cNvSpPr>
            <a:spLocks noGrp="1"/>
          </p:cNvSpPr>
          <p:nvPr>
            <p:ph idx="1"/>
          </p:nvPr>
        </p:nvSpPr>
        <p:spPr>
          <a:xfrm>
            <a:off x="658850" y="1339035"/>
            <a:ext cx="6946281" cy="5421469"/>
          </a:xfrm>
        </p:spPr>
        <p:txBody>
          <a:bodyPr>
            <a:noAutofit/>
          </a:bodyPr>
          <a:lstStyle/>
          <a:p>
            <a:pPr marL="0" indent="0">
              <a:buNone/>
            </a:pPr>
            <a:r>
              <a:rPr lang="en-US" sz="1800" dirty="0">
                <a:solidFill>
                  <a:srgbClr val="8B2132"/>
                </a:solidFill>
                <a:latin typeface="Helvetica" pitchFamily="2" charset="0"/>
              </a:rPr>
              <a:t>Phase 1: Literature Review &amp; Parameter Identification</a:t>
            </a:r>
          </a:p>
          <a:p>
            <a:pPr marL="0" indent="0">
              <a:buNone/>
            </a:pPr>
            <a:r>
              <a:rPr lang="en-US" sz="1800" dirty="0">
                <a:latin typeface="Helvetica" pitchFamily="2" charset="0"/>
              </a:rPr>
              <a:t>- Reviewed 50+ research papers on construction waste</a:t>
            </a:r>
          </a:p>
          <a:p>
            <a:pPr marL="0" indent="0">
              <a:buNone/>
            </a:pPr>
            <a:r>
              <a:rPr lang="en-US" sz="1800" dirty="0">
                <a:latin typeface="Helvetica" pitchFamily="2" charset="0"/>
              </a:rPr>
              <a:t>- Identified 16 key waste drivers</a:t>
            </a:r>
          </a:p>
          <a:p>
            <a:pPr marL="0" indent="0">
              <a:buNone/>
            </a:pPr>
            <a:r>
              <a:rPr lang="en-US" sz="1800" dirty="0">
                <a:latin typeface="Helvetica" pitchFamily="2" charset="0"/>
              </a:rPr>
              <a:t>- Categorized: Material (4), Management (5), Dynamics (7)</a:t>
            </a:r>
          </a:p>
          <a:p>
            <a:pPr marL="0" indent="0">
              <a:buNone/>
            </a:pPr>
            <a:endParaRPr lang="en-US" sz="1800" dirty="0">
              <a:solidFill>
                <a:srgbClr val="8B2132"/>
              </a:solidFill>
              <a:latin typeface="Helvetica" pitchFamily="2" charset="0"/>
            </a:endParaRPr>
          </a:p>
          <a:p>
            <a:pPr marL="0" indent="0">
              <a:buNone/>
            </a:pPr>
            <a:r>
              <a:rPr lang="en-US" sz="1800" dirty="0">
                <a:solidFill>
                  <a:srgbClr val="8B2132"/>
                </a:solidFill>
                <a:latin typeface="Helvetica" pitchFamily="2" charset="0"/>
              </a:rPr>
              <a:t>Phase 2: Data Collection &amp; Generation</a:t>
            </a:r>
          </a:p>
          <a:p>
            <a:pPr marL="0" indent="0">
              <a:buNone/>
            </a:pPr>
            <a:r>
              <a:rPr lang="en-US" sz="1800" dirty="0">
                <a:latin typeface="Helvetica" pitchFamily="2" charset="0"/>
              </a:rPr>
              <a:t>- Literature-based synthetic dataset (3,000 projects)</a:t>
            </a:r>
          </a:p>
          <a:p>
            <a:pPr marL="0" indent="0">
              <a:buNone/>
            </a:pPr>
            <a:r>
              <a:rPr lang="en-US" sz="1800" dirty="0">
                <a:latin typeface="Helvetica" pitchFamily="2" charset="0"/>
              </a:rPr>
              <a:t>- Real project data from A.R. Hourie Enterprises (in progress)</a:t>
            </a:r>
          </a:p>
          <a:p>
            <a:pPr marL="0" indent="0">
              <a:buNone/>
            </a:pPr>
            <a:r>
              <a:rPr lang="en-US" sz="1800" dirty="0">
                <a:latin typeface="Helvetica" pitchFamily="2" charset="0"/>
              </a:rPr>
              <a:t>- Validation against industry practices</a:t>
            </a:r>
          </a:p>
          <a:p>
            <a:pPr marL="0" indent="0">
              <a:buNone/>
            </a:pPr>
            <a:endParaRPr lang="en-US" sz="1800" dirty="0">
              <a:solidFill>
                <a:srgbClr val="8B2132"/>
              </a:solidFill>
              <a:latin typeface="Helvetica" pitchFamily="2" charset="0"/>
            </a:endParaRPr>
          </a:p>
          <a:p>
            <a:pPr marL="0" indent="0">
              <a:buNone/>
            </a:pPr>
            <a:r>
              <a:rPr lang="en-US" sz="1800" dirty="0">
                <a:solidFill>
                  <a:srgbClr val="8B2132"/>
                </a:solidFill>
                <a:latin typeface="Helvetica" pitchFamily="2" charset="0"/>
              </a:rPr>
              <a:t>Phase 3: Model Development</a:t>
            </a:r>
          </a:p>
          <a:p>
            <a:pPr marL="0" indent="0">
              <a:buNone/>
            </a:pPr>
            <a:r>
              <a:rPr lang="en-US" sz="1800" dirty="0">
                <a:latin typeface="Helvetica" pitchFamily="2" charset="0"/>
              </a:rPr>
              <a:t>- Tested 10 ML algorithms</a:t>
            </a:r>
          </a:p>
          <a:p>
            <a:pPr marL="0" indent="0">
              <a:buNone/>
            </a:pPr>
            <a:r>
              <a:rPr lang="en-US" sz="1800" dirty="0">
                <a:latin typeface="Helvetica" pitchFamily="2" charset="0"/>
              </a:rPr>
              <a:t>- Selected best model (Gradient Boosting)</a:t>
            </a:r>
          </a:p>
          <a:p>
            <a:pPr marL="0" indent="0">
              <a:buNone/>
            </a:pPr>
            <a:r>
              <a:rPr lang="en-US" sz="1800" dirty="0">
                <a:latin typeface="Helvetica" pitchFamily="2" charset="0"/>
              </a:rPr>
              <a:t>- Evaluated using MAE, RMSE, R², MAPE, cross-validation</a:t>
            </a:r>
            <a:endParaRPr lang="en-LB" sz="1800" dirty="0">
              <a:latin typeface="Helvetica" pitchFamily="2" charset="0"/>
            </a:endParaRPr>
          </a:p>
        </p:txBody>
      </p:sp>
      <p:sp>
        <p:nvSpPr>
          <p:cNvPr id="4" name="Content Placeholder 2">
            <a:extLst>
              <a:ext uri="{FF2B5EF4-FFF2-40B4-BE49-F238E27FC236}">
                <a16:creationId xmlns:a16="http://schemas.microsoft.com/office/drawing/2014/main" id="{D35CC79D-BB00-644E-537E-EA259A983CC1}"/>
              </a:ext>
            </a:extLst>
          </p:cNvPr>
          <p:cNvSpPr txBox="1">
            <a:spLocks/>
          </p:cNvSpPr>
          <p:nvPr/>
        </p:nvSpPr>
        <p:spPr>
          <a:xfrm>
            <a:off x="7605131" y="1331119"/>
            <a:ext cx="4058813" cy="41957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rgbClr val="8B2132"/>
                </a:solidFill>
                <a:latin typeface="Helvetica" pitchFamily="2" charset="0"/>
              </a:rPr>
              <a:t>Phase 4: System Enhancement</a:t>
            </a:r>
          </a:p>
          <a:p>
            <a:pPr marL="0" indent="0">
              <a:buFont typeface="Arial" panose="020B0604020202020204" pitchFamily="34" charset="0"/>
              <a:buNone/>
            </a:pPr>
            <a:r>
              <a:rPr lang="en-US" sz="1800" dirty="0">
                <a:solidFill>
                  <a:srgbClr val="8B2132"/>
                </a:solidFill>
                <a:latin typeface="Helvetica" pitchFamily="2" charset="0"/>
              </a:rPr>
              <a:t>- Added explainability (SHAP)</a:t>
            </a:r>
          </a:p>
          <a:p>
            <a:pPr marL="0" indent="0">
              <a:buFont typeface="Arial" panose="020B0604020202020204" pitchFamily="34" charset="0"/>
              <a:buNone/>
            </a:pPr>
            <a:r>
              <a:rPr lang="en-US" sz="1800" dirty="0">
                <a:latin typeface="Helvetica" pitchFamily="2" charset="0"/>
              </a:rPr>
              <a:t>- Added cost/CO₂ impact analysis</a:t>
            </a:r>
          </a:p>
          <a:p>
            <a:pPr marL="0" indent="0">
              <a:buFont typeface="Arial" panose="020B0604020202020204" pitchFamily="34" charset="0"/>
              <a:buNone/>
            </a:pPr>
            <a:r>
              <a:rPr lang="en-US" sz="1800" dirty="0">
                <a:latin typeface="Helvetica" pitchFamily="2" charset="0"/>
              </a:rPr>
              <a:t>- Added reliability indicators</a:t>
            </a:r>
          </a:p>
          <a:p>
            <a:pPr marL="0" indent="0">
              <a:buFont typeface="Arial" panose="020B0604020202020204" pitchFamily="34" charset="0"/>
              <a:buNone/>
            </a:pPr>
            <a:r>
              <a:rPr lang="en-US" sz="1800" dirty="0">
                <a:latin typeface="Helvetica" pitchFamily="2" charset="0"/>
              </a:rPr>
              <a:t>- Built professional web interface</a:t>
            </a:r>
          </a:p>
          <a:p>
            <a:pPr marL="0" indent="0">
              <a:buFont typeface="Arial" panose="020B0604020202020204" pitchFamily="34" charset="0"/>
              <a:buNone/>
            </a:pPr>
            <a:endParaRPr lang="en-US" sz="1800" dirty="0">
              <a:solidFill>
                <a:srgbClr val="8B2132"/>
              </a:solidFill>
              <a:latin typeface="Helvetica" pitchFamily="2" charset="0"/>
            </a:endParaRPr>
          </a:p>
          <a:p>
            <a:pPr marL="0" indent="0">
              <a:buFont typeface="Arial" panose="020B0604020202020204" pitchFamily="34" charset="0"/>
              <a:buNone/>
            </a:pPr>
            <a:r>
              <a:rPr lang="en-US" sz="1800" dirty="0">
                <a:solidFill>
                  <a:srgbClr val="8B2132"/>
                </a:solidFill>
                <a:latin typeface="Helvetica" pitchFamily="2" charset="0"/>
              </a:rPr>
              <a:t>Phase 5: Validation &amp; Deployment</a:t>
            </a:r>
          </a:p>
          <a:p>
            <a:pPr marL="0" indent="0">
              <a:buFont typeface="Arial" panose="020B0604020202020204" pitchFamily="34" charset="0"/>
              <a:buNone/>
            </a:pPr>
            <a:r>
              <a:rPr lang="en-US" sz="1800" dirty="0">
                <a:latin typeface="Helvetica" pitchFamily="2" charset="0"/>
              </a:rPr>
              <a:t>- Cross-validation testing</a:t>
            </a:r>
          </a:p>
          <a:p>
            <a:pPr marL="0" indent="0">
              <a:buFont typeface="Arial" panose="020B0604020202020204" pitchFamily="34" charset="0"/>
              <a:buNone/>
            </a:pPr>
            <a:r>
              <a:rPr lang="en-US" sz="1800" dirty="0">
                <a:latin typeface="Helvetica" pitchFamily="2" charset="0"/>
              </a:rPr>
              <a:t>- Real-world scenario validation</a:t>
            </a:r>
          </a:p>
          <a:p>
            <a:pPr marL="0" indent="0">
              <a:buFont typeface="Arial" panose="020B0604020202020204" pitchFamily="34" charset="0"/>
              <a:buNone/>
            </a:pPr>
            <a:r>
              <a:rPr lang="en-US" sz="1800" dirty="0">
                <a:latin typeface="Helvetica" pitchFamily="2" charset="0"/>
              </a:rPr>
              <a:t>- Production-ready deployment</a:t>
            </a:r>
            <a:endParaRPr lang="en-LB" sz="1800" dirty="0">
              <a:latin typeface="Helvetica" pitchFamily="2" charset="0"/>
            </a:endParaRPr>
          </a:p>
        </p:txBody>
      </p:sp>
    </p:spTree>
    <p:extLst>
      <p:ext uri="{BB962C8B-B14F-4D97-AF65-F5344CB8AC3E}">
        <p14:creationId xmlns:p14="http://schemas.microsoft.com/office/powerpoint/2010/main" val="1521475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4054F-47F9-0AC2-9FEA-9AE1934E7E1E}"/>
              </a:ext>
            </a:extLst>
          </p:cNvPr>
          <p:cNvSpPr>
            <a:spLocks noGrp="1"/>
          </p:cNvSpPr>
          <p:nvPr>
            <p:ph type="title"/>
          </p:nvPr>
        </p:nvSpPr>
        <p:spPr/>
        <p:txBody>
          <a:bodyPr/>
          <a:lstStyle/>
          <a:p>
            <a:r>
              <a:rPr lang="en-US" dirty="0">
                <a:solidFill>
                  <a:srgbClr val="8B2132"/>
                </a:solidFill>
                <a:latin typeface="Helvetica" pitchFamily="2" charset="0"/>
              </a:rPr>
              <a:t>Last Semester Work - Overview</a:t>
            </a:r>
            <a:endParaRPr lang="en-LB" dirty="0">
              <a:solidFill>
                <a:srgbClr val="8B2132"/>
              </a:solidFill>
              <a:latin typeface="Helvetica" pitchFamily="2" charset="0"/>
            </a:endParaRPr>
          </a:p>
        </p:txBody>
      </p:sp>
      <p:sp>
        <p:nvSpPr>
          <p:cNvPr id="3" name="Content Placeholder 2">
            <a:extLst>
              <a:ext uri="{FF2B5EF4-FFF2-40B4-BE49-F238E27FC236}">
                <a16:creationId xmlns:a16="http://schemas.microsoft.com/office/drawing/2014/main" id="{D35CC79D-BB00-644E-537E-EA259A983CC1}"/>
              </a:ext>
            </a:extLst>
          </p:cNvPr>
          <p:cNvSpPr>
            <a:spLocks noGrp="1"/>
          </p:cNvSpPr>
          <p:nvPr>
            <p:ph idx="1"/>
          </p:nvPr>
        </p:nvSpPr>
        <p:spPr>
          <a:xfrm>
            <a:off x="838200" y="1690688"/>
            <a:ext cx="5257800" cy="4155736"/>
          </a:xfrm>
        </p:spPr>
        <p:txBody>
          <a:bodyPr>
            <a:normAutofit/>
          </a:bodyPr>
          <a:lstStyle/>
          <a:p>
            <a:pPr marL="0" indent="0">
              <a:buNone/>
            </a:pPr>
            <a:endParaRPr lang="en-US" sz="1600" dirty="0">
              <a:solidFill>
                <a:srgbClr val="8B2132"/>
              </a:solidFill>
              <a:latin typeface="Helvetica" pitchFamily="2" charset="0"/>
            </a:endParaRPr>
          </a:p>
          <a:p>
            <a:pPr marL="0" indent="0">
              <a:buNone/>
            </a:pPr>
            <a:r>
              <a:rPr lang="en-US" sz="1800" dirty="0">
                <a:solidFill>
                  <a:srgbClr val="8B2132"/>
                </a:solidFill>
                <a:latin typeface="Helvetica" pitchFamily="2" charset="0"/>
              </a:rPr>
              <a:t>1. Literature Review &amp; Parameter Identification</a:t>
            </a:r>
          </a:p>
          <a:p>
            <a:pPr marL="0" indent="0">
              <a:buNone/>
            </a:pPr>
            <a:r>
              <a:rPr lang="en-US" sz="1800" dirty="0">
                <a:latin typeface="Helvetica" pitchFamily="2" charset="0"/>
              </a:rPr>
              <a:t>- Identified 16 key waste drivers from research</a:t>
            </a:r>
          </a:p>
          <a:p>
            <a:pPr marL="0" indent="0">
              <a:buNone/>
            </a:pPr>
            <a:r>
              <a:rPr lang="en-US" sz="1800" dirty="0">
                <a:latin typeface="Helvetica" pitchFamily="2" charset="0"/>
              </a:rPr>
              <a:t>- Categorized: Material (4), Management (5), Dynamics (7)</a:t>
            </a:r>
          </a:p>
          <a:p>
            <a:pPr marL="0" indent="0">
              <a:buNone/>
            </a:pPr>
            <a:r>
              <a:rPr lang="en-US" sz="1800" dirty="0">
                <a:latin typeface="Helvetica" pitchFamily="2" charset="0"/>
              </a:rPr>
              <a:t>- Validated against industry practices</a:t>
            </a:r>
          </a:p>
          <a:p>
            <a:pPr marL="0" indent="0">
              <a:buNone/>
            </a:pPr>
            <a:endParaRPr lang="en-US" sz="1800" dirty="0">
              <a:solidFill>
                <a:srgbClr val="8B2132"/>
              </a:solidFill>
              <a:latin typeface="Helvetica" pitchFamily="2" charset="0"/>
            </a:endParaRPr>
          </a:p>
          <a:p>
            <a:pPr marL="0" indent="0">
              <a:buNone/>
            </a:pPr>
            <a:r>
              <a:rPr lang="en-US" sz="1800" dirty="0">
                <a:solidFill>
                  <a:srgbClr val="8B2132"/>
                </a:solidFill>
                <a:latin typeface="Helvetica" pitchFamily="2" charset="0"/>
              </a:rPr>
              <a:t>2. Data Generation</a:t>
            </a:r>
          </a:p>
          <a:p>
            <a:pPr marL="0" indent="0">
              <a:buNone/>
            </a:pPr>
            <a:r>
              <a:rPr lang="en-US" sz="1800" dirty="0">
                <a:latin typeface="Helvetica" pitchFamily="2" charset="0"/>
              </a:rPr>
              <a:t>- Created synthetic dataset: 3,000 projects</a:t>
            </a:r>
          </a:p>
          <a:p>
            <a:pPr marL="0" indent="0">
              <a:buNone/>
            </a:pPr>
            <a:r>
              <a:rPr lang="en-US" sz="1800" dirty="0">
                <a:latin typeface="Helvetica" pitchFamily="2" charset="0"/>
              </a:rPr>
              <a:t>- Based on literature-derived relationships</a:t>
            </a:r>
          </a:p>
          <a:p>
            <a:pPr marL="0" indent="0">
              <a:buNone/>
            </a:pPr>
            <a:r>
              <a:rPr lang="en-US" sz="1800" dirty="0">
                <a:latin typeface="Helvetica" pitchFamily="2" charset="0"/>
              </a:rPr>
              <a:t>- Validated distributions and correlations</a:t>
            </a:r>
          </a:p>
          <a:p>
            <a:pPr marL="0" indent="0">
              <a:buNone/>
            </a:pPr>
            <a:endParaRPr lang="en-US" dirty="0">
              <a:solidFill>
                <a:srgbClr val="8B2132"/>
              </a:solidFill>
              <a:latin typeface="Helvetica" pitchFamily="2" charset="0"/>
            </a:endParaRPr>
          </a:p>
        </p:txBody>
      </p:sp>
      <p:sp>
        <p:nvSpPr>
          <p:cNvPr id="4" name="Content Placeholder 2">
            <a:extLst>
              <a:ext uri="{FF2B5EF4-FFF2-40B4-BE49-F238E27FC236}">
                <a16:creationId xmlns:a16="http://schemas.microsoft.com/office/drawing/2014/main" id="{0B6E14C5-23BE-4701-BF02-C27C12C3BB10}"/>
              </a:ext>
            </a:extLst>
          </p:cNvPr>
          <p:cNvSpPr txBox="1">
            <a:spLocks/>
          </p:cNvSpPr>
          <p:nvPr/>
        </p:nvSpPr>
        <p:spPr>
          <a:xfrm>
            <a:off x="6319023" y="1690688"/>
            <a:ext cx="7465740" cy="4316036"/>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solidFill>
                <a:srgbClr val="8B2132"/>
              </a:solidFill>
              <a:latin typeface="Helvetica" panose="020B0604020202020204" pitchFamily="34" charset="0"/>
              <a:cs typeface="Helvetica" panose="020B0604020202020204" pitchFamily="34" charset="0"/>
            </a:endParaRPr>
          </a:p>
          <a:p>
            <a:pPr marL="0" indent="0">
              <a:buNone/>
            </a:pPr>
            <a:r>
              <a:rPr lang="en-US" dirty="0">
                <a:solidFill>
                  <a:srgbClr val="8B2132"/>
                </a:solidFill>
                <a:latin typeface="Helvetica" panose="020B0604020202020204" pitchFamily="34" charset="0"/>
                <a:ea typeface="Gadugi" panose="020B0502040204020203" pitchFamily="34" charset="0"/>
                <a:cs typeface="Helvetica" panose="020B0604020202020204" pitchFamily="34" charset="0"/>
              </a:rPr>
              <a:t>3. </a:t>
            </a:r>
            <a:r>
              <a:rPr lang="fr-FR" dirty="0">
                <a:solidFill>
                  <a:srgbClr val="8B2132"/>
                </a:solidFill>
                <a:latin typeface="Helvetica" panose="020B0604020202020204" pitchFamily="34" charset="0"/>
                <a:ea typeface="Gadugi" panose="020B0502040204020203" pitchFamily="34" charset="0"/>
                <a:cs typeface="Helvetica" panose="020B0604020202020204" pitchFamily="34" charset="0"/>
              </a:rPr>
              <a:t>Model </a:t>
            </a:r>
            <a:r>
              <a:rPr lang="en-US" dirty="0">
                <a:solidFill>
                  <a:srgbClr val="8B2132"/>
                </a:solidFill>
                <a:latin typeface="Helvetica" panose="020B0604020202020204" pitchFamily="34" charset="0"/>
                <a:ea typeface="Gadugi" panose="020B0502040204020203" pitchFamily="34" charset="0"/>
                <a:cs typeface="Helvetica" panose="020B0604020202020204" pitchFamily="34" charset="0"/>
              </a:rPr>
              <a:t>Development</a:t>
            </a:r>
          </a:p>
          <a:p>
            <a:pPr marL="0" indent="0">
              <a:buNone/>
            </a:pPr>
            <a:r>
              <a:rPr lang="fr-FR" dirty="0">
                <a:latin typeface="Helvetica" panose="020B0604020202020204" pitchFamily="34" charset="0"/>
                <a:ea typeface="Gadugi" panose="020B0502040204020203" pitchFamily="34" charset="0"/>
                <a:cs typeface="Helvetica" panose="020B0604020202020204" pitchFamily="34" charset="0"/>
              </a:rPr>
              <a:t>- </a:t>
            </a:r>
            <a:r>
              <a:rPr lang="en-US" dirty="0">
                <a:latin typeface="Helvetica" panose="020B0604020202020204" pitchFamily="34" charset="0"/>
                <a:ea typeface="Gadugi" panose="020B0502040204020203" pitchFamily="34" charset="0"/>
                <a:cs typeface="Helvetica" panose="020B0604020202020204" pitchFamily="34" charset="0"/>
              </a:rPr>
              <a:t>Tested</a:t>
            </a:r>
            <a:r>
              <a:rPr lang="fr-FR" dirty="0">
                <a:latin typeface="Helvetica" panose="020B0604020202020204" pitchFamily="34" charset="0"/>
                <a:ea typeface="Gadugi" panose="020B0502040204020203" pitchFamily="34" charset="0"/>
                <a:cs typeface="Helvetica" panose="020B0604020202020204" pitchFamily="34" charset="0"/>
              </a:rPr>
              <a:t> 10 ML algorithms</a:t>
            </a:r>
          </a:p>
          <a:p>
            <a:pPr marL="0" indent="0">
              <a:buNone/>
            </a:pPr>
            <a:r>
              <a:rPr lang="fr-FR" dirty="0">
                <a:latin typeface="Helvetica" panose="020B0604020202020204" pitchFamily="34" charset="0"/>
                <a:ea typeface="Gadugi" panose="020B0502040204020203" pitchFamily="34" charset="0"/>
                <a:cs typeface="Helvetica" panose="020B0604020202020204" pitchFamily="34" charset="0"/>
              </a:rPr>
              <a:t>- Best Model: </a:t>
            </a:r>
            <a:r>
              <a:rPr lang="fr-FR" noProof="1">
                <a:latin typeface="Helvetica" panose="020B0604020202020204" pitchFamily="34" charset="0"/>
                <a:ea typeface="Gadugi" panose="020B0502040204020203" pitchFamily="34" charset="0"/>
                <a:cs typeface="Helvetica" panose="020B0604020202020204" pitchFamily="34" charset="0"/>
              </a:rPr>
              <a:t>Gradient</a:t>
            </a:r>
            <a:r>
              <a:rPr lang="fr-FR" dirty="0">
                <a:latin typeface="Helvetica" panose="020B0604020202020204" pitchFamily="34" charset="0"/>
                <a:ea typeface="Gadugi" panose="020B0502040204020203" pitchFamily="34" charset="0"/>
                <a:cs typeface="Helvetica" panose="020B0604020202020204" pitchFamily="34" charset="0"/>
              </a:rPr>
              <a:t> Boosting</a:t>
            </a:r>
          </a:p>
          <a:p>
            <a:pPr marL="0" indent="0">
              <a:buNone/>
            </a:pPr>
            <a:r>
              <a:rPr lang="fr-FR" dirty="0">
                <a:latin typeface="Helvetica" panose="020B0604020202020204" pitchFamily="34" charset="0"/>
                <a:ea typeface="Gadugi" panose="020B0502040204020203" pitchFamily="34" charset="0"/>
                <a:cs typeface="Helvetica" panose="020B0604020202020204" pitchFamily="34" charset="0"/>
              </a:rPr>
              <a:t>  - Test MAE: 0.73%(Target: ≤2.0%)  63% better</a:t>
            </a:r>
          </a:p>
          <a:p>
            <a:pPr marL="0" indent="0">
              <a:buNone/>
            </a:pPr>
            <a:r>
              <a:rPr lang="fr-FR" dirty="0">
                <a:latin typeface="Helvetica" panose="020B0604020202020204" pitchFamily="34" charset="0"/>
                <a:ea typeface="Gadugi" panose="020B0502040204020203" pitchFamily="34" charset="0"/>
                <a:cs typeface="Helvetica" panose="020B0604020202020204" pitchFamily="34" charset="0"/>
              </a:rPr>
              <a:t>  - Test RMSE: 0.92%(Target: ≤3.0%) 69% better</a:t>
            </a:r>
          </a:p>
          <a:p>
            <a:pPr marL="0" indent="0">
              <a:buNone/>
            </a:pPr>
            <a:r>
              <a:rPr lang="fr-FR" dirty="0">
                <a:latin typeface="Helvetica" panose="020B0604020202020204" pitchFamily="34" charset="0"/>
                <a:ea typeface="Gadugi" panose="020B0502040204020203" pitchFamily="34" charset="0"/>
                <a:cs typeface="Helvetica" panose="020B0604020202020204" pitchFamily="34" charset="0"/>
              </a:rPr>
              <a:t>  - Test R²: 0.93(Target: ≥0.60)  55% better</a:t>
            </a:r>
          </a:p>
          <a:p>
            <a:pPr marL="0" indent="0">
              <a:buNone/>
            </a:pPr>
            <a:r>
              <a:rPr lang="fr-FR" dirty="0">
                <a:latin typeface="Helvetica" panose="020B0604020202020204" pitchFamily="34" charset="0"/>
                <a:ea typeface="Gadugi" panose="020B0502040204020203" pitchFamily="34" charset="0"/>
                <a:cs typeface="Helvetica" panose="020B0604020202020204" pitchFamily="34" charset="0"/>
              </a:rPr>
              <a:t>  - Test MAPE: 10.88%</a:t>
            </a:r>
          </a:p>
          <a:p>
            <a:pPr marL="0" indent="0">
              <a:buFont typeface="Arial" panose="020B0604020202020204" pitchFamily="34" charset="0"/>
              <a:buNone/>
            </a:pPr>
            <a:endParaRPr lang="en-US" dirty="0">
              <a:latin typeface="Helvetica" panose="020B0604020202020204" pitchFamily="34" charset="0"/>
              <a:ea typeface="Gadugi" panose="020B0502040204020203" pitchFamily="34" charset="0"/>
              <a:cs typeface="Helvetica" panose="020B0604020202020204" pitchFamily="34" charset="0"/>
            </a:endParaRPr>
          </a:p>
          <a:p>
            <a:pPr marL="0" indent="0">
              <a:buNone/>
            </a:pPr>
            <a:r>
              <a:rPr lang="en-US" dirty="0">
                <a:solidFill>
                  <a:srgbClr val="8B2132"/>
                </a:solidFill>
                <a:latin typeface="Helvetica" panose="020B0604020202020204" pitchFamily="34" charset="0"/>
                <a:ea typeface="Gadugi" panose="020B0502040204020203" pitchFamily="34" charset="0"/>
                <a:cs typeface="Helvetica" panose="020B0604020202020204" pitchFamily="34" charset="0"/>
              </a:rPr>
              <a:t>4. Basic Web Interface</a:t>
            </a:r>
          </a:p>
          <a:p>
            <a:pPr marL="0" indent="0">
              <a:buNone/>
            </a:pPr>
            <a:r>
              <a:rPr lang="en-US" dirty="0">
                <a:latin typeface="Helvetica" panose="020B0604020202020204" pitchFamily="34" charset="0"/>
                <a:ea typeface="Gadugi" panose="020B0502040204020203" pitchFamily="34" charset="0"/>
                <a:cs typeface="Helvetica" panose="020B0604020202020204" pitchFamily="34" charset="0"/>
              </a:rPr>
              <a:t>- Simple HTML/CSS/JavaScript</a:t>
            </a:r>
          </a:p>
          <a:p>
            <a:pPr marL="0" indent="0">
              <a:buNone/>
            </a:pPr>
            <a:r>
              <a:rPr lang="en-US" dirty="0">
                <a:latin typeface="Helvetica" panose="020B0604020202020204" pitchFamily="34" charset="0"/>
                <a:ea typeface="Gadugi" panose="020B0502040204020203" pitchFamily="34" charset="0"/>
                <a:cs typeface="Helvetica" panose="020B0604020202020204" pitchFamily="34" charset="0"/>
              </a:rPr>
              <a:t>- Prediction form and results display</a:t>
            </a:r>
          </a:p>
          <a:p>
            <a:pPr marL="0" indent="0">
              <a:buNone/>
            </a:pPr>
            <a:r>
              <a:rPr lang="en-US" dirty="0">
                <a:latin typeface="Helvetica" panose="020B0604020202020204" pitchFamily="34" charset="0"/>
                <a:ea typeface="Gadugi" panose="020B0502040204020203" pitchFamily="34" charset="0"/>
                <a:cs typeface="Helvetica" panose="020B0604020202020204" pitchFamily="34" charset="0"/>
              </a:rPr>
              <a:t>- Functional but basic design</a:t>
            </a:r>
          </a:p>
        </p:txBody>
      </p:sp>
    </p:spTree>
    <p:extLst>
      <p:ext uri="{BB962C8B-B14F-4D97-AF65-F5344CB8AC3E}">
        <p14:creationId xmlns:p14="http://schemas.microsoft.com/office/powerpoint/2010/main" val="1234324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03914-8647-4F30-9935-2AFADC49299A}"/>
              </a:ext>
            </a:extLst>
          </p:cNvPr>
          <p:cNvSpPr>
            <a:spLocks noGrp="1"/>
          </p:cNvSpPr>
          <p:nvPr>
            <p:ph type="ctrTitle"/>
          </p:nvPr>
        </p:nvSpPr>
        <p:spPr>
          <a:xfrm>
            <a:off x="78058" y="139387"/>
            <a:ext cx="12035883" cy="1371599"/>
          </a:xfrm>
        </p:spPr>
        <p:txBody>
          <a:bodyPr>
            <a:noAutofit/>
          </a:bodyPr>
          <a:lstStyle/>
          <a:p>
            <a:pPr algn="l"/>
            <a:r>
              <a:rPr lang="en-US" sz="4400" dirty="0">
                <a:solidFill>
                  <a:srgbClr val="8B2132"/>
                </a:solidFill>
                <a:effectLst/>
                <a:latin typeface="Helvetica" panose="020B0604020202020204" pitchFamily="34" charset="0"/>
                <a:cs typeface="Helvetica" panose="020B0604020202020204" pitchFamily="34" charset="0"/>
              </a:rPr>
              <a:t>Last Semester Work - Data Generation Process</a:t>
            </a:r>
            <a:br>
              <a:rPr lang="en-US" sz="4400" dirty="0">
                <a:solidFill>
                  <a:srgbClr val="CCCCCC"/>
                </a:solidFill>
                <a:effectLst/>
                <a:latin typeface="Helvetica" panose="020B0604020202020204" pitchFamily="34" charset="0"/>
                <a:cs typeface="Helvetica" panose="020B0604020202020204" pitchFamily="34" charset="0"/>
              </a:rPr>
            </a:br>
            <a:endParaRPr lang="fr-FR" sz="44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9163B876-7CAD-40B6-9171-00573785B48C}"/>
              </a:ext>
            </a:extLst>
          </p:cNvPr>
          <p:cNvSpPr>
            <a:spLocks noGrp="1"/>
          </p:cNvSpPr>
          <p:nvPr>
            <p:ph type="subTitle" idx="1"/>
          </p:nvPr>
        </p:nvSpPr>
        <p:spPr>
          <a:xfrm>
            <a:off x="356838" y="1499829"/>
            <a:ext cx="5739161" cy="5118411"/>
          </a:xfrm>
        </p:spPr>
        <p:txBody>
          <a:bodyPr>
            <a:normAutofit/>
          </a:bodyPr>
          <a:lstStyle/>
          <a:p>
            <a:pPr algn="l"/>
            <a:r>
              <a:rPr lang="en-US" sz="1800" dirty="0">
                <a:solidFill>
                  <a:srgbClr val="8B2132"/>
                </a:solidFill>
                <a:effectLst/>
                <a:latin typeface="Helvetica" panose="020B0604020202020204" pitchFamily="34" charset="0"/>
                <a:cs typeface="Helvetica" panose="020B0604020202020204" pitchFamily="34" charset="0"/>
              </a:rPr>
              <a:t>Generation Approach:</a:t>
            </a:r>
          </a:p>
          <a:p>
            <a:pPr algn="l"/>
            <a:r>
              <a:rPr lang="en-US" sz="1800" dirty="0">
                <a:latin typeface="Helvetica" panose="020B0604020202020204" pitchFamily="34" charset="0"/>
                <a:cs typeface="Helvetica" panose="020B0604020202020204" pitchFamily="34" charset="0"/>
              </a:rPr>
              <a:t>- Literature-Based: Relationships derived from 50+ research papers</a:t>
            </a:r>
          </a:p>
          <a:p>
            <a:pPr algn="l"/>
            <a:r>
              <a:rPr lang="en-US" sz="1800" dirty="0">
                <a:latin typeface="Helvetica" panose="020B0604020202020204" pitchFamily="34" charset="0"/>
                <a:cs typeface="Helvetica" panose="020B0604020202020204" pitchFamily="34" charset="0"/>
              </a:rPr>
              <a:t>- Realistic Distributions: All variables follow industry-typical patterns</a:t>
            </a:r>
          </a:p>
          <a:p>
            <a:pPr algn="l"/>
            <a:r>
              <a:rPr lang="en-US" sz="1800" dirty="0">
                <a:latin typeface="Helvetica" panose="020B0604020202020204" pitchFamily="34" charset="0"/>
                <a:cs typeface="Helvetica" panose="020B0604020202020204" pitchFamily="34" charset="0"/>
              </a:rPr>
              <a:t>- Logical Dependencies: Variables generated in order of dependency</a:t>
            </a:r>
          </a:p>
          <a:p>
            <a:pPr algn="l"/>
            <a:r>
              <a:rPr lang="en-US" sz="1800" dirty="0">
                <a:latin typeface="Helvetica" panose="020B0604020202020204" pitchFamily="34" charset="0"/>
                <a:cs typeface="Helvetica" panose="020B0604020202020204" pitchFamily="34" charset="0"/>
              </a:rPr>
              <a:t>- Reproducible: Fixed seed (42) for consistent results</a:t>
            </a:r>
          </a:p>
          <a:p>
            <a:pPr algn="l"/>
            <a:endParaRPr lang="en-US" sz="1800" dirty="0">
              <a:solidFill>
                <a:srgbClr val="8B2132"/>
              </a:solidFill>
              <a:latin typeface="Consolas" panose="020B0609020204030204" pitchFamily="49" charset="0"/>
            </a:endParaRPr>
          </a:p>
          <a:p>
            <a:pPr algn="l"/>
            <a:r>
              <a:rPr lang="en-US" sz="1800" b="0" dirty="0">
                <a:solidFill>
                  <a:srgbClr val="8B2132"/>
                </a:solidFill>
                <a:effectLst/>
                <a:latin typeface="Helvetica" panose="020B0604020202020204" pitchFamily="34" charset="0"/>
                <a:cs typeface="Helvetica" panose="020B0604020202020204" pitchFamily="34" charset="0"/>
              </a:rPr>
              <a:t>Example Relationships:</a:t>
            </a:r>
          </a:p>
          <a:p>
            <a:pPr algn="l"/>
            <a:r>
              <a:rPr lang="en-US" sz="1800" b="0" dirty="0">
                <a:effectLst/>
                <a:latin typeface="Helvetica" panose="020B0604020202020204" pitchFamily="34" charset="0"/>
                <a:cs typeface="Helvetica" panose="020B0604020202020204" pitchFamily="34" charset="0"/>
              </a:rPr>
              <a:t>- Higher supervision → Better material control → Lower waste</a:t>
            </a:r>
          </a:p>
          <a:p>
            <a:pPr algn="l"/>
            <a:r>
              <a:rPr lang="en-US" sz="1800" b="0" dirty="0">
                <a:effectLst/>
                <a:latin typeface="Helvetica" panose="020B0604020202020204" pitchFamily="34" charset="0"/>
                <a:cs typeface="Helvetica" panose="020B0604020202020204" pitchFamily="34" charset="0"/>
              </a:rPr>
              <a:t>- More change orders → Higher design revisions → Higher waste</a:t>
            </a:r>
          </a:p>
          <a:p>
            <a:pPr algn="l"/>
            <a:r>
              <a:rPr lang="en-US" sz="1800" b="0" dirty="0">
                <a:effectLst/>
                <a:latin typeface="Helvetica" panose="020B0604020202020204" pitchFamily="34" charset="0"/>
                <a:cs typeface="Helvetica" panose="020B0604020202020204" pitchFamily="34" charset="0"/>
              </a:rPr>
              <a:t>- Better cutting optimization → Lower waste</a:t>
            </a:r>
          </a:p>
          <a:p>
            <a:pPr algn="l"/>
            <a:endParaRPr lang="en-US" sz="1800" dirty="0">
              <a:solidFill>
                <a:srgbClr val="8B2132"/>
              </a:solidFill>
              <a:latin typeface="Consolas" panose="020B0609020204030204" pitchFamily="49" charset="0"/>
            </a:endParaRPr>
          </a:p>
          <a:p>
            <a:endParaRPr lang="fr-FR" dirty="0"/>
          </a:p>
        </p:txBody>
      </p:sp>
      <p:sp>
        <p:nvSpPr>
          <p:cNvPr id="4" name="Subtitle 2">
            <a:extLst>
              <a:ext uri="{FF2B5EF4-FFF2-40B4-BE49-F238E27FC236}">
                <a16:creationId xmlns:a16="http://schemas.microsoft.com/office/drawing/2014/main" id="{86C40A59-AF07-4CCA-8253-7AC72BB5A12E}"/>
              </a:ext>
            </a:extLst>
          </p:cNvPr>
          <p:cNvSpPr txBox="1">
            <a:spLocks/>
          </p:cNvSpPr>
          <p:nvPr/>
        </p:nvSpPr>
        <p:spPr>
          <a:xfrm>
            <a:off x="6325528" y="1661528"/>
            <a:ext cx="5129561" cy="511841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fr-FR" dirty="0"/>
          </a:p>
        </p:txBody>
      </p:sp>
      <p:sp>
        <p:nvSpPr>
          <p:cNvPr id="6" name="Subtitle 2">
            <a:extLst>
              <a:ext uri="{FF2B5EF4-FFF2-40B4-BE49-F238E27FC236}">
                <a16:creationId xmlns:a16="http://schemas.microsoft.com/office/drawing/2014/main" id="{E2C54FA9-D1D9-43FD-A764-5B7561E3F860}"/>
              </a:ext>
            </a:extLst>
          </p:cNvPr>
          <p:cNvSpPr txBox="1">
            <a:spLocks/>
          </p:cNvSpPr>
          <p:nvPr/>
        </p:nvSpPr>
        <p:spPr>
          <a:xfrm>
            <a:off x="6492797" y="1533285"/>
            <a:ext cx="5509632" cy="269860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dirty="0">
                <a:solidFill>
                  <a:srgbClr val="8B2132"/>
                </a:solidFill>
                <a:latin typeface="Helvetica" panose="020B0604020202020204" pitchFamily="34" charset="0"/>
                <a:cs typeface="Helvetica" panose="020B0604020202020204" pitchFamily="34" charset="0"/>
              </a:rPr>
              <a:t>Key Features:</a:t>
            </a:r>
          </a:p>
          <a:p>
            <a:pPr algn="l"/>
            <a:r>
              <a:rPr lang="en-US" sz="1800" dirty="0">
                <a:latin typeface="Helvetica" panose="020B0604020202020204" pitchFamily="34" charset="0"/>
                <a:cs typeface="Helvetica" panose="020B0604020202020204" pitchFamily="34" charset="0"/>
              </a:rPr>
              <a:t>- 3,000 Projects: Sufficient for ML training</a:t>
            </a:r>
          </a:p>
          <a:p>
            <a:pPr algn="l"/>
            <a:r>
              <a:rPr lang="en-US" sz="1800" dirty="0">
                <a:latin typeface="Helvetica" panose="020B0604020202020204" pitchFamily="34" charset="0"/>
                <a:cs typeface="Helvetica" panose="020B0604020202020204" pitchFamily="34" charset="0"/>
              </a:rPr>
              <a:t>- 16 Input Features: All identified waste drivers</a:t>
            </a:r>
          </a:p>
          <a:p>
            <a:pPr algn="l"/>
            <a:r>
              <a:rPr lang="en-US" sz="1800" dirty="0">
                <a:latin typeface="Helvetica" panose="020B0604020202020204" pitchFamily="34" charset="0"/>
                <a:cs typeface="Helvetica" panose="020B0604020202020204" pitchFamily="34" charset="0"/>
              </a:rPr>
              <a:t>- Realistic Ranges: Values within industry-typical bounds</a:t>
            </a:r>
          </a:p>
          <a:p>
            <a:pPr algn="l"/>
            <a:r>
              <a:rPr lang="en-US" sz="1800" dirty="0">
                <a:latin typeface="Helvetica" panose="020B0604020202020204" pitchFamily="34" charset="0"/>
                <a:cs typeface="Helvetica" panose="020B0604020202020204" pitchFamily="34" charset="0"/>
              </a:rPr>
              <a:t>- Quality Control: Validation checks ensure coherence</a:t>
            </a:r>
          </a:p>
          <a:p>
            <a:pPr algn="l"/>
            <a:endParaRPr lang="en-US" sz="1800" dirty="0">
              <a:solidFill>
                <a:srgbClr val="8B2132"/>
              </a:solidFill>
              <a:latin typeface="Consolas" panose="020B0609020204030204" pitchFamily="49" charset="0"/>
            </a:endParaRPr>
          </a:p>
          <a:p>
            <a:endParaRPr lang="fr-FR" sz="1800" dirty="0"/>
          </a:p>
        </p:txBody>
      </p:sp>
    </p:spTree>
    <p:extLst>
      <p:ext uri="{BB962C8B-B14F-4D97-AF65-F5344CB8AC3E}">
        <p14:creationId xmlns:p14="http://schemas.microsoft.com/office/powerpoint/2010/main" val="27618562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F11FA-98BE-473E-8A23-80D565D3B248}"/>
              </a:ext>
            </a:extLst>
          </p:cNvPr>
          <p:cNvSpPr>
            <a:spLocks noGrp="1"/>
          </p:cNvSpPr>
          <p:nvPr>
            <p:ph type="ctrTitle"/>
          </p:nvPr>
        </p:nvSpPr>
        <p:spPr>
          <a:xfrm>
            <a:off x="87351" y="-156117"/>
            <a:ext cx="12017298" cy="1899617"/>
          </a:xfrm>
        </p:spPr>
        <p:txBody>
          <a:bodyPr>
            <a:normAutofit/>
          </a:bodyPr>
          <a:lstStyle/>
          <a:p>
            <a:pPr algn="l"/>
            <a:r>
              <a:rPr lang="en-US" sz="4400" dirty="0">
                <a:solidFill>
                  <a:srgbClr val="8B2132"/>
                </a:solidFill>
                <a:effectLst/>
                <a:latin typeface="Helvetica" panose="020B0604020202020204" pitchFamily="34" charset="0"/>
                <a:cs typeface="Helvetica" panose="020B0604020202020204" pitchFamily="34" charset="0"/>
              </a:rPr>
              <a:t>Last Semester Work - Data Generation Process</a:t>
            </a:r>
            <a:br>
              <a:rPr lang="en-US" sz="4400" dirty="0">
                <a:solidFill>
                  <a:srgbClr val="CCCCCC"/>
                </a:solidFill>
                <a:effectLst/>
                <a:latin typeface="Helvetica" panose="020B0604020202020204" pitchFamily="34" charset="0"/>
                <a:cs typeface="Helvetica" panose="020B0604020202020204" pitchFamily="34" charset="0"/>
              </a:rPr>
            </a:br>
            <a:endParaRPr lang="fr-FR" sz="4400" dirty="0"/>
          </a:p>
        </p:txBody>
      </p:sp>
      <p:sp>
        <p:nvSpPr>
          <p:cNvPr id="4" name="Subtitle 2">
            <a:extLst>
              <a:ext uri="{FF2B5EF4-FFF2-40B4-BE49-F238E27FC236}">
                <a16:creationId xmlns:a16="http://schemas.microsoft.com/office/drawing/2014/main" id="{96053E5F-7854-4811-B44F-58FBFCEF03AE}"/>
              </a:ext>
            </a:extLst>
          </p:cNvPr>
          <p:cNvSpPr txBox="1">
            <a:spLocks noGrp="1"/>
          </p:cNvSpPr>
          <p:nvPr>
            <p:ph type="subTitle" idx="1"/>
          </p:nvPr>
        </p:nvSpPr>
        <p:spPr>
          <a:xfrm>
            <a:off x="397727" y="1616927"/>
            <a:ext cx="9144000" cy="4973444"/>
          </a:xfrm>
          <a:prstGeom prst="rect">
            <a:avLst/>
          </a:prstGeom>
        </p:spPr>
        <p:txBody>
          <a:bodyPr vert="horz" lIns="91440" tIns="45720" rIns="91440" bIns="45720" rtlCol="0">
            <a:normAutofit fontScale="7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FR" sz="2600" b="0" dirty="0">
                <a:solidFill>
                  <a:srgbClr val="8B2132"/>
                </a:solidFill>
                <a:effectLst/>
                <a:latin typeface="Helvetica" panose="020B0604020202020204" pitchFamily="34" charset="0"/>
                <a:cs typeface="Helvetica" panose="020B0604020202020204" pitchFamily="34" charset="0"/>
              </a:rPr>
              <a:t>Generation Pipeline:</a:t>
            </a:r>
          </a:p>
          <a:p>
            <a:pPr algn="l"/>
            <a:r>
              <a:rPr lang="fr-FR" sz="2600" b="0" dirty="0">
                <a:solidFill>
                  <a:srgbClr val="8B2132"/>
                </a:solidFill>
                <a:effectLst/>
                <a:latin typeface="Helvetica" panose="020B0604020202020204" pitchFamily="34" charset="0"/>
                <a:cs typeface="Helvetica" panose="020B0604020202020204" pitchFamily="34" charset="0"/>
              </a:rPr>
              <a:t>1. Generate Categorical Variables (Independent)</a:t>
            </a:r>
          </a:p>
          <a:p>
            <a:pPr algn="l"/>
            <a:r>
              <a:rPr lang="fr-FR" sz="2600" b="0" dirty="0">
                <a:effectLst/>
                <a:latin typeface="Helvetica" panose="020B0604020202020204" pitchFamily="34" charset="0"/>
                <a:cs typeface="Helvetica" panose="020B0604020202020204" pitchFamily="34" charset="0"/>
              </a:rPr>
              <a:t>   - Stock Length Policy, Contract Type, Project Phase</a:t>
            </a:r>
          </a:p>
          <a:p>
            <a:pPr algn="l"/>
            <a:r>
              <a:rPr lang="fr-FR" sz="2600" b="0" dirty="0">
                <a:effectLst/>
                <a:latin typeface="Helvetica" panose="020B0604020202020204" pitchFamily="34" charset="0"/>
                <a:cs typeface="Helvetica" panose="020B0604020202020204" pitchFamily="34" charset="0"/>
              </a:rPr>
              <a:t>   ↓</a:t>
            </a:r>
          </a:p>
          <a:p>
            <a:pPr algn="l"/>
            <a:r>
              <a:rPr lang="fr-FR" sz="2600" b="0" dirty="0">
                <a:solidFill>
                  <a:srgbClr val="8B2132"/>
                </a:solidFill>
                <a:effectLst/>
                <a:latin typeface="Helvetica" panose="020B0604020202020204" pitchFamily="34" charset="0"/>
                <a:cs typeface="Helvetica" panose="020B0604020202020204" pitchFamily="34" charset="0"/>
              </a:rPr>
              <a:t>2. Generate Dependent Variables (Based on categorical)</a:t>
            </a:r>
          </a:p>
          <a:p>
            <a:pPr algn="l"/>
            <a:r>
              <a:rPr lang="fr-FR" sz="2600" b="0" dirty="0">
                <a:effectLst/>
                <a:latin typeface="Helvetica" panose="020B0604020202020204" pitchFamily="34" charset="0"/>
                <a:cs typeface="Helvetica" panose="020B0604020202020204" pitchFamily="34" charset="0"/>
              </a:rPr>
              <a:t>   - Reinforcement Ratio, Unique Lengths, Supervision Index</a:t>
            </a:r>
          </a:p>
          <a:p>
            <a:pPr algn="l"/>
            <a:r>
              <a:rPr lang="fr-FR" sz="2600" b="0" dirty="0">
                <a:effectLst/>
                <a:latin typeface="Helvetica" panose="020B0604020202020204" pitchFamily="34" charset="0"/>
                <a:cs typeface="Helvetica" panose="020B0604020202020204" pitchFamily="34" charset="0"/>
              </a:rPr>
              <a:t>   ↓</a:t>
            </a:r>
          </a:p>
          <a:p>
            <a:pPr algn="l"/>
            <a:r>
              <a:rPr lang="fr-FR" sz="2600" b="0" dirty="0">
                <a:solidFill>
                  <a:srgbClr val="8B2132"/>
                </a:solidFill>
                <a:effectLst/>
                <a:latin typeface="Helvetica" panose="020B0604020202020204" pitchFamily="34" charset="0"/>
                <a:cs typeface="Helvetica" panose="020B0604020202020204" pitchFamily="34" charset="0"/>
              </a:rPr>
              <a:t>3. Generate Correlated Variables (Based on other variables)</a:t>
            </a:r>
          </a:p>
          <a:p>
            <a:pPr algn="l"/>
            <a:r>
              <a:rPr lang="fr-FR" sz="2600" b="0" dirty="0">
                <a:effectLst/>
                <a:latin typeface="Helvetica" panose="020B0604020202020204" pitchFamily="34" charset="0"/>
                <a:cs typeface="Helvetica" panose="020B0604020202020204" pitchFamily="34" charset="0"/>
              </a:rPr>
              <a:t>   - Material Control, Storage Handling, BIM Integration</a:t>
            </a:r>
          </a:p>
          <a:p>
            <a:pPr algn="l"/>
            <a:r>
              <a:rPr lang="fr-FR" sz="2600" b="0" dirty="0">
                <a:effectLst/>
                <a:latin typeface="Helvetica" panose="020B0604020202020204" pitchFamily="34" charset="0"/>
                <a:cs typeface="Helvetica" panose="020B0604020202020204" pitchFamily="34" charset="0"/>
              </a:rPr>
              <a:t>   ↓</a:t>
            </a:r>
          </a:p>
          <a:p>
            <a:pPr algn="l"/>
            <a:r>
              <a:rPr lang="fr-FR" sz="2600" b="0" dirty="0">
                <a:solidFill>
                  <a:srgbClr val="8B2132"/>
                </a:solidFill>
                <a:effectLst/>
                <a:latin typeface="Helvetica" panose="020B0604020202020204" pitchFamily="34" charset="0"/>
                <a:cs typeface="Helvetica" panose="020B0604020202020204" pitchFamily="34" charset="0"/>
              </a:rPr>
              <a:t>4. Calculate Steel Waste (Based on all 16 parameters)</a:t>
            </a:r>
          </a:p>
          <a:p>
            <a:pPr algn="l"/>
            <a:r>
              <a:rPr lang="fr-FR" sz="2600" b="0" dirty="0">
                <a:effectLst/>
                <a:latin typeface="Helvetica" panose="020B0604020202020204" pitchFamily="34" charset="0"/>
                <a:cs typeface="Helvetica" panose="020B0604020202020204" pitchFamily="34" charset="0"/>
              </a:rPr>
              <a:t>   - Research-derived formula with 15 factors</a:t>
            </a:r>
          </a:p>
          <a:p>
            <a:pPr algn="l"/>
            <a:r>
              <a:rPr lang="fr-FR" sz="2600" b="0" dirty="0">
                <a:effectLst/>
                <a:latin typeface="Helvetica" panose="020B0604020202020204" pitchFamily="34" charset="0"/>
                <a:cs typeface="Helvetica" panose="020B0604020202020204" pitchFamily="34" charset="0"/>
              </a:rPr>
              <a:t>   - Baseline: 6.5% + stochastic noise</a:t>
            </a:r>
          </a:p>
          <a:p>
            <a:pPr algn="l"/>
            <a:r>
              <a:rPr lang="fr-FR" sz="2600" b="0" dirty="0">
                <a:effectLst/>
                <a:latin typeface="Helvetica" panose="020B0604020202020204" pitchFamily="34" charset="0"/>
                <a:cs typeface="Helvetica" panose="020B0604020202020204" pitchFamily="34" charset="0"/>
              </a:rPr>
              <a:t>   ↓</a:t>
            </a:r>
          </a:p>
          <a:p>
            <a:pPr algn="l"/>
            <a:r>
              <a:rPr lang="fr-FR" sz="2600" b="0" dirty="0">
                <a:solidFill>
                  <a:srgbClr val="8B2132"/>
                </a:solidFill>
                <a:effectLst/>
                <a:latin typeface="Helvetica" panose="020B0604020202020204" pitchFamily="34" charset="0"/>
                <a:cs typeface="Helvetica" panose="020B0604020202020204" pitchFamily="34" charset="0"/>
              </a:rPr>
              <a:t>5. Output Complete Project Record</a:t>
            </a:r>
          </a:p>
          <a:p>
            <a:endParaRPr lang="fr-FR" dirty="0"/>
          </a:p>
        </p:txBody>
      </p:sp>
    </p:spTree>
    <p:extLst>
      <p:ext uri="{BB962C8B-B14F-4D97-AF65-F5344CB8AC3E}">
        <p14:creationId xmlns:p14="http://schemas.microsoft.com/office/powerpoint/2010/main" val="190689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FC078-806A-4CF1-B7F2-DD7D54EEC3AB}"/>
              </a:ext>
            </a:extLst>
          </p:cNvPr>
          <p:cNvSpPr>
            <a:spLocks noGrp="1"/>
          </p:cNvSpPr>
          <p:nvPr>
            <p:ph type="ctrTitle"/>
          </p:nvPr>
        </p:nvSpPr>
        <p:spPr>
          <a:xfrm>
            <a:off x="263912" y="139583"/>
            <a:ext cx="11664175" cy="1655762"/>
          </a:xfrm>
        </p:spPr>
        <p:txBody>
          <a:bodyPr>
            <a:normAutofit/>
          </a:bodyPr>
          <a:lstStyle/>
          <a:p>
            <a:pPr algn="l"/>
            <a:r>
              <a:rPr lang="en-US" sz="4400" dirty="0">
                <a:solidFill>
                  <a:srgbClr val="8B2132"/>
                </a:solidFill>
                <a:effectLst/>
                <a:latin typeface="Helvetica" panose="020B0604020202020204" pitchFamily="34" charset="0"/>
                <a:cs typeface="Helvetica" panose="020B0604020202020204" pitchFamily="34" charset="0"/>
              </a:rPr>
              <a:t>Website Interface Progression</a:t>
            </a:r>
            <a:br>
              <a:rPr lang="en-US" sz="4400" dirty="0">
                <a:solidFill>
                  <a:srgbClr val="8B2132"/>
                </a:solidFill>
                <a:effectLst/>
                <a:latin typeface="Helvetica" panose="020B0604020202020204" pitchFamily="34" charset="0"/>
                <a:cs typeface="Helvetica" panose="020B0604020202020204" pitchFamily="34" charset="0"/>
              </a:rPr>
            </a:br>
            <a:endParaRPr lang="fr-FR" sz="44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0B3266B8-3897-446D-BA3C-7E5BD67C9F05}"/>
              </a:ext>
            </a:extLst>
          </p:cNvPr>
          <p:cNvSpPr>
            <a:spLocks noGrp="1"/>
          </p:cNvSpPr>
          <p:nvPr>
            <p:ph type="subTitle" idx="1"/>
          </p:nvPr>
        </p:nvSpPr>
        <p:spPr>
          <a:xfrm>
            <a:off x="394010" y="1650380"/>
            <a:ext cx="6307873" cy="4772721"/>
          </a:xfrm>
        </p:spPr>
        <p:txBody>
          <a:bodyPr>
            <a:normAutofit lnSpcReduction="10000"/>
          </a:bodyPr>
          <a:lstStyle/>
          <a:p>
            <a:pPr algn="l"/>
            <a:r>
              <a:rPr lang="fr-FR" sz="1800" b="0" dirty="0">
                <a:solidFill>
                  <a:srgbClr val="8B2132"/>
                </a:solidFill>
                <a:effectLst/>
                <a:latin typeface="Helvetica" panose="020B0604020202020204" pitchFamily="34" charset="0"/>
                <a:cs typeface="Helvetica" panose="020B0604020202020204" pitchFamily="34" charset="0"/>
              </a:rPr>
              <a:t>Semester 1 Interface:</a:t>
            </a:r>
          </a:p>
          <a:p>
            <a:pPr algn="l"/>
            <a:r>
              <a:rPr lang="fr-FR" sz="1800" b="0" dirty="0">
                <a:effectLst/>
                <a:latin typeface="Helvetica" panose="020B0604020202020204" pitchFamily="34" charset="0"/>
                <a:cs typeface="Helvetica" panose="020B0604020202020204" pitchFamily="34" charset="0"/>
              </a:rPr>
              <a:t>- Basic HTML/CSS/JavaScript</a:t>
            </a:r>
          </a:p>
          <a:p>
            <a:pPr algn="l"/>
            <a:r>
              <a:rPr lang="fr-FR" sz="1800" b="0" dirty="0">
                <a:effectLst/>
                <a:latin typeface="Helvetica" panose="020B0604020202020204" pitchFamily="34" charset="0"/>
                <a:cs typeface="Helvetica" panose="020B0604020202020204" pitchFamily="34" charset="0"/>
              </a:rPr>
              <a:t>- Simple form layout</a:t>
            </a:r>
          </a:p>
          <a:p>
            <a:pPr algn="l"/>
            <a:r>
              <a:rPr lang="fr-FR" sz="1800" b="0" dirty="0">
                <a:effectLst/>
                <a:latin typeface="Helvetica" panose="020B0604020202020204" pitchFamily="34" charset="0"/>
                <a:cs typeface="Helvetica" panose="020B0604020202020204" pitchFamily="34" charset="0"/>
              </a:rPr>
              <a:t>- Minimal styling</a:t>
            </a:r>
          </a:p>
          <a:p>
            <a:pPr algn="l"/>
            <a:r>
              <a:rPr lang="fr-FR" sz="1800" b="0" dirty="0">
                <a:effectLst/>
                <a:latin typeface="Helvetica" panose="020B0604020202020204" pitchFamily="34" charset="0"/>
                <a:cs typeface="Helvetica" panose="020B0604020202020204" pitchFamily="34" charset="0"/>
              </a:rPr>
              <a:t>- Single-page design</a:t>
            </a:r>
          </a:p>
          <a:p>
            <a:pPr algn="l"/>
            <a:endParaRPr lang="fr-FR" sz="1800" dirty="0">
              <a:latin typeface="Helvetica" panose="020B0604020202020204" pitchFamily="34" charset="0"/>
              <a:cs typeface="Helvetica" panose="020B0604020202020204" pitchFamily="34" charset="0"/>
            </a:endParaRPr>
          </a:p>
          <a:p>
            <a:pPr algn="l"/>
            <a:r>
              <a:rPr lang="fr-FR" sz="1800" b="0" dirty="0">
                <a:solidFill>
                  <a:srgbClr val="8B2132"/>
                </a:solidFill>
                <a:effectLst/>
                <a:latin typeface="Helvetica" panose="020B0604020202020204" pitchFamily="34" charset="0"/>
                <a:cs typeface="Helvetica" panose="020B0604020202020204" pitchFamily="34" charset="0"/>
              </a:rPr>
              <a:t>Semester 2 Interface:</a:t>
            </a:r>
          </a:p>
          <a:p>
            <a:pPr algn="l"/>
            <a:r>
              <a:rPr lang="fr-FR" sz="1800" b="0" dirty="0">
                <a:effectLst/>
                <a:latin typeface="Helvetica" panose="020B0604020202020204" pitchFamily="34" charset="0"/>
                <a:cs typeface="Helvetica" panose="020B0604020202020204" pitchFamily="34" charset="0"/>
              </a:rPr>
              <a:t>- Modern Design: Professional color palette, minimal aesthetic</a:t>
            </a:r>
          </a:p>
          <a:p>
            <a:pPr algn="l"/>
            <a:r>
              <a:rPr lang="fr-FR" sz="1800" b="0" dirty="0">
                <a:effectLst/>
                <a:latin typeface="Helvetica" panose="020B0604020202020204" pitchFamily="34" charset="0"/>
                <a:cs typeface="Helvetica" panose="020B0604020202020204" pitchFamily="34" charset="0"/>
              </a:rPr>
              <a:t>- Template Architecture: Flask + Jinja2 templating</a:t>
            </a:r>
          </a:p>
          <a:p>
            <a:pPr algn="l"/>
            <a:r>
              <a:rPr lang="fr-FR" sz="1800" b="0" dirty="0">
                <a:effectLst/>
                <a:latin typeface="Helvetica" panose="020B0604020202020204" pitchFamily="34" charset="0"/>
                <a:cs typeface="Helvetica" panose="020B0604020202020204" pitchFamily="34" charset="0"/>
              </a:rPr>
              <a:t>- Responsive Layout: Bootstrap 5, mobile-optimized</a:t>
            </a:r>
          </a:p>
          <a:p>
            <a:pPr algn="l"/>
            <a:r>
              <a:rPr lang="fr-FR" sz="1800" b="0" dirty="0">
                <a:effectLst/>
                <a:latin typeface="Helvetica" panose="020B0604020202020204" pitchFamily="34" charset="0"/>
                <a:cs typeface="Helvetica" panose="020B0604020202020204" pitchFamily="34" charset="0"/>
              </a:rPr>
              <a:t>- Multiple Pages: Landing, Prediction, About, Features</a:t>
            </a:r>
          </a:p>
          <a:p>
            <a:pPr algn="l"/>
            <a:r>
              <a:rPr lang="fr-FR" sz="1800" b="0" dirty="0">
                <a:effectLst/>
                <a:latin typeface="Helvetica" panose="020B0604020202020204" pitchFamily="34" charset="0"/>
                <a:cs typeface="Helvetica" panose="020B0604020202020204" pitchFamily="34" charset="0"/>
              </a:rPr>
              <a:t>- Enhanced UX: Clear navigation, organized sections, visual feedback</a:t>
            </a:r>
          </a:p>
          <a:p>
            <a:endParaRPr lang="fr-FR" dirty="0"/>
          </a:p>
        </p:txBody>
      </p:sp>
      <p:sp>
        <p:nvSpPr>
          <p:cNvPr id="4" name="Subtitle 2">
            <a:extLst>
              <a:ext uri="{FF2B5EF4-FFF2-40B4-BE49-F238E27FC236}">
                <a16:creationId xmlns:a16="http://schemas.microsoft.com/office/drawing/2014/main" id="{AE563DC6-E89B-4318-9F6C-52F3B145477C}"/>
              </a:ext>
            </a:extLst>
          </p:cNvPr>
          <p:cNvSpPr txBox="1">
            <a:spLocks/>
          </p:cNvSpPr>
          <p:nvPr/>
        </p:nvSpPr>
        <p:spPr>
          <a:xfrm>
            <a:off x="6590371" y="1650380"/>
            <a:ext cx="6069981" cy="389177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FR" sz="1800" b="0" dirty="0">
                <a:solidFill>
                  <a:srgbClr val="8B2132"/>
                </a:solidFill>
                <a:effectLst/>
                <a:latin typeface="Helvetica" panose="020B0604020202020204" pitchFamily="34" charset="0"/>
                <a:cs typeface="Helvetica" panose="020B0604020202020204" pitchFamily="34" charset="0"/>
              </a:rPr>
              <a:t>Key Improvements:</a:t>
            </a:r>
          </a:p>
          <a:p>
            <a:pPr algn="l"/>
            <a:r>
              <a:rPr lang="fr-FR" sz="1800" b="0" dirty="0">
                <a:effectLst/>
                <a:latin typeface="Helvetica" panose="020B0604020202020204" pitchFamily="34" charset="0"/>
                <a:cs typeface="Helvetica" panose="020B0604020202020204" pitchFamily="34" charset="0"/>
              </a:rPr>
              <a:t>- Professional branding and color scheme</a:t>
            </a:r>
          </a:p>
          <a:p>
            <a:pPr algn="l"/>
            <a:r>
              <a:rPr lang="fr-FR" sz="1800" b="0" dirty="0">
                <a:effectLst/>
                <a:latin typeface="Helvetica" panose="020B0604020202020204" pitchFamily="34" charset="0"/>
                <a:cs typeface="Helvetica" panose="020B0604020202020204" pitchFamily="34" charset="0"/>
              </a:rPr>
              <a:t>- Responsive design (mobile, tablet, desktop)</a:t>
            </a:r>
          </a:p>
          <a:p>
            <a:pPr algn="l"/>
            <a:r>
              <a:rPr lang="fr-FR" sz="1800" b="0" dirty="0">
                <a:effectLst/>
                <a:latin typeface="Helvetica" panose="020B0604020202020204" pitchFamily="34" charset="0"/>
                <a:cs typeface="Helvetica" panose="020B0604020202020204" pitchFamily="34" charset="0"/>
              </a:rPr>
              <a:t>- Template inheritance (DRY principle)</a:t>
            </a:r>
          </a:p>
          <a:p>
            <a:pPr algn="l"/>
            <a:r>
              <a:rPr lang="fr-FR" sz="1800" b="0" dirty="0">
                <a:effectLst/>
                <a:latin typeface="Helvetica" panose="020B0604020202020204" pitchFamily="34" charset="0"/>
                <a:cs typeface="Helvetica" panose="020B0604020202020204" pitchFamily="34" charset="0"/>
              </a:rPr>
              <a:t>- Organized static assets (CSS, JS, images)</a:t>
            </a:r>
          </a:p>
          <a:p>
            <a:pPr algn="l"/>
            <a:r>
              <a:rPr lang="fr-FR" sz="1800" b="0" dirty="0">
                <a:effectLst/>
                <a:latin typeface="Helvetica" panose="020B0604020202020204" pitchFamily="34" charset="0"/>
                <a:cs typeface="Helvetica" panose="020B0604020202020204" pitchFamily="34" charset="0"/>
              </a:rPr>
              <a:t>- Consistent spacing and typography</a:t>
            </a:r>
          </a:p>
          <a:p>
            <a:pPr algn="l"/>
            <a:r>
              <a:rPr lang="fr-FR" sz="1800" b="0" dirty="0">
                <a:effectLst/>
                <a:latin typeface="Helvetica" panose="020B0604020202020204" pitchFamily="34" charset="0"/>
                <a:cs typeface="Helvetica" panose="020B0604020202020204" pitchFamily="34" charset="0"/>
              </a:rPr>
              <a:t>- Modern UI components (cards, badges, icons)</a:t>
            </a:r>
          </a:p>
        </p:txBody>
      </p:sp>
    </p:spTree>
    <p:extLst>
      <p:ext uri="{BB962C8B-B14F-4D97-AF65-F5344CB8AC3E}">
        <p14:creationId xmlns:p14="http://schemas.microsoft.com/office/powerpoint/2010/main" val="3267965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E903B-2657-4F8C-B212-30B3A6B50C31}"/>
              </a:ext>
            </a:extLst>
          </p:cNvPr>
          <p:cNvSpPr>
            <a:spLocks noGrp="1"/>
          </p:cNvSpPr>
          <p:nvPr>
            <p:ph type="ctrTitle"/>
          </p:nvPr>
        </p:nvSpPr>
        <p:spPr>
          <a:xfrm>
            <a:off x="297366" y="-29223"/>
            <a:ext cx="11597268" cy="1655762"/>
          </a:xfrm>
        </p:spPr>
        <p:txBody>
          <a:bodyPr>
            <a:normAutofit/>
          </a:bodyPr>
          <a:lstStyle/>
          <a:p>
            <a:pPr algn="l"/>
            <a:r>
              <a:rPr lang="en-US" sz="4400" dirty="0">
                <a:solidFill>
                  <a:srgbClr val="8B2132"/>
                </a:solidFill>
                <a:effectLst/>
                <a:latin typeface="Helvetica" panose="020B0604020202020204" pitchFamily="34" charset="0"/>
                <a:cs typeface="Helvetica" panose="020B0604020202020204" pitchFamily="34" charset="0"/>
              </a:rPr>
              <a:t>User Journey &amp; Ease of Use</a:t>
            </a:r>
            <a:br>
              <a:rPr lang="en-US" sz="4400" dirty="0">
                <a:solidFill>
                  <a:srgbClr val="8B2132"/>
                </a:solidFill>
                <a:effectLst/>
                <a:latin typeface="Helvetica" panose="020B0604020202020204" pitchFamily="34" charset="0"/>
                <a:cs typeface="Helvetica" panose="020B0604020202020204" pitchFamily="34" charset="0"/>
              </a:rPr>
            </a:br>
            <a:endParaRPr lang="fr-FR" sz="44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377B19C5-D308-4059-A0CD-844CF5051176}"/>
              </a:ext>
            </a:extLst>
          </p:cNvPr>
          <p:cNvSpPr>
            <a:spLocks noGrp="1"/>
          </p:cNvSpPr>
          <p:nvPr>
            <p:ph type="subTitle" idx="1"/>
          </p:nvPr>
        </p:nvSpPr>
        <p:spPr>
          <a:xfrm>
            <a:off x="473926" y="1626539"/>
            <a:ext cx="5255943" cy="4503746"/>
          </a:xfrm>
        </p:spPr>
        <p:txBody>
          <a:bodyPr>
            <a:noAutofit/>
          </a:bodyPr>
          <a:lstStyle/>
          <a:p>
            <a:pPr algn="l"/>
            <a:br>
              <a:rPr lang="en-US" sz="1800" b="0" dirty="0">
                <a:solidFill>
                  <a:srgbClr val="8B2132"/>
                </a:solidFill>
                <a:effectLst/>
                <a:latin typeface="Helvetica" panose="020B0604020202020204" pitchFamily="34" charset="0"/>
                <a:cs typeface="Helvetica" panose="020B0604020202020204" pitchFamily="34" charset="0"/>
              </a:rPr>
            </a:br>
            <a:r>
              <a:rPr lang="en-US" sz="1800" b="0" dirty="0">
                <a:solidFill>
                  <a:srgbClr val="8B2132"/>
                </a:solidFill>
                <a:effectLst/>
                <a:latin typeface="Helvetica" panose="020B0604020202020204" pitchFamily="34" charset="0"/>
                <a:cs typeface="Helvetica" panose="020B0604020202020204" pitchFamily="34" charset="0"/>
              </a:rPr>
              <a:t>Step 1: Access the Website</a:t>
            </a:r>
          </a:p>
          <a:p>
            <a:pPr algn="l"/>
            <a:r>
              <a:rPr lang="en-US" sz="1800" b="0" dirty="0">
                <a:effectLst/>
                <a:latin typeface="Helvetica" panose="020B0604020202020204" pitchFamily="34" charset="0"/>
                <a:cs typeface="Helvetica" panose="020B0604020202020204" pitchFamily="34" charset="0"/>
              </a:rPr>
              <a:t>- Navigate to URL (no installation required)</a:t>
            </a:r>
          </a:p>
          <a:p>
            <a:pPr algn="l"/>
            <a:r>
              <a:rPr lang="en-US" sz="1800" b="0" dirty="0">
                <a:effectLst/>
                <a:latin typeface="Helvetica" panose="020B0604020202020204" pitchFamily="34" charset="0"/>
                <a:cs typeface="Helvetica" panose="020B0604020202020204" pitchFamily="34" charset="0"/>
              </a:rPr>
              <a:t>- Clean, welcoming landing page</a:t>
            </a:r>
          </a:p>
          <a:p>
            <a:pPr marL="342900" indent="-342900" algn="l">
              <a:buFontTx/>
              <a:buChar char="-"/>
            </a:pPr>
            <a:r>
              <a:rPr lang="en-US" sz="1800" b="0" dirty="0">
                <a:effectLst/>
                <a:latin typeface="Helvetica" panose="020B0604020202020204" pitchFamily="34" charset="0"/>
                <a:cs typeface="Helvetica" panose="020B0604020202020204" pitchFamily="34" charset="0"/>
              </a:rPr>
              <a:t>Clear call-to-action buttons</a:t>
            </a:r>
          </a:p>
          <a:p>
            <a:pPr algn="l"/>
            <a:br>
              <a:rPr lang="en-US" sz="1800" b="0" dirty="0">
                <a:solidFill>
                  <a:srgbClr val="8B2132"/>
                </a:solidFill>
                <a:effectLst/>
                <a:latin typeface="Helvetica" panose="020B0604020202020204" pitchFamily="34" charset="0"/>
                <a:cs typeface="Helvetica" panose="020B0604020202020204" pitchFamily="34" charset="0"/>
              </a:rPr>
            </a:br>
            <a:r>
              <a:rPr lang="en-US" sz="1800" b="0" dirty="0">
                <a:solidFill>
                  <a:srgbClr val="8B2132"/>
                </a:solidFill>
                <a:effectLst/>
                <a:latin typeface="Helvetica" panose="020B0604020202020204" pitchFamily="34" charset="0"/>
                <a:cs typeface="Helvetica" panose="020B0604020202020204" pitchFamily="34" charset="0"/>
              </a:rPr>
              <a:t>Step 2: Navigate to Prediction Page</a:t>
            </a:r>
          </a:p>
          <a:p>
            <a:pPr algn="l"/>
            <a:r>
              <a:rPr lang="en-US" sz="1800" b="0" dirty="0">
                <a:effectLst/>
                <a:latin typeface="Helvetica" panose="020B0604020202020204" pitchFamily="34" charset="0"/>
                <a:cs typeface="Helvetica" panose="020B0604020202020204" pitchFamily="34" charset="0"/>
              </a:rPr>
              <a:t>- Click "Make Prediction" button</a:t>
            </a:r>
          </a:p>
          <a:p>
            <a:pPr algn="l"/>
            <a:r>
              <a:rPr lang="en-US" sz="1800" b="0" dirty="0">
                <a:effectLst/>
                <a:latin typeface="Helvetica" panose="020B0604020202020204" pitchFamily="34" charset="0"/>
                <a:cs typeface="Helvetica" panose="020B0604020202020204" pitchFamily="34" charset="0"/>
              </a:rPr>
              <a:t>- Intuitive navigation menu</a:t>
            </a:r>
          </a:p>
          <a:p>
            <a:pPr algn="l"/>
            <a:r>
              <a:rPr lang="en-US" sz="1800" b="0" dirty="0">
                <a:effectLst/>
                <a:latin typeface="Helvetica" panose="020B0604020202020204" pitchFamily="34" charset="0"/>
                <a:cs typeface="Helvetica" panose="020B0604020202020204" pitchFamily="34" charset="0"/>
              </a:rPr>
              <a:t>- Organized form sections</a:t>
            </a:r>
          </a:p>
          <a:p>
            <a:pPr algn="l"/>
            <a:endParaRPr lang="fr-FR" sz="2000" dirty="0"/>
          </a:p>
        </p:txBody>
      </p:sp>
      <p:sp>
        <p:nvSpPr>
          <p:cNvPr id="4" name="Subtitle 2">
            <a:extLst>
              <a:ext uri="{FF2B5EF4-FFF2-40B4-BE49-F238E27FC236}">
                <a16:creationId xmlns:a16="http://schemas.microsoft.com/office/drawing/2014/main" id="{7D02808A-8ED6-4893-89A2-EBE876E3C647}"/>
              </a:ext>
            </a:extLst>
          </p:cNvPr>
          <p:cNvSpPr txBox="1">
            <a:spLocks/>
          </p:cNvSpPr>
          <p:nvPr/>
        </p:nvSpPr>
        <p:spPr>
          <a:xfrm>
            <a:off x="5891562" y="1508106"/>
            <a:ext cx="4363843" cy="53302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fr-FR" dirty="0"/>
          </a:p>
        </p:txBody>
      </p:sp>
      <p:sp>
        <p:nvSpPr>
          <p:cNvPr id="6" name="TextBox 5">
            <a:extLst>
              <a:ext uri="{FF2B5EF4-FFF2-40B4-BE49-F238E27FC236}">
                <a16:creationId xmlns:a16="http://schemas.microsoft.com/office/drawing/2014/main" id="{82E440A9-891D-4C44-B122-669E0005E51C}"/>
              </a:ext>
            </a:extLst>
          </p:cNvPr>
          <p:cNvSpPr txBox="1"/>
          <p:nvPr/>
        </p:nvSpPr>
        <p:spPr>
          <a:xfrm>
            <a:off x="6214947" y="1966169"/>
            <a:ext cx="6248401" cy="3508653"/>
          </a:xfrm>
          <a:prstGeom prst="rect">
            <a:avLst/>
          </a:prstGeom>
          <a:noFill/>
        </p:spPr>
        <p:txBody>
          <a:bodyPr wrap="square">
            <a:spAutoFit/>
          </a:bodyPr>
          <a:lstStyle/>
          <a:p>
            <a:pPr algn="l"/>
            <a:r>
              <a:rPr lang="en-US" b="0" dirty="0">
                <a:solidFill>
                  <a:srgbClr val="8B2132"/>
                </a:solidFill>
                <a:effectLst/>
                <a:latin typeface="Helvetica" panose="020B0604020202020204" pitchFamily="34" charset="0"/>
                <a:cs typeface="Helvetica" panose="020B0604020202020204" pitchFamily="34" charset="0"/>
              </a:rPr>
              <a:t>Step 3: Enter Project Parameters</a:t>
            </a:r>
          </a:p>
          <a:p>
            <a:pPr algn="l"/>
            <a:r>
              <a:rPr lang="en-US" b="0" dirty="0">
                <a:effectLst/>
                <a:latin typeface="Helvetica" panose="020B0604020202020204" pitchFamily="34" charset="0"/>
                <a:cs typeface="Helvetica" panose="020B0604020202020204" pitchFamily="34" charset="0"/>
              </a:rPr>
              <a:t>- 16 Input Fields: Organized into logical sections</a:t>
            </a:r>
          </a:p>
          <a:p>
            <a:pPr algn="l"/>
            <a:r>
              <a:rPr lang="en-US" b="0" dirty="0">
                <a:effectLst/>
                <a:latin typeface="Helvetica" panose="020B0604020202020204" pitchFamily="34" charset="0"/>
                <a:cs typeface="Helvetica" panose="020B0604020202020204" pitchFamily="34" charset="0"/>
              </a:rPr>
              <a:t>  - Project Information</a:t>
            </a:r>
          </a:p>
          <a:p>
            <a:pPr algn="l"/>
            <a:r>
              <a:rPr lang="en-US" b="0" dirty="0">
                <a:effectLst/>
                <a:latin typeface="Helvetica" panose="020B0604020202020204" pitchFamily="34" charset="0"/>
                <a:cs typeface="Helvetica" panose="020B0604020202020204" pitchFamily="34" charset="0"/>
              </a:rPr>
              <a:t>  - Material Parameters</a:t>
            </a:r>
          </a:p>
          <a:p>
            <a:pPr algn="l"/>
            <a:r>
              <a:rPr lang="en-US" b="0" dirty="0">
                <a:effectLst/>
                <a:latin typeface="Helvetica" panose="020B0604020202020204" pitchFamily="34" charset="0"/>
                <a:cs typeface="Helvetica" panose="020B0604020202020204" pitchFamily="34" charset="0"/>
              </a:rPr>
              <a:t>  - Management &amp; Control</a:t>
            </a:r>
          </a:p>
          <a:p>
            <a:pPr algn="l"/>
            <a:r>
              <a:rPr lang="en-US" b="0" dirty="0">
                <a:effectLst/>
                <a:latin typeface="Helvetica" panose="020B0604020202020204" pitchFamily="34" charset="0"/>
                <a:cs typeface="Helvetica" panose="020B0604020202020204" pitchFamily="34" charset="0"/>
              </a:rPr>
              <a:t>  - Project Dynamics</a:t>
            </a:r>
          </a:p>
          <a:p>
            <a:pPr algn="l"/>
            <a:r>
              <a:rPr lang="en-US" b="0" dirty="0">
                <a:effectLst/>
                <a:latin typeface="Helvetica" panose="020B0604020202020204" pitchFamily="34" charset="0"/>
                <a:cs typeface="Helvetica" panose="020B0604020202020204" pitchFamily="34" charset="0"/>
              </a:rPr>
              <a:t>- Helpful Placeholders: Show expected ranges</a:t>
            </a:r>
          </a:p>
          <a:p>
            <a:pPr algn="l"/>
            <a:r>
              <a:rPr lang="en-US" b="0" dirty="0">
                <a:effectLst/>
                <a:latin typeface="Helvetica" panose="020B0604020202020204" pitchFamily="34" charset="0"/>
                <a:cs typeface="Helvetica" panose="020B0604020202020204" pitchFamily="34" charset="0"/>
              </a:rPr>
              <a:t>- Input Validation: Real-time feedback</a:t>
            </a:r>
          </a:p>
          <a:p>
            <a:pPr algn="l"/>
            <a:r>
              <a:rPr lang="en-US" b="0" dirty="0">
                <a:effectLst/>
                <a:latin typeface="Helvetica" panose="020B0604020202020204" pitchFamily="34" charset="0"/>
                <a:cs typeface="Helvetica" panose="020B0604020202020204" pitchFamily="34" charset="0"/>
              </a:rPr>
              <a:t>- Default Values: Pre-filled for quick testing</a:t>
            </a:r>
          </a:p>
          <a:p>
            <a:br>
              <a:rPr lang="en-US" sz="2000" b="0" dirty="0">
                <a:effectLst/>
                <a:latin typeface="Helvetica" panose="020B0604020202020204" pitchFamily="34" charset="0"/>
                <a:cs typeface="Helvetica" panose="020B0604020202020204" pitchFamily="34" charset="0"/>
              </a:rPr>
            </a:br>
            <a:br>
              <a:rPr lang="en-US" sz="2000" dirty="0">
                <a:solidFill>
                  <a:srgbClr val="8B2132"/>
                </a:solidFill>
                <a:latin typeface="Helvetica" panose="020B0604020202020204" pitchFamily="34" charset="0"/>
                <a:cs typeface="Helvetica" panose="020B0604020202020204" pitchFamily="34" charset="0"/>
              </a:rPr>
            </a:br>
            <a:endParaRPr lang="en-US" sz="2000" b="0" dirty="0">
              <a:effectLst/>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585281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D8779-7218-4586-A87D-7FF565869575}"/>
              </a:ext>
            </a:extLst>
          </p:cNvPr>
          <p:cNvSpPr>
            <a:spLocks noGrp="1"/>
          </p:cNvSpPr>
          <p:nvPr>
            <p:ph type="ctrTitle"/>
          </p:nvPr>
        </p:nvSpPr>
        <p:spPr>
          <a:xfrm>
            <a:off x="570571" y="96451"/>
            <a:ext cx="11050858" cy="1520476"/>
          </a:xfrm>
        </p:spPr>
        <p:txBody>
          <a:bodyPr>
            <a:normAutofit/>
          </a:bodyPr>
          <a:lstStyle/>
          <a:p>
            <a:pPr algn="l"/>
            <a:r>
              <a:rPr lang="en-US" sz="4400" dirty="0">
                <a:solidFill>
                  <a:srgbClr val="8B2132"/>
                </a:solidFill>
                <a:effectLst/>
                <a:latin typeface="Helvetica" panose="020B0604020202020204" pitchFamily="34" charset="0"/>
                <a:cs typeface="Helvetica" panose="020B0604020202020204" pitchFamily="34" charset="0"/>
              </a:rPr>
              <a:t>User Journey &amp; Ease of Use</a:t>
            </a:r>
            <a:br>
              <a:rPr lang="en-US" sz="4400" dirty="0">
                <a:solidFill>
                  <a:srgbClr val="8B2132"/>
                </a:solidFill>
                <a:effectLst/>
                <a:latin typeface="Helvetica" panose="020B0604020202020204" pitchFamily="34" charset="0"/>
                <a:cs typeface="Helvetica" panose="020B0604020202020204" pitchFamily="34" charset="0"/>
              </a:rPr>
            </a:br>
            <a:endParaRPr lang="fr-FR" sz="4400" dirty="0"/>
          </a:p>
        </p:txBody>
      </p:sp>
      <p:sp>
        <p:nvSpPr>
          <p:cNvPr id="3" name="Subtitle 2">
            <a:extLst>
              <a:ext uri="{FF2B5EF4-FFF2-40B4-BE49-F238E27FC236}">
                <a16:creationId xmlns:a16="http://schemas.microsoft.com/office/drawing/2014/main" id="{F1EC2B13-D737-4EBD-8624-D6DB69F8A03E}"/>
              </a:ext>
            </a:extLst>
          </p:cNvPr>
          <p:cNvSpPr>
            <a:spLocks noGrp="1"/>
          </p:cNvSpPr>
          <p:nvPr>
            <p:ph type="subTitle" idx="1"/>
          </p:nvPr>
        </p:nvSpPr>
        <p:spPr>
          <a:xfrm>
            <a:off x="570571" y="1906858"/>
            <a:ext cx="5629507" cy="3568390"/>
          </a:xfrm>
        </p:spPr>
        <p:txBody>
          <a:bodyPr>
            <a:normAutofit/>
          </a:bodyPr>
          <a:lstStyle/>
          <a:p>
            <a:pPr algn="l"/>
            <a:r>
              <a:rPr lang="en-US" sz="1900" dirty="0">
                <a:solidFill>
                  <a:srgbClr val="8B2132"/>
                </a:solidFill>
                <a:latin typeface="Helvetica" panose="020B0604020202020204" pitchFamily="34" charset="0"/>
                <a:cs typeface="Helvetica" panose="020B0604020202020204" pitchFamily="34" charset="0"/>
              </a:rPr>
              <a:t>Step 4: Submit &amp; Get Results</a:t>
            </a:r>
          </a:p>
          <a:p>
            <a:pPr algn="l"/>
            <a:r>
              <a:rPr lang="en-US" sz="1900" dirty="0">
                <a:latin typeface="Helvetica" panose="020B0604020202020204" pitchFamily="34" charset="0"/>
                <a:cs typeface="Helvetica" panose="020B0604020202020204" pitchFamily="34" charset="0"/>
              </a:rPr>
              <a:t>- Single "Predict" button</a:t>
            </a:r>
          </a:p>
          <a:p>
            <a:pPr algn="l"/>
            <a:r>
              <a:rPr lang="en-US" sz="1900" dirty="0">
                <a:latin typeface="Helvetica" panose="020B0604020202020204" pitchFamily="34" charset="0"/>
                <a:cs typeface="Helvetica" panose="020B0604020202020204" pitchFamily="34" charset="0"/>
              </a:rPr>
              <a:t>- Processing time: &lt;2 seconds</a:t>
            </a:r>
          </a:p>
          <a:p>
            <a:pPr algn="l"/>
            <a:r>
              <a:rPr lang="en-US" sz="1900" dirty="0">
                <a:latin typeface="Helvetica" panose="020B0604020202020204" pitchFamily="34" charset="0"/>
                <a:cs typeface="Helvetica" panose="020B0604020202020204" pitchFamily="34" charset="0"/>
              </a:rPr>
              <a:t>- Comprehensive results displayed:</a:t>
            </a:r>
          </a:p>
          <a:p>
            <a:pPr algn="l"/>
            <a:r>
              <a:rPr lang="en-US" sz="1900" dirty="0">
                <a:latin typeface="Helvetica" panose="020B0604020202020204" pitchFamily="34" charset="0"/>
                <a:cs typeface="Helvetica" panose="020B0604020202020204" pitchFamily="34" charset="0"/>
              </a:rPr>
              <a:t>  - Waste percentage prediction &amp; category</a:t>
            </a:r>
          </a:p>
          <a:p>
            <a:pPr algn="l"/>
            <a:r>
              <a:rPr lang="en-US" sz="1900" dirty="0">
                <a:latin typeface="Helvetica" panose="020B0604020202020204" pitchFamily="34" charset="0"/>
                <a:cs typeface="Helvetica" panose="020B0604020202020204" pitchFamily="34" charset="0"/>
              </a:rPr>
              <a:t>  - Top 5 waste-driving factors (SHAP)</a:t>
            </a:r>
          </a:p>
          <a:p>
            <a:pPr algn="l"/>
            <a:r>
              <a:rPr lang="en-US" sz="1900" dirty="0">
                <a:latin typeface="Helvetica" panose="020B0604020202020204" pitchFamily="34" charset="0"/>
                <a:cs typeface="Helvetica" panose="020B0604020202020204" pitchFamily="34" charset="0"/>
              </a:rPr>
              <a:t>  - Reliability indicator</a:t>
            </a:r>
          </a:p>
          <a:p>
            <a:pPr algn="l"/>
            <a:r>
              <a:rPr lang="en-US" sz="1900" dirty="0">
                <a:latin typeface="Helvetica" panose="020B0604020202020204" pitchFamily="34" charset="0"/>
                <a:cs typeface="Helvetica" panose="020B0604020202020204" pitchFamily="34" charset="0"/>
              </a:rPr>
              <a:t>  - Cost impact &amp; CO₂ emissions</a:t>
            </a:r>
          </a:p>
          <a:p>
            <a:pPr algn="l"/>
            <a:r>
              <a:rPr lang="en-US" sz="1900" dirty="0">
                <a:latin typeface="Helvetica" panose="020B0604020202020204" pitchFamily="34" charset="0"/>
                <a:cs typeface="Helvetica" panose="020B0604020202020204" pitchFamily="34" charset="0"/>
              </a:rPr>
              <a:t>  - Potential savings</a:t>
            </a:r>
          </a:p>
          <a:p>
            <a:pPr algn="l"/>
            <a:endParaRPr lang="fr-FR" dirty="0"/>
          </a:p>
        </p:txBody>
      </p:sp>
      <p:sp>
        <p:nvSpPr>
          <p:cNvPr id="4" name="Subtitle 2">
            <a:extLst>
              <a:ext uri="{FF2B5EF4-FFF2-40B4-BE49-F238E27FC236}">
                <a16:creationId xmlns:a16="http://schemas.microsoft.com/office/drawing/2014/main" id="{98A0F35B-F6C9-45F0-9E1E-C45B9758EF74}"/>
              </a:ext>
            </a:extLst>
          </p:cNvPr>
          <p:cNvSpPr txBox="1">
            <a:spLocks/>
          </p:cNvSpPr>
          <p:nvPr/>
        </p:nvSpPr>
        <p:spPr>
          <a:xfrm>
            <a:off x="6426821" y="1616927"/>
            <a:ext cx="5194608" cy="25467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r>
              <a:rPr lang="en-US" sz="2000" dirty="0">
                <a:solidFill>
                  <a:srgbClr val="8B2132"/>
                </a:solidFill>
                <a:latin typeface="Helvetica" panose="020B0604020202020204" pitchFamily="34" charset="0"/>
                <a:cs typeface="Helvetica" panose="020B0604020202020204" pitchFamily="34" charset="0"/>
              </a:rPr>
            </a:br>
            <a:r>
              <a:rPr lang="en-US" sz="1800" dirty="0">
                <a:solidFill>
                  <a:srgbClr val="8B2132"/>
                </a:solidFill>
                <a:latin typeface="Helvetica" panose="020B0604020202020204" pitchFamily="34" charset="0"/>
                <a:cs typeface="Helvetica" panose="020B0604020202020204" pitchFamily="34" charset="0"/>
              </a:rPr>
              <a:t>Step 5: Interpret &amp; Act</a:t>
            </a:r>
          </a:p>
          <a:p>
            <a:pPr algn="l"/>
            <a:r>
              <a:rPr lang="en-US" sz="1800" dirty="0">
                <a:latin typeface="Helvetica" panose="020B0604020202020204" pitchFamily="34" charset="0"/>
                <a:cs typeface="Helvetica" panose="020B0604020202020204" pitchFamily="34" charset="0"/>
              </a:rPr>
              <a:t>- Clear visual indicators (color-coded categories)</a:t>
            </a:r>
          </a:p>
          <a:p>
            <a:pPr algn="l"/>
            <a:r>
              <a:rPr lang="en-US" sz="1800" dirty="0">
                <a:latin typeface="Helvetica" panose="020B0604020202020204" pitchFamily="34" charset="0"/>
                <a:cs typeface="Helvetica" panose="020B0604020202020204" pitchFamily="34" charset="0"/>
              </a:rPr>
              <a:t>- Actionable insights (top factors to address)</a:t>
            </a:r>
          </a:p>
          <a:p>
            <a:pPr algn="l"/>
            <a:r>
              <a:rPr lang="en-US" sz="1800" dirty="0">
                <a:latin typeface="Helvetica" panose="020B0604020202020204" pitchFamily="34" charset="0"/>
                <a:cs typeface="Helvetica" panose="020B0604020202020204" pitchFamily="34" charset="0"/>
              </a:rPr>
              <a:t>- Financial and environmental impact</a:t>
            </a:r>
          </a:p>
          <a:p>
            <a:pPr algn="l"/>
            <a:r>
              <a:rPr lang="en-US" sz="1800" dirty="0">
                <a:latin typeface="Helvetica" panose="020B0604020202020204" pitchFamily="34" charset="0"/>
                <a:cs typeface="Helvetica" panose="020B0604020202020204" pitchFamily="34" charset="0"/>
              </a:rPr>
              <a:t>- Reliability confidence level</a:t>
            </a:r>
          </a:p>
          <a:p>
            <a:pPr algn="l"/>
            <a:endParaRPr lang="fr-FR" dirty="0"/>
          </a:p>
        </p:txBody>
      </p:sp>
    </p:spTree>
    <p:extLst>
      <p:ext uri="{BB962C8B-B14F-4D97-AF65-F5344CB8AC3E}">
        <p14:creationId xmlns:p14="http://schemas.microsoft.com/office/powerpoint/2010/main" val="124111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981AE-F2BA-468F-B461-3465D8305C55}"/>
              </a:ext>
            </a:extLst>
          </p:cNvPr>
          <p:cNvSpPr>
            <a:spLocks noGrp="1"/>
          </p:cNvSpPr>
          <p:nvPr>
            <p:ph type="ctrTitle"/>
          </p:nvPr>
        </p:nvSpPr>
        <p:spPr>
          <a:xfrm>
            <a:off x="330820" y="239946"/>
            <a:ext cx="11530361" cy="1547348"/>
          </a:xfrm>
        </p:spPr>
        <p:txBody>
          <a:bodyPr>
            <a:normAutofit/>
          </a:bodyPr>
          <a:lstStyle/>
          <a:p>
            <a:pPr algn="l"/>
            <a:r>
              <a:rPr lang="en-US" sz="4400" dirty="0">
                <a:solidFill>
                  <a:srgbClr val="8B2132"/>
                </a:solidFill>
                <a:effectLst/>
                <a:latin typeface="Helvetica" panose="020B0604020202020204" pitchFamily="34" charset="0"/>
                <a:cs typeface="Helvetica" panose="020B0604020202020204" pitchFamily="34" charset="0"/>
              </a:rPr>
              <a:t>Website Example Walkthrough</a:t>
            </a:r>
            <a:br>
              <a:rPr lang="en-US" sz="4400" dirty="0">
                <a:solidFill>
                  <a:srgbClr val="8B2132"/>
                </a:solidFill>
                <a:effectLst/>
                <a:latin typeface="Helvetica" panose="020B0604020202020204" pitchFamily="34" charset="0"/>
                <a:cs typeface="Helvetica" panose="020B0604020202020204" pitchFamily="34" charset="0"/>
              </a:rPr>
            </a:br>
            <a:endParaRPr lang="fr-FR" sz="44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B65B158B-3FCE-45F4-BC93-411A5CA9B02E}"/>
              </a:ext>
            </a:extLst>
          </p:cNvPr>
          <p:cNvSpPr>
            <a:spLocks noGrp="1"/>
          </p:cNvSpPr>
          <p:nvPr>
            <p:ph type="subTitle" idx="1"/>
          </p:nvPr>
        </p:nvSpPr>
        <p:spPr>
          <a:xfrm>
            <a:off x="330820" y="2078975"/>
            <a:ext cx="9225775" cy="2700049"/>
          </a:xfrm>
        </p:spPr>
        <p:txBody>
          <a:bodyPr>
            <a:normAutofit/>
          </a:bodyPr>
          <a:lstStyle/>
          <a:p>
            <a:pPr algn="l"/>
            <a:r>
              <a:rPr lang="en-US" sz="1800" dirty="0">
                <a:solidFill>
                  <a:srgbClr val="8B2132"/>
                </a:solidFill>
                <a:latin typeface="Helvetica" panose="020B0604020202020204" pitchFamily="34" charset="0"/>
                <a:cs typeface="Helvetica" panose="020B0604020202020204" pitchFamily="34" charset="0"/>
              </a:rPr>
              <a:t>Example Project Scenario:</a:t>
            </a:r>
          </a:p>
          <a:p>
            <a:pPr algn="l"/>
            <a:r>
              <a:rPr lang="en-US" sz="1800" dirty="0">
                <a:latin typeface="Helvetica" panose="020B0604020202020204" pitchFamily="34" charset="0"/>
                <a:cs typeface="Helvetica" panose="020B0604020202020204" pitchFamily="34" charset="0"/>
              </a:rPr>
              <a:t>- Project: Commercial Building, Frame Phase</a:t>
            </a:r>
          </a:p>
          <a:p>
            <a:pPr algn="l"/>
            <a:r>
              <a:rPr lang="en-US" sz="1800" dirty="0">
                <a:latin typeface="Helvetica" panose="020B0604020202020204" pitchFamily="34" charset="0"/>
                <a:cs typeface="Helvetica" panose="020B0604020202020204" pitchFamily="34" charset="0"/>
              </a:rPr>
              <a:t>- Steel Quantity: 100,000 kg</a:t>
            </a:r>
          </a:p>
          <a:p>
            <a:pPr marL="342900" indent="-342900" algn="l">
              <a:buFontTx/>
              <a:buChar char="-"/>
            </a:pPr>
            <a:r>
              <a:rPr lang="en-US" sz="1800" dirty="0">
                <a:latin typeface="Helvetica" panose="020B0604020202020204" pitchFamily="34" charset="0"/>
                <a:cs typeface="Helvetica" panose="020B0604020202020204" pitchFamily="34" charset="0"/>
              </a:rPr>
              <a:t>Parameters: Standard values with some variations</a:t>
            </a:r>
          </a:p>
        </p:txBody>
      </p:sp>
      <p:sp>
        <p:nvSpPr>
          <p:cNvPr id="4" name="Subtitle 2">
            <a:extLst>
              <a:ext uri="{FF2B5EF4-FFF2-40B4-BE49-F238E27FC236}">
                <a16:creationId xmlns:a16="http://schemas.microsoft.com/office/drawing/2014/main" id="{7B8B3698-BA2B-4BAE-8E41-050F349BDD6C}"/>
              </a:ext>
            </a:extLst>
          </p:cNvPr>
          <p:cNvSpPr txBox="1">
            <a:spLocks/>
          </p:cNvSpPr>
          <p:nvPr/>
        </p:nvSpPr>
        <p:spPr>
          <a:xfrm>
            <a:off x="330820" y="3429001"/>
            <a:ext cx="5659245" cy="260381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Tx/>
              <a:buChar char="-"/>
            </a:pPr>
            <a:endParaRPr lang="en-US" dirty="0">
              <a:latin typeface="Helvetica" panose="020B0604020202020204" pitchFamily="34" charset="0"/>
              <a:cs typeface="Helvetica" panose="020B0604020202020204" pitchFamily="34" charset="0"/>
            </a:endParaRPr>
          </a:p>
          <a:p>
            <a:pPr algn="l"/>
            <a:r>
              <a:rPr lang="en-US" sz="1800" dirty="0">
                <a:solidFill>
                  <a:srgbClr val="8B2132"/>
                </a:solidFill>
                <a:latin typeface="Helvetica" panose="020B0604020202020204" pitchFamily="34" charset="0"/>
                <a:cs typeface="Helvetica" panose="020B0604020202020204" pitchFamily="34" charset="0"/>
              </a:rPr>
              <a:t>Key Insights:</a:t>
            </a:r>
          </a:p>
          <a:p>
            <a:pPr algn="l"/>
            <a:r>
              <a:rPr lang="en-US" sz="1800" dirty="0">
                <a:latin typeface="Helvetica" panose="020B0604020202020204" pitchFamily="34" charset="0"/>
                <a:cs typeface="Helvetica" panose="020B0604020202020204" pitchFamily="34" charset="0"/>
              </a:rPr>
              <a:t>- System identifies actionable factors</a:t>
            </a:r>
          </a:p>
          <a:p>
            <a:pPr algn="l"/>
            <a:r>
              <a:rPr lang="en-US" sz="1800" dirty="0">
                <a:latin typeface="Helvetica" panose="020B0604020202020204" pitchFamily="34" charset="0"/>
                <a:cs typeface="Helvetica" panose="020B0604020202020204" pitchFamily="34" charset="0"/>
              </a:rPr>
              <a:t>- Clear financial and environmental implications</a:t>
            </a:r>
          </a:p>
          <a:p>
            <a:pPr algn="l"/>
            <a:r>
              <a:rPr lang="en-US" sz="1800" dirty="0">
                <a:latin typeface="Helvetica" panose="020B0604020202020204" pitchFamily="34" charset="0"/>
                <a:cs typeface="Helvetica" panose="020B0604020202020204" pitchFamily="34" charset="0"/>
              </a:rPr>
              <a:t>- Reliability indicator guides interpretation</a:t>
            </a:r>
          </a:p>
          <a:p>
            <a:endParaRPr lang="fr-FR" dirty="0"/>
          </a:p>
        </p:txBody>
      </p:sp>
    </p:spTree>
    <p:extLst>
      <p:ext uri="{BB962C8B-B14F-4D97-AF65-F5344CB8AC3E}">
        <p14:creationId xmlns:p14="http://schemas.microsoft.com/office/powerpoint/2010/main" val="19493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3FF03-6AAF-43A9-8E82-8A81F4A55886}"/>
              </a:ext>
            </a:extLst>
          </p:cNvPr>
          <p:cNvSpPr>
            <a:spLocks noGrp="1"/>
          </p:cNvSpPr>
          <p:nvPr>
            <p:ph type="ctrTitle"/>
          </p:nvPr>
        </p:nvSpPr>
        <p:spPr>
          <a:xfrm>
            <a:off x="501805" y="263719"/>
            <a:ext cx="11188390" cy="728739"/>
          </a:xfrm>
        </p:spPr>
        <p:txBody>
          <a:bodyPr>
            <a:normAutofit/>
          </a:bodyPr>
          <a:lstStyle/>
          <a:p>
            <a:pPr algn="l"/>
            <a:r>
              <a:rPr lang="en-US" sz="4400" dirty="0">
                <a:solidFill>
                  <a:srgbClr val="8B2132"/>
                </a:solidFill>
                <a:effectLst/>
                <a:latin typeface="Helvetica" panose="020B0604020202020204" pitchFamily="34" charset="0"/>
                <a:cs typeface="Helvetica" panose="020B0604020202020204" pitchFamily="34" charset="0"/>
              </a:rPr>
              <a:t>Website Example Walkthrough</a:t>
            </a:r>
            <a:endParaRPr lang="fr-FR" sz="4400" dirty="0"/>
          </a:p>
        </p:txBody>
      </p:sp>
      <p:sp>
        <p:nvSpPr>
          <p:cNvPr id="3" name="Subtitle 2">
            <a:extLst>
              <a:ext uri="{FF2B5EF4-FFF2-40B4-BE49-F238E27FC236}">
                <a16:creationId xmlns:a16="http://schemas.microsoft.com/office/drawing/2014/main" id="{0116E40F-DD8A-41E4-A84D-32BBF0CC11F5}"/>
              </a:ext>
            </a:extLst>
          </p:cNvPr>
          <p:cNvSpPr>
            <a:spLocks noGrp="1"/>
          </p:cNvSpPr>
          <p:nvPr>
            <p:ph type="subTitle" idx="1"/>
          </p:nvPr>
        </p:nvSpPr>
        <p:spPr>
          <a:xfrm>
            <a:off x="5898995" y="1683834"/>
            <a:ext cx="5791200" cy="4505092"/>
          </a:xfrm>
        </p:spPr>
        <p:txBody>
          <a:bodyPr>
            <a:normAutofit/>
          </a:bodyPr>
          <a:lstStyle/>
          <a:p>
            <a:pPr algn="l"/>
            <a:r>
              <a:rPr lang="en-US" sz="1800" b="0" dirty="0">
                <a:solidFill>
                  <a:srgbClr val="8B2132"/>
                </a:solidFill>
                <a:effectLst/>
                <a:latin typeface="Helvetica" panose="020B0604020202020204" pitchFamily="34" charset="0"/>
                <a:cs typeface="Helvetica" panose="020B0604020202020204" pitchFamily="34" charset="0"/>
              </a:rPr>
              <a:t>Output Example:</a:t>
            </a:r>
          </a:p>
          <a:p>
            <a:pPr algn="l"/>
            <a:r>
              <a:rPr lang="en-US" sz="1800" b="0" dirty="0">
                <a:effectLst/>
                <a:latin typeface="Helvetica" panose="020B0604020202020204" pitchFamily="34" charset="0"/>
                <a:cs typeface="Helvetica" panose="020B0604020202020204" pitchFamily="34" charset="0"/>
              </a:rPr>
              <a:t>- Predicted Waste: 11.16% (Poor category)</a:t>
            </a:r>
          </a:p>
          <a:p>
            <a:pPr algn="l"/>
            <a:r>
              <a:rPr lang="en-US" sz="1800" b="0" dirty="0">
                <a:effectLst/>
                <a:latin typeface="Helvetica" panose="020B0604020202020204" pitchFamily="34" charset="0"/>
                <a:cs typeface="Helvetica" panose="020B0604020202020204" pitchFamily="34" charset="0"/>
              </a:rPr>
              <a:t>- Reliability: Medium (41% confidence)</a:t>
            </a:r>
          </a:p>
          <a:p>
            <a:pPr algn="l"/>
            <a:r>
              <a:rPr lang="en-US" sz="1800" b="0" dirty="0">
                <a:effectLst/>
                <a:latin typeface="Helvetica" panose="020B0604020202020204" pitchFamily="34" charset="0"/>
                <a:cs typeface="Helvetica" panose="020B0604020202020204" pitchFamily="34" charset="0"/>
              </a:rPr>
              <a:t>- Top Factors:</a:t>
            </a:r>
          </a:p>
          <a:p>
            <a:pPr algn="l"/>
            <a:r>
              <a:rPr lang="en-US" sz="1800" b="0" dirty="0">
                <a:effectLst/>
                <a:latin typeface="Helvetica" panose="020B0604020202020204" pitchFamily="34" charset="0"/>
                <a:cs typeface="Helvetica" panose="020B0604020202020204" pitchFamily="34" charset="0"/>
              </a:rPr>
              <a:t>  1. Offcut Reuse Policy: +1.57 (Increases waste)</a:t>
            </a:r>
          </a:p>
          <a:p>
            <a:pPr algn="l"/>
            <a:r>
              <a:rPr lang="en-US" sz="1800" b="0" dirty="0">
                <a:effectLst/>
                <a:latin typeface="Helvetica" panose="020B0604020202020204" pitchFamily="34" charset="0"/>
                <a:cs typeface="Helvetica" panose="020B0604020202020204" pitchFamily="34" charset="0"/>
              </a:rPr>
              <a:t>  2. Cutting Optimization: +1.18 (Increases waste)</a:t>
            </a:r>
          </a:p>
          <a:p>
            <a:pPr algn="l"/>
            <a:r>
              <a:rPr lang="en-US" sz="1800" b="0" dirty="0">
                <a:effectLst/>
                <a:latin typeface="Helvetica" panose="020B0604020202020204" pitchFamily="34" charset="0"/>
                <a:cs typeface="Helvetica" panose="020B0604020202020204" pitchFamily="34" charset="0"/>
              </a:rPr>
              <a:t>  3. Change Orders: -0.95 (Decreases waste)</a:t>
            </a:r>
          </a:p>
          <a:p>
            <a:pPr algn="l"/>
            <a:r>
              <a:rPr lang="en-US" sz="1800" b="0" dirty="0">
                <a:effectLst/>
                <a:latin typeface="Helvetica" panose="020B0604020202020204" pitchFamily="34" charset="0"/>
                <a:cs typeface="Helvetica" panose="020B0604020202020204" pitchFamily="34" charset="0"/>
              </a:rPr>
              <a:t>- Cost Impact: $8,926 waste cost</a:t>
            </a:r>
          </a:p>
          <a:p>
            <a:pPr algn="l"/>
            <a:r>
              <a:rPr lang="en-US" sz="1800" b="0" dirty="0">
                <a:effectLst/>
                <a:latin typeface="Helvetica" panose="020B0604020202020204" pitchFamily="34" charset="0"/>
                <a:cs typeface="Helvetica" panose="020B0604020202020204" pitchFamily="34" charset="0"/>
              </a:rPr>
              <a:t>- CO₂ Impact: 27,894 kg CO₂</a:t>
            </a:r>
          </a:p>
          <a:p>
            <a:pPr algn="l"/>
            <a:r>
              <a:rPr lang="en-US" sz="1800" b="0" dirty="0">
                <a:effectLst/>
                <a:latin typeface="Helvetica" panose="020B0604020202020204" pitchFamily="34" charset="0"/>
                <a:cs typeface="Helvetica" panose="020B0604020202020204" pitchFamily="34" charset="0"/>
              </a:rPr>
              <a:t>- Potential Savings: $4,463 with 50% reduction</a:t>
            </a:r>
          </a:p>
          <a:p>
            <a:endParaRPr lang="fr-FR" dirty="0"/>
          </a:p>
        </p:txBody>
      </p:sp>
      <p:sp>
        <p:nvSpPr>
          <p:cNvPr id="4" name="Subtitle 2">
            <a:extLst>
              <a:ext uri="{FF2B5EF4-FFF2-40B4-BE49-F238E27FC236}">
                <a16:creationId xmlns:a16="http://schemas.microsoft.com/office/drawing/2014/main" id="{0940A78D-B0C7-48F4-93E6-999E7EE99CBD}"/>
              </a:ext>
            </a:extLst>
          </p:cNvPr>
          <p:cNvSpPr txBox="1">
            <a:spLocks/>
          </p:cNvSpPr>
          <p:nvPr/>
        </p:nvSpPr>
        <p:spPr>
          <a:xfrm>
            <a:off x="501805" y="1683834"/>
            <a:ext cx="4449337" cy="481008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0" dirty="0">
                <a:solidFill>
                  <a:srgbClr val="8B2132"/>
                </a:solidFill>
                <a:effectLst/>
                <a:latin typeface="Helvetica" panose="020B0604020202020204" pitchFamily="34" charset="0"/>
                <a:cs typeface="Helvetica" panose="020B0604020202020204" pitchFamily="34" charset="0"/>
              </a:rPr>
              <a:t>Input Example:</a:t>
            </a:r>
          </a:p>
          <a:p>
            <a:pPr algn="l"/>
            <a:r>
              <a:rPr lang="en-US" sz="1800" b="0" dirty="0">
                <a:effectLst/>
                <a:latin typeface="Helvetica" panose="020B0604020202020204" pitchFamily="34" charset="0"/>
                <a:cs typeface="Helvetica" panose="020B0604020202020204" pitchFamily="34" charset="0"/>
              </a:rPr>
              <a:t>- Project ID: P3556</a:t>
            </a:r>
          </a:p>
          <a:p>
            <a:pPr algn="l"/>
            <a:r>
              <a:rPr lang="en-US" sz="1800" b="0" dirty="0">
                <a:effectLst/>
                <a:latin typeface="Helvetica" panose="020B0604020202020204" pitchFamily="34" charset="0"/>
                <a:cs typeface="Helvetica" panose="020B0604020202020204" pitchFamily="34" charset="0"/>
              </a:rPr>
              <a:t>- Reinforcement Ratio: 120 kg/m³</a:t>
            </a:r>
          </a:p>
          <a:p>
            <a:pPr algn="l"/>
            <a:r>
              <a:rPr lang="en-US" sz="1800" b="0" dirty="0">
                <a:effectLst/>
                <a:latin typeface="Helvetica" panose="020B0604020202020204" pitchFamily="34" charset="0"/>
                <a:cs typeface="Helvetica" panose="020B0604020202020204" pitchFamily="34" charset="0"/>
              </a:rPr>
              <a:t>- Unique Lengths: 20</a:t>
            </a:r>
          </a:p>
          <a:p>
            <a:pPr algn="l"/>
            <a:r>
              <a:rPr lang="en-US" sz="1800" b="0" dirty="0">
                <a:effectLst/>
                <a:latin typeface="Helvetica" panose="020B0604020202020204" pitchFamily="34" charset="0"/>
                <a:cs typeface="Helvetica" panose="020B0604020202020204" pitchFamily="34" charset="0"/>
              </a:rPr>
              <a:t>- Stock Length Policy: Standard 12m</a:t>
            </a:r>
          </a:p>
          <a:p>
            <a:pPr algn="l"/>
            <a:r>
              <a:rPr lang="en-US" sz="1800" b="0" dirty="0">
                <a:effectLst/>
                <a:latin typeface="Helvetica" panose="020B0604020202020204" pitchFamily="34" charset="0"/>
                <a:cs typeface="Helvetica" panose="020B0604020202020204" pitchFamily="34" charset="0"/>
              </a:rPr>
              <a:t>- Cutting Optimization: None (0)</a:t>
            </a:r>
          </a:p>
          <a:p>
            <a:pPr algn="l"/>
            <a:r>
              <a:rPr lang="en-US" sz="1800" b="0" dirty="0">
                <a:effectLst/>
                <a:latin typeface="Helvetica" panose="020B0604020202020204" pitchFamily="34" charset="0"/>
                <a:cs typeface="Helvetica" panose="020B0604020202020204" pitchFamily="34" charset="0"/>
              </a:rPr>
              <a:t>- Supervision Index: 3</a:t>
            </a:r>
          </a:p>
          <a:p>
            <a:pPr algn="l"/>
            <a:r>
              <a:rPr lang="en-US" sz="1800" b="0" dirty="0">
                <a:effectLst/>
                <a:latin typeface="Helvetica" panose="020B0604020202020204" pitchFamily="34" charset="0"/>
                <a:cs typeface="Helvetica" panose="020B0604020202020204" pitchFamily="34" charset="0"/>
              </a:rPr>
              <a:t>- Material Control: 2</a:t>
            </a:r>
          </a:p>
          <a:p>
            <a:pPr algn="l"/>
            <a:r>
              <a:rPr lang="en-US" sz="1800" b="0" dirty="0">
                <a:effectLst/>
                <a:latin typeface="Helvetica" panose="020B0604020202020204" pitchFamily="34" charset="0"/>
                <a:cs typeface="Helvetica" panose="020B0604020202020204" pitchFamily="34" charset="0"/>
              </a:rPr>
              <a:t>- Change Orders: 1/month</a:t>
            </a:r>
          </a:p>
          <a:p>
            <a:pPr algn="l"/>
            <a:r>
              <a:rPr lang="en-US" sz="1800" b="0" dirty="0">
                <a:effectLst/>
                <a:latin typeface="Helvetica" panose="020B0604020202020204" pitchFamily="34" charset="0"/>
                <a:cs typeface="Helvetica" panose="020B0604020202020204" pitchFamily="34" charset="0"/>
              </a:rPr>
              <a:t>- Design Revisions: 2/month</a:t>
            </a:r>
          </a:p>
          <a:p>
            <a:pPr algn="l"/>
            <a:r>
              <a:rPr lang="en-US" sz="1800" b="0" dirty="0">
                <a:effectLst/>
                <a:latin typeface="Helvetica" panose="020B0604020202020204" pitchFamily="34" charset="0"/>
                <a:cs typeface="Helvetica" panose="020B0604020202020204" pitchFamily="34" charset="0"/>
              </a:rPr>
              <a:t>- ... (all 16 parameters)</a:t>
            </a:r>
          </a:p>
          <a:p>
            <a:pPr algn="l"/>
            <a:br>
              <a:rPr lang="en-US" sz="2000" b="0" dirty="0">
                <a:effectLst/>
                <a:latin typeface="Helvetica" panose="020B0604020202020204" pitchFamily="34" charset="0"/>
                <a:cs typeface="Helvetica" panose="020B0604020202020204" pitchFamily="34" charset="0"/>
              </a:rPr>
            </a:br>
            <a:endParaRPr lang="en-US" sz="2000" dirty="0">
              <a:latin typeface="Helvetica" panose="020B0604020202020204" pitchFamily="34" charset="0"/>
              <a:cs typeface="Helvetica" panose="020B0604020202020204" pitchFamily="34" charset="0"/>
            </a:endParaRPr>
          </a:p>
          <a:p>
            <a:endParaRPr lang="fr-FR" sz="2000" dirty="0"/>
          </a:p>
        </p:txBody>
      </p:sp>
    </p:spTree>
    <p:extLst>
      <p:ext uri="{BB962C8B-B14F-4D97-AF65-F5344CB8AC3E}">
        <p14:creationId xmlns:p14="http://schemas.microsoft.com/office/powerpoint/2010/main" val="867974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AA6B5-84A4-4521-9FF2-FFF86E5DBCD2}"/>
              </a:ext>
            </a:extLst>
          </p:cNvPr>
          <p:cNvSpPr>
            <a:spLocks noGrp="1"/>
          </p:cNvSpPr>
          <p:nvPr>
            <p:ph type="ctrTitle"/>
          </p:nvPr>
        </p:nvSpPr>
        <p:spPr>
          <a:xfrm>
            <a:off x="386576" y="128436"/>
            <a:ext cx="11418849" cy="1455038"/>
          </a:xfrm>
        </p:spPr>
        <p:txBody>
          <a:bodyPr>
            <a:normAutofit/>
          </a:bodyPr>
          <a:lstStyle/>
          <a:p>
            <a:pPr algn="l"/>
            <a:r>
              <a:rPr lang="en-US" sz="4400" dirty="0">
                <a:solidFill>
                  <a:srgbClr val="8B2132"/>
                </a:solidFill>
                <a:effectLst/>
                <a:latin typeface="Helvetica" panose="020B0604020202020204" pitchFamily="34" charset="0"/>
                <a:cs typeface="Helvetica" panose="020B0604020202020204" pitchFamily="34" charset="0"/>
              </a:rPr>
              <a:t>Hourie Data Acquisition</a:t>
            </a:r>
            <a:br>
              <a:rPr lang="en-US" sz="4400" dirty="0">
                <a:solidFill>
                  <a:srgbClr val="8B2132"/>
                </a:solidFill>
                <a:effectLst/>
                <a:latin typeface="Helvetica" panose="020B0604020202020204" pitchFamily="34" charset="0"/>
                <a:cs typeface="Helvetica" panose="020B0604020202020204" pitchFamily="34" charset="0"/>
              </a:rPr>
            </a:br>
            <a:endParaRPr lang="fr-FR" sz="44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1C9D11D7-B5E3-4A68-8349-6F310DF7A9B6}"/>
              </a:ext>
            </a:extLst>
          </p:cNvPr>
          <p:cNvSpPr>
            <a:spLocks noGrp="1"/>
          </p:cNvSpPr>
          <p:nvPr>
            <p:ph type="subTitle" idx="1"/>
          </p:nvPr>
        </p:nvSpPr>
        <p:spPr>
          <a:xfrm>
            <a:off x="386576" y="1724258"/>
            <a:ext cx="9549161" cy="1845526"/>
          </a:xfrm>
        </p:spPr>
        <p:txBody>
          <a:bodyPr>
            <a:normAutofit fontScale="25000" lnSpcReduction="20000"/>
          </a:bodyPr>
          <a:lstStyle/>
          <a:p>
            <a:pPr algn="l"/>
            <a:r>
              <a:rPr lang="en-US" sz="7200" b="0" dirty="0">
                <a:solidFill>
                  <a:srgbClr val="8B2132"/>
                </a:solidFill>
                <a:effectLst/>
                <a:latin typeface="Helvetica" panose="020B0604020202020204" pitchFamily="34" charset="0"/>
                <a:cs typeface="Helvetica" panose="020B0604020202020204" pitchFamily="34" charset="0"/>
              </a:rPr>
              <a:t>Data Source: A.R. Hourie Enterprises</a:t>
            </a:r>
          </a:p>
          <a:p>
            <a:pPr algn="l"/>
            <a:r>
              <a:rPr lang="en-US" sz="7200" b="0" dirty="0">
                <a:effectLst/>
                <a:latin typeface="Helvetica" panose="020B0604020202020204" pitchFamily="34" charset="0"/>
                <a:cs typeface="Helvetica" panose="020B0604020202020204" pitchFamily="34" charset="0"/>
              </a:rPr>
              <a:t>- Partnership: Established through advisors (Dr. Malak, Dr. Demachkieh)</a:t>
            </a:r>
          </a:p>
          <a:p>
            <a:pPr algn="l"/>
            <a:r>
              <a:rPr lang="en-US" sz="7200" b="0" dirty="0">
                <a:effectLst/>
                <a:latin typeface="Helvetica" panose="020B0604020202020204" pitchFamily="34" charset="0"/>
                <a:cs typeface="Helvetica" panose="020B0604020202020204" pitchFamily="34" charset="0"/>
              </a:rPr>
              <a:t>- Company: One of the largest construction companies in the region</a:t>
            </a:r>
          </a:p>
          <a:p>
            <a:pPr algn="l"/>
            <a:r>
              <a:rPr lang="en-US" sz="7200" b="0" dirty="0">
                <a:effectLst/>
                <a:latin typeface="Helvetica" panose="020B0604020202020204" pitchFamily="34" charset="0"/>
                <a:cs typeface="Helvetica" panose="020B0604020202020204" pitchFamily="34" charset="0"/>
              </a:rPr>
              <a:t>- Scope: Multiple project datasets from Middle East region</a:t>
            </a:r>
          </a:p>
          <a:p>
            <a:pPr algn="l"/>
            <a:r>
              <a:rPr lang="en-US" sz="7200" b="0" dirty="0">
                <a:effectLst/>
                <a:latin typeface="Helvetica" panose="020B0604020202020204" pitchFamily="34" charset="0"/>
                <a:cs typeface="Helvetica" panose="020B0604020202020204" pitchFamily="34" charset="0"/>
              </a:rPr>
              <a:t>- Status: Data acquisition and processing in progress</a:t>
            </a:r>
          </a:p>
          <a:p>
            <a:pPr algn="l"/>
            <a:br>
              <a:rPr lang="en-US" sz="7200" b="0" dirty="0">
                <a:solidFill>
                  <a:srgbClr val="8B2132"/>
                </a:solidFill>
                <a:effectLst/>
                <a:latin typeface="Helvetica" panose="020B0604020202020204" pitchFamily="34" charset="0"/>
                <a:cs typeface="Helvetica" panose="020B0604020202020204" pitchFamily="34" charset="0"/>
              </a:rPr>
            </a:br>
            <a:endParaRPr lang="en-US" sz="7200" dirty="0">
              <a:latin typeface="Helvetica" panose="020B0604020202020204" pitchFamily="34" charset="0"/>
              <a:cs typeface="Helvetica" panose="020B0604020202020204" pitchFamily="34" charset="0"/>
            </a:endParaRPr>
          </a:p>
          <a:p>
            <a:br>
              <a:rPr lang="en-US" sz="1600" b="0" dirty="0">
                <a:solidFill>
                  <a:srgbClr val="CCCCCC"/>
                </a:solidFill>
                <a:effectLst/>
                <a:latin typeface="Consolas" panose="020B0609020204030204" pitchFamily="49" charset="0"/>
              </a:rPr>
            </a:br>
            <a:endParaRPr lang="en-US" sz="1600" b="0" dirty="0">
              <a:solidFill>
                <a:srgbClr val="CCCCCC"/>
              </a:solidFill>
              <a:effectLst/>
              <a:latin typeface="Consolas" panose="020B0609020204030204" pitchFamily="49" charset="0"/>
            </a:endParaRPr>
          </a:p>
          <a:p>
            <a:pPr algn="l"/>
            <a:endParaRPr lang="en-US" sz="1600" b="0" dirty="0">
              <a:effectLst/>
              <a:latin typeface="Helvetica" panose="020B0604020202020204" pitchFamily="34" charset="0"/>
              <a:cs typeface="Helvetica" panose="020B0604020202020204" pitchFamily="34" charset="0"/>
            </a:endParaRPr>
          </a:p>
          <a:p>
            <a:endParaRPr lang="fr-FR" sz="1600" dirty="0"/>
          </a:p>
        </p:txBody>
      </p:sp>
      <p:sp>
        <p:nvSpPr>
          <p:cNvPr id="6" name="Subtitle 2">
            <a:extLst>
              <a:ext uri="{FF2B5EF4-FFF2-40B4-BE49-F238E27FC236}">
                <a16:creationId xmlns:a16="http://schemas.microsoft.com/office/drawing/2014/main" id="{92ACDE6A-0146-4011-8D9B-3EAD81F1AB9A}"/>
              </a:ext>
            </a:extLst>
          </p:cNvPr>
          <p:cNvSpPr txBox="1">
            <a:spLocks/>
          </p:cNvSpPr>
          <p:nvPr/>
        </p:nvSpPr>
        <p:spPr>
          <a:xfrm>
            <a:off x="516673" y="3710568"/>
            <a:ext cx="8616175" cy="22804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0" dirty="0">
                <a:solidFill>
                  <a:srgbClr val="8B2132"/>
                </a:solidFill>
                <a:effectLst/>
                <a:latin typeface="Helvetica" panose="020B0604020202020204" pitchFamily="34" charset="0"/>
                <a:cs typeface="Helvetica" panose="020B0604020202020204" pitchFamily="34" charset="0"/>
              </a:rPr>
              <a:t>Data Collection Process:</a:t>
            </a:r>
          </a:p>
          <a:p>
            <a:pPr algn="l"/>
            <a:r>
              <a:rPr lang="en-US" sz="1800" b="0" dirty="0">
                <a:effectLst/>
                <a:latin typeface="Helvetica" panose="020B0604020202020204" pitchFamily="34" charset="0"/>
                <a:cs typeface="Helvetica" panose="020B0604020202020204" pitchFamily="34" charset="0"/>
              </a:rPr>
              <a:t>1. Initial Meeting: Expert input from Ms. Karen El Zind</a:t>
            </a:r>
          </a:p>
          <a:p>
            <a:pPr algn="l"/>
            <a:r>
              <a:rPr lang="en-US" sz="1800" b="0" dirty="0">
                <a:effectLst/>
                <a:latin typeface="Helvetica" panose="020B0604020202020204" pitchFamily="34" charset="0"/>
                <a:cs typeface="Helvetica" panose="020B0604020202020204" pitchFamily="34" charset="0"/>
              </a:rPr>
              <a:t>2. Data Requirements: Identified needed parameters</a:t>
            </a:r>
          </a:p>
          <a:p>
            <a:pPr algn="l"/>
            <a:r>
              <a:rPr lang="en-US" sz="1800" b="0" dirty="0">
                <a:effectLst/>
                <a:latin typeface="Helvetica" panose="020B0604020202020204" pitchFamily="34" charset="0"/>
                <a:cs typeface="Helvetica" panose="020B0604020202020204" pitchFamily="34" charset="0"/>
              </a:rPr>
              <a:t>3. Data Sharing Agreement: Confidentiality and ethics compliance</a:t>
            </a:r>
          </a:p>
          <a:p>
            <a:pPr algn="l"/>
            <a:r>
              <a:rPr lang="en-US" sz="1800" b="0" dirty="0">
                <a:effectLst/>
                <a:latin typeface="Helvetica" panose="020B0604020202020204" pitchFamily="34" charset="0"/>
                <a:cs typeface="Helvetica" panose="020B0604020202020204" pitchFamily="34" charset="0"/>
              </a:rPr>
              <a:t>4. Data Processing: Cleaning, validation, and formatting</a:t>
            </a:r>
          </a:p>
          <a:p>
            <a:pPr algn="l"/>
            <a:r>
              <a:rPr lang="en-US" sz="1800" b="0" dirty="0">
                <a:effectLst/>
                <a:latin typeface="Helvetica" panose="020B0604020202020204" pitchFamily="34" charset="0"/>
                <a:cs typeface="Helvetica" panose="020B0604020202020204" pitchFamily="34" charset="0"/>
              </a:rPr>
              <a:t>5. Integration: Merging with synthetic dataset</a:t>
            </a:r>
          </a:p>
          <a:p>
            <a:endParaRPr lang="fr-FR" dirty="0"/>
          </a:p>
        </p:txBody>
      </p:sp>
    </p:spTree>
    <p:extLst>
      <p:ext uri="{BB962C8B-B14F-4D97-AF65-F5344CB8AC3E}">
        <p14:creationId xmlns:p14="http://schemas.microsoft.com/office/powerpoint/2010/main" val="3585601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0187A-25C1-4745-A7BA-B03193306F03}"/>
              </a:ext>
            </a:extLst>
          </p:cNvPr>
          <p:cNvSpPr>
            <a:spLocks noGrp="1"/>
          </p:cNvSpPr>
          <p:nvPr>
            <p:ph type="ctrTitle"/>
          </p:nvPr>
        </p:nvSpPr>
        <p:spPr>
          <a:xfrm>
            <a:off x="356839" y="399007"/>
            <a:ext cx="11760819" cy="1262526"/>
          </a:xfrm>
        </p:spPr>
        <p:txBody>
          <a:bodyPr>
            <a:normAutofit fontScale="90000"/>
          </a:bodyPr>
          <a:lstStyle/>
          <a:p>
            <a:pPr algn="l"/>
            <a:r>
              <a:rPr lang="en-US" sz="4400" dirty="0">
                <a:solidFill>
                  <a:srgbClr val="8B2132"/>
                </a:solidFill>
                <a:effectLst/>
                <a:latin typeface="Helvetica" panose="020B0604020202020204" pitchFamily="34" charset="0"/>
                <a:cs typeface="Helvetica" panose="020B0604020202020204" pitchFamily="34" charset="0"/>
              </a:rPr>
              <a:t>Hourie Data Acquisition</a:t>
            </a:r>
            <a:br>
              <a:rPr lang="en-US" sz="4400" dirty="0">
                <a:solidFill>
                  <a:srgbClr val="8B2132"/>
                </a:solidFill>
                <a:effectLst/>
                <a:latin typeface="Helvetica" panose="020B0604020202020204" pitchFamily="34" charset="0"/>
                <a:cs typeface="Helvetica" panose="020B0604020202020204" pitchFamily="34" charset="0"/>
              </a:rPr>
            </a:br>
            <a:endParaRPr lang="fr-FR" sz="4400" dirty="0"/>
          </a:p>
        </p:txBody>
      </p:sp>
      <p:sp>
        <p:nvSpPr>
          <p:cNvPr id="4" name="Subtitle 2">
            <a:extLst>
              <a:ext uri="{FF2B5EF4-FFF2-40B4-BE49-F238E27FC236}">
                <a16:creationId xmlns:a16="http://schemas.microsoft.com/office/drawing/2014/main" id="{DA7F66D7-551B-4B18-B88A-0791A9274185}"/>
              </a:ext>
            </a:extLst>
          </p:cNvPr>
          <p:cNvSpPr txBox="1">
            <a:spLocks/>
          </p:cNvSpPr>
          <p:nvPr/>
        </p:nvSpPr>
        <p:spPr>
          <a:xfrm>
            <a:off x="423747" y="2235819"/>
            <a:ext cx="5813502" cy="238636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0" dirty="0">
                <a:solidFill>
                  <a:srgbClr val="8B2132"/>
                </a:solidFill>
                <a:effectLst/>
                <a:latin typeface="Helvetica" panose="020B0604020202020204" pitchFamily="34" charset="0"/>
                <a:cs typeface="Helvetica" panose="020B0604020202020204" pitchFamily="34" charset="0"/>
              </a:rPr>
              <a:t>Expected Data Characteristics:</a:t>
            </a:r>
          </a:p>
          <a:p>
            <a:pPr algn="l"/>
            <a:r>
              <a:rPr lang="en-US" sz="1800" b="0" dirty="0">
                <a:effectLst/>
                <a:latin typeface="Helvetica" panose="020B0604020202020204" pitchFamily="34" charset="0"/>
                <a:cs typeface="Helvetica" panose="020B0604020202020204" pitchFamily="34" charset="0"/>
              </a:rPr>
              <a:t>- Geographic Diversity: Projects across Middle East</a:t>
            </a:r>
          </a:p>
          <a:p>
            <a:pPr algn="l"/>
            <a:r>
              <a:rPr lang="en-US" sz="1800" b="0" dirty="0">
                <a:effectLst/>
                <a:latin typeface="Helvetica" panose="020B0604020202020204" pitchFamily="34" charset="0"/>
                <a:cs typeface="Helvetica" panose="020B0604020202020204" pitchFamily="34" charset="0"/>
              </a:rPr>
              <a:t>- Project Types: Residential and commercial buildings</a:t>
            </a:r>
          </a:p>
          <a:p>
            <a:pPr algn="l"/>
            <a:r>
              <a:rPr lang="en-US" sz="1800" b="0" dirty="0">
                <a:effectLst/>
                <a:latin typeface="Helvetica" panose="020B0604020202020204" pitchFamily="34" charset="0"/>
                <a:cs typeface="Helvetica" panose="020B0604020202020204" pitchFamily="34" charset="0"/>
              </a:rPr>
              <a:t>- Time Period: Recent projects (last 5-10 years)</a:t>
            </a:r>
          </a:p>
          <a:p>
            <a:pPr algn="l"/>
            <a:r>
              <a:rPr lang="en-US" sz="1800" b="0" dirty="0">
                <a:effectLst/>
                <a:latin typeface="Helvetica" panose="020B0604020202020204" pitchFamily="34" charset="0"/>
                <a:cs typeface="Helvetica" panose="020B0604020202020204" pitchFamily="34" charset="0"/>
              </a:rPr>
              <a:t>- Parameters: All 16 features + actual waste percentages</a:t>
            </a:r>
          </a:p>
          <a:p>
            <a:pPr algn="l"/>
            <a:r>
              <a:rPr lang="en-US" sz="1800" b="0" dirty="0">
                <a:effectLst/>
                <a:latin typeface="Helvetica" panose="020B0604020202020204" pitchFamily="34" charset="0"/>
                <a:cs typeface="Helvetica" panose="020B0604020202020204" pitchFamily="34" charset="0"/>
              </a:rPr>
              <a:t>- Volume: Multiple projects (exact number TBD)</a:t>
            </a:r>
          </a:p>
          <a:p>
            <a:pPr algn="l"/>
            <a:endParaRPr lang="fr-FR" sz="1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334913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07EBA-3352-4A1A-A60E-7241518A0096}"/>
              </a:ext>
            </a:extLst>
          </p:cNvPr>
          <p:cNvSpPr>
            <a:spLocks noGrp="1"/>
          </p:cNvSpPr>
          <p:nvPr>
            <p:ph type="ctrTitle"/>
          </p:nvPr>
        </p:nvSpPr>
        <p:spPr>
          <a:xfrm>
            <a:off x="568712" y="141056"/>
            <a:ext cx="10099288" cy="1655763"/>
          </a:xfrm>
        </p:spPr>
        <p:txBody>
          <a:bodyPr>
            <a:normAutofit/>
          </a:bodyPr>
          <a:lstStyle/>
          <a:p>
            <a:pPr algn="l"/>
            <a:r>
              <a:rPr lang="en-US" sz="4400" dirty="0">
                <a:solidFill>
                  <a:srgbClr val="8B2132"/>
                </a:solidFill>
                <a:effectLst/>
                <a:latin typeface="Helvetica" panose="020B0604020202020204" pitchFamily="34" charset="0"/>
                <a:cs typeface="Helvetica" panose="020B0604020202020204" pitchFamily="34" charset="0"/>
              </a:rPr>
              <a:t>Hourie Data Acquisition</a:t>
            </a:r>
            <a:br>
              <a:rPr lang="en-US" sz="4400" dirty="0">
                <a:solidFill>
                  <a:srgbClr val="8B2132"/>
                </a:solidFill>
                <a:effectLst/>
                <a:latin typeface="Helvetica" panose="020B0604020202020204" pitchFamily="34" charset="0"/>
                <a:cs typeface="Helvetica" panose="020B0604020202020204" pitchFamily="34" charset="0"/>
              </a:rPr>
            </a:br>
            <a:endParaRPr lang="fr-FR" sz="4400" dirty="0"/>
          </a:p>
        </p:txBody>
      </p:sp>
      <p:sp>
        <p:nvSpPr>
          <p:cNvPr id="3" name="Subtitle 2">
            <a:extLst>
              <a:ext uri="{FF2B5EF4-FFF2-40B4-BE49-F238E27FC236}">
                <a16:creationId xmlns:a16="http://schemas.microsoft.com/office/drawing/2014/main" id="{9847C62E-3809-4E19-9AD5-8D532592D4A0}"/>
              </a:ext>
            </a:extLst>
          </p:cNvPr>
          <p:cNvSpPr>
            <a:spLocks noGrp="1"/>
          </p:cNvSpPr>
          <p:nvPr>
            <p:ph type="subTitle" idx="1"/>
          </p:nvPr>
        </p:nvSpPr>
        <p:spPr>
          <a:xfrm>
            <a:off x="568712" y="1796819"/>
            <a:ext cx="9630937" cy="4415883"/>
          </a:xfrm>
        </p:spPr>
        <p:txBody>
          <a:bodyPr>
            <a:normAutofit/>
          </a:bodyPr>
          <a:lstStyle/>
          <a:p>
            <a:pPr algn="l"/>
            <a:r>
              <a:rPr lang="fr-FR" sz="1800" dirty="0">
                <a:solidFill>
                  <a:srgbClr val="8B2132"/>
                </a:solidFill>
                <a:latin typeface="Helvetica" panose="020B0604020202020204" pitchFamily="34" charset="0"/>
                <a:cs typeface="Helvetica" panose="020B0604020202020204" pitchFamily="34" charset="0"/>
              </a:rPr>
              <a:t>Implementation Plan:</a:t>
            </a:r>
          </a:p>
          <a:p>
            <a:pPr algn="l"/>
            <a:r>
              <a:rPr lang="fr-FR" sz="1800" dirty="0">
                <a:latin typeface="Helvetica" panose="020B0604020202020204" pitchFamily="34" charset="0"/>
                <a:cs typeface="Helvetica" panose="020B0604020202020204" pitchFamily="34" charset="0"/>
              </a:rPr>
              <a:t>1. Data Validation: Quality checks and outlier detection</a:t>
            </a:r>
          </a:p>
          <a:p>
            <a:pPr algn="l"/>
            <a:r>
              <a:rPr lang="fr-FR" sz="1800" dirty="0">
                <a:latin typeface="Helvetica" panose="020B0604020202020204" pitchFamily="34" charset="0"/>
                <a:cs typeface="Helvetica" panose="020B0604020202020204" pitchFamily="34" charset="0"/>
              </a:rPr>
              <a:t>2. Feature Alignment: Ensure compatibility with model</a:t>
            </a:r>
          </a:p>
          <a:p>
            <a:pPr algn="l"/>
            <a:r>
              <a:rPr lang="fr-FR" sz="1800" dirty="0">
                <a:latin typeface="Helvetica" panose="020B0604020202020204" pitchFamily="34" charset="0"/>
                <a:cs typeface="Helvetica" panose="020B0604020202020204" pitchFamily="34" charset="0"/>
              </a:rPr>
              <a:t>3. Model Retraining: Incorporate real data into training set</a:t>
            </a:r>
          </a:p>
          <a:p>
            <a:pPr algn="l"/>
            <a:r>
              <a:rPr lang="fr-FR" sz="1800" dirty="0">
                <a:latin typeface="Helvetica" panose="020B0604020202020204" pitchFamily="34" charset="0"/>
                <a:cs typeface="Helvetica" panose="020B0604020202020204" pitchFamily="34" charset="0"/>
              </a:rPr>
              <a:t>4. Performance Validation: Compare real vs synthetic performance</a:t>
            </a:r>
          </a:p>
          <a:p>
            <a:pPr algn="l"/>
            <a:r>
              <a:rPr lang="fr-FR" sz="1800" dirty="0">
                <a:latin typeface="Helvetica" panose="020B0604020202020204" pitchFamily="34" charset="0"/>
                <a:cs typeface="Helvetica" panose="020B0604020202020204" pitchFamily="34" charset="0"/>
              </a:rPr>
              <a:t>5. Continuous Improvement: Iterative model updates</a:t>
            </a:r>
          </a:p>
          <a:p>
            <a:pPr algn="l"/>
            <a:br>
              <a:rPr lang="fr-FR" sz="1800" dirty="0">
                <a:solidFill>
                  <a:srgbClr val="8B2132"/>
                </a:solidFill>
                <a:latin typeface="Helvetica" panose="020B0604020202020204" pitchFamily="34" charset="0"/>
                <a:cs typeface="Helvetica" panose="020B0604020202020204" pitchFamily="34" charset="0"/>
              </a:rPr>
            </a:br>
            <a:r>
              <a:rPr lang="fr-FR" sz="1800" dirty="0">
                <a:solidFill>
                  <a:srgbClr val="8B2132"/>
                </a:solidFill>
                <a:latin typeface="Helvetica" panose="020B0604020202020204" pitchFamily="34" charset="0"/>
                <a:cs typeface="Helvetica" panose="020B0604020202020204" pitchFamily="34" charset="0"/>
              </a:rPr>
              <a:t>Benefits:</a:t>
            </a:r>
          </a:p>
          <a:p>
            <a:pPr algn="l"/>
            <a:r>
              <a:rPr lang="fr-FR" sz="1800" dirty="0">
                <a:latin typeface="Helvetica" panose="020B0604020202020204" pitchFamily="34" charset="0"/>
                <a:cs typeface="Helvetica" panose="020B0604020202020204" pitchFamily="34" charset="0"/>
              </a:rPr>
              <a:t>- Improved model accuracy with real-world patterns</a:t>
            </a:r>
          </a:p>
          <a:p>
            <a:pPr algn="l"/>
            <a:r>
              <a:rPr lang="fr-FR" sz="1800" dirty="0">
                <a:latin typeface="Helvetica" panose="020B0604020202020204" pitchFamily="34" charset="0"/>
                <a:cs typeface="Helvetica" panose="020B0604020202020204" pitchFamily="34" charset="0"/>
              </a:rPr>
              <a:t>- Validation of synthetic data assumptions</a:t>
            </a:r>
          </a:p>
          <a:p>
            <a:pPr algn="l"/>
            <a:r>
              <a:rPr lang="fr-FR" sz="1800" dirty="0">
                <a:latin typeface="Helvetica" panose="020B0604020202020204" pitchFamily="34" charset="0"/>
                <a:cs typeface="Helvetica" panose="020B0604020202020204" pitchFamily="34" charset="0"/>
              </a:rPr>
              <a:t>- Regional-specific calibration</a:t>
            </a:r>
          </a:p>
          <a:p>
            <a:pPr algn="l"/>
            <a:r>
              <a:rPr lang="fr-FR" sz="1800" dirty="0">
                <a:latin typeface="Helvetica" panose="020B0604020202020204" pitchFamily="34" charset="0"/>
                <a:cs typeface="Helvetica" panose="020B0604020202020204" pitchFamily="34" charset="0"/>
              </a:rPr>
              <a:t>- Enhanced model credibility</a:t>
            </a:r>
          </a:p>
        </p:txBody>
      </p:sp>
    </p:spTree>
    <p:extLst>
      <p:ext uri="{BB962C8B-B14F-4D97-AF65-F5344CB8AC3E}">
        <p14:creationId xmlns:p14="http://schemas.microsoft.com/office/powerpoint/2010/main" val="3596963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AAFD4-94EB-498D-A647-76A75F58AB75}"/>
              </a:ext>
            </a:extLst>
          </p:cNvPr>
          <p:cNvSpPr>
            <a:spLocks noGrp="1"/>
          </p:cNvSpPr>
          <p:nvPr>
            <p:ph type="ctrTitle"/>
          </p:nvPr>
        </p:nvSpPr>
        <p:spPr>
          <a:xfrm>
            <a:off x="252761" y="189571"/>
            <a:ext cx="11686478" cy="1505415"/>
          </a:xfrm>
        </p:spPr>
        <p:txBody>
          <a:bodyPr>
            <a:normAutofit/>
          </a:bodyPr>
          <a:lstStyle/>
          <a:p>
            <a:pPr algn="l"/>
            <a:r>
              <a:rPr lang="fr-FR" sz="4400" dirty="0">
                <a:solidFill>
                  <a:srgbClr val="8B2132"/>
                </a:solidFill>
                <a:effectLst/>
                <a:latin typeface="Helvetica" panose="020B0604020202020204" pitchFamily="34" charset="0"/>
                <a:cs typeface="Helvetica" panose="020B0604020202020204" pitchFamily="34" charset="0"/>
              </a:rPr>
              <a:t>Features Summary</a:t>
            </a:r>
            <a:br>
              <a:rPr lang="fr-FR" sz="4400" dirty="0">
                <a:solidFill>
                  <a:srgbClr val="8B2132"/>
                </a:solidFill>
                <a:effectLst/>
                <a:latin typeface="Helvetica" panose="020B0604020202020204" pitchFamily="34" charset="0"/>
                <a:cs typeface="Helvetica" panose="020B0604020202020204" pitchFamily="34" charset="0"/>
              </a:rPr>
            </a:br>
            <a:endParaRPr lang="fr-FR" sz="44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D30293CC-AFDC-42C9-A6DD-7E9CD9FAD03C}"/>
              </a:ext>
            </a:extLst>
          </p:cNvPr>
          <p:cNvSpPr>
            <a:spLocks noGrp="1"/>
          </p:cNvSpPr>
          <p:nvPr>
            <p:ph type="subTitle" idx="1"/>
          </p:nvPr>
        </p:nvSpPr>
        <p:spPr>
          <a:xfrm>
            <a:off x="382858" y="1694986"/>
            <a:ext cx="5300546" cy="4471638"/>
          </a:xfrm>
        </p:spPr>
        <p:txBody>
          <a:bodyPr>
            <a:normAutofit/>
          </a:bodyPr>
          <a:lstStyle/>
          <a:p>
            <a:pPr algn="l"/>
            <a:r>
              <a:rPr lang="fr-FR" sz="1800" b="0" dirty="0">
                <a:solidFill>
                  <a:srgbClr val="8B2132"/>
                </a:solidFill>
                <a:effectLst/>
                <a:latin typeface="Helvetica" panose="020B0604020202020204" pitchFamily="34" charset="0"/>
                <a:cs typeface="Helvetica" panose="020B0604020202020204" pitchFamily="34" charset="0"/>
              </a:rPr>
              <a:t>3.2 Model Explainability and Transparency</a:t>
            </a:r>
          </a:p>
          <a:p>
            <a:pPr algn="l"/>
            <a:r>
              <a:rPr lang="fr-FR" sz="1800" b="0" dirty="0">
                <a:effectLst/>
                <a:latin typeface="Helvetica" panose="020B0604020202020204" pitchFamily="34" charset="0"/>
                <a:cs typeface="Helvetica" panose="020B0604020202020204" pitchFamily="34" charset="0"/>
              </a:rPr>
              <a:t>- SHAP-based feature importance</a:t>
            </a:r>
          </a:p>
          <a:p>
            <a:pPr algn="l"/>
            <a:r>
              <a:rPr lang="fr-FR" sz="1800" b="0" dirty="0">
                <a:effectLst/>
                <a:latin typeface="Helvetica" panose="020B0604020202020204" pitchFamily="34" charset="0"/>
                <a:cs typeface="Helvetica" panose="020B0604020202020204" pitchFamily="34" charset="0"/>
              </a:rPr>
              <a:t>- Top 5 waste-driving factors per prediction</a:t>
            </a:r>
          </a:p>
          <a:p>
            <a:pPr algn="l"/>
            <a:r>
              <a:rPr lang="fr-FR" sz="1800" b="0" dirty="0">
                <a:effectLst/>
                <a:latin typeface="Helvetica" panose="020B0604020202020204" pitchFamily="34" charset="0"/>
                <a:cs typeface="Helvetica" panose="020B0604020202020204" pitchFamily="34" charset="0"/>
              </a:rPr>
              <a:t>- Identifies actionable parameters for waste reduction</a:t>
            </a:r>
          </a:p>
          <a:p>
            <a:pPr algn="l"/>
            <a:br>
              <a:rPr lang="fr-FR" sz="1800" b="0" dirty="0">
                <a:solidFill>
                  <a:srgbClr val="8B2132"/>
                </a:solidFill>
                <a:effectLst/>
                <a:latin typeface="Helvetica" panose="020B0604020202020204" pitchFamily="34" charset="0"/>
                <a:cs typeface="Helvetica" panose="020B0604020202020204" pitchFamily="34" charset="0"/>
              </a:rPr>
            </a:br>
            <a:r>
              <a:rPr lang="fr-FR" sz="1800" b="0" dirty="0">
                <a:solidFill>
                  <a:srgbClr val="8B2132"/>
                </a:solidFill>
                <a:effectLst/>
                <a:latin typeface="Helvetica" panose="020B0604020202020204" pitchFamily="34" charset="0"/>
                <a:cs typeface="Helvetica" panose="020B0604020202020204" pitchFamily="34" charset="0"/>
              </a:rPr>
              <a:t>3.4 Cost and CO₂ Impact Estimation</a:t>
            </a:r>
          </a:p>
          <a:p>
            <a:pPr algn="l"/>
            <a:r>
              <a:rPr lang="fr-FR" sz="1800" b="0" dirty="0">
                <a:effectLst/>
                <a:latin typeface="Helvetica" panose="020B0604020202020204" pitchFamily="34" charset="0"/>
                <a:cs typeface="Helvetica" panose="020B0604020202020204" pitchFamily="34" charset="0"/>
              </a:rPr>
              <a:t>- Financial impact: Waste cost calculation ($/kg)</a:t>
            </a:r>
          </a:p>
          <a:p>
            <a:pPr algn="l"/>
            <a:r>
              <a:rPr lang="fr-FR" sz="1800" b="0" dirty="0">
                <a:effectLst/>
                <a:latin typeface="Helvetica" panose="020B0604020202020204" pitchFamily="34" charset="0"/>
                <a:cs typeface="Helvetica" panose="020B0604020202020204" pitchFamily="34" charset="0"/>
              </a:rPr>
              <a:t>- Environmental impact: CO₂ emissions (kg CO₂/kg steel)</a:t>
            </a:r>
          </a:p>
          <a:p>
            <a:pPr algn="l"/>
            <a:r>
              <a:rPr lang="fr-FR" sz="1800" b="0" dirty="0">
                <a:effectLst/>
                <a:latin typeface="Helvetica" panose="020B0604020202020204" pitchFamily="34" charset="0"/>
                <a:cs typeface="Helvetica" panose="020B0604020202020204" pitchFamily="34" charset="0"/>
              </a:rPr>
              <a:t>- Potential savings: Cost and CO₂ reduction scenarios</a:t>
            </a:r>
          </a:p>
          <a:p>
            <a:endParaRPr lang="fr-FR" dirty="0"/>
          </a:p>
        </p:txBody>
      </p:sp>
      <p:sp>
        <p:nvSpPr>
          <p:cNvPr id="4" name="Subtitle 2">
            <a:extLst>
              <a:ext uri="{FF2B5EF4-FFF2-40B4-BE49-F238E27FC236}">
                <a16:creationId xmlns:a16="http://schemas.microsoft.com/office/drawing/2014/main" id="{8CC62FC8-458A-4AE6-902D-FF3A6797D74A}"/>
              </a:ext>
            </a:extLst>
          </p:cNvPr>
          <p:cNvSpPr txBox="1">
            <a:spLocks/>
          </p:cNvSpPr>
          <p:nvPr/>
        </p:nvSpPr>
        <p:spPr>
          <a:xfrm>
            <a:off x="6248399" y="1694986"/>
            <a:ext cx="5125844" cy="395868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FR" sz="1800" b="0" dirty="0">
                <a:solidFill>
                  <a:srgbClr val="8B2132"/>
                </a:solidFill>
                <a:effectLst/>
                <a:latin typeface="Helvetica" panose="020B0604020202020204" pitchFamily="34" charset="0"/>
                <a:cs typeface="Helvetica" panose="020B0604020202020204" pitchFamily="34" charset="0"/>
              </a:rPr>
              <a:t>3.5 Prediction Reliability Indicator</a:t>
            </a:r>
          </a:p>
          <a:p>
            <a:pPr algn="l"/>
            <a:r>
              <a:rPr lang="fr-FR" sz="1800" b="0" dirty="0">
                <a:effectLst/>
                <a:latin typeface="Helvetica" panose="020B0604020202020204" pitchFamily="34" charset="0"/>
                <a:cs typeface="Helvetica" panose="020B0604020202020204" pitchFamily="34" charset="0"/>
              </a:rPr>
              <a:t>- k-NN based confidence scoring</a:t>
            </a:r>
          </a:p>
          <a:p>
            <a:pPr algn="l"/>
            <a:r>
              <a:rPr lang="fr-FR" sz="1800" b="0" dirty="0">
                <a:effectLst/>
                <a:latin typeface="Helvetica" panose="020B0604020202020204" pitchFamily="34" charset="0"/>
                <a:cs typeface="Helvetica" panose="020B0604020202020204" pitchFamily="34" charset="0"/>
              </a:rPr>
              <a:t>- High/Medium/Low reliability levels</a:t>
            </a:r>
          </a:p>
          <a:p>
            <a:pPr algn="l"/>
            <a:r>
              <a:rPr lang="fr-FR" sz="1800" b="0" dirty="0">
                <a:effectLst/>
                <a:latin typeface="Helvetica" panose="020B0604020202020204" pitchFamily="34" charset="0"/>
                <a:cs typeface="Helvetica" panose="020B0604020202020204" pitchFamily="34" charset="0"/>
              </a:rPr>
              <a:t>- Transparent </a:t>
            </a:r>
            <a:r>
              <a:rPr lang="fr-FR" sz="1800" b="0" dirty="0" err="1">
                <a:effectLst/>
                <a:latin typeface="Helvetica" panose="020B0604020202020204" pitchFamily="34" charset="0"/>
                <a:cs typeface="Helvetica" panose="020B0604020202020204" pitchFamily="34" charset="0"/>
              </a:rPr>
              <a:t>uncertainty</a:t>
            </a:r>
            <a:r>
              <a:rPr lang="fr-FR" sz="1800" b="0" dirty="0">
                <a:effectLst/>
                <a:latin typeface="Helvetica" panose="020B0604020202020204" pitchFamily="34" charset="0"/>
                <a:cs typeface="Helvetica" panose="020B0604020202020204" pitchFamily="34" charset="0"/>
              </a:rPr>
              <a:t> communication</a:t>
            </a:r>
          </a:p>
          <a:p>
            <a:pPr algn="l"/>
            <a:br>
              <a:rPr lang="fr-FR" sz="1800" b="0" dirty="0">
                <a:solidFill>
                  <a:srgbClr val="8B2132"/>
                </a:solidFill>
                <a:effectLst/>
                <a:latin typeface="Helvetica" panose="020B0604020202020204" pitchFamily="34" charset="0"/>
                <a:cs typeface="Helvetica" panose="020B0604020202020204" pitchFamily="34" charset="0"/>
              </a:rPr>
            </a:br>
            <a:r>
              <a:rPr lang="fr-FR" sz="1800" b="0" dirty="0">
                <a:solidFill>
                  <a:srgbClr val="8B2132"/>
                </a:solidFill>
                <a:effectLst/>
                <a:latin typeface="Helvetica" panose="020B0604020202020204" pitchFamily="34" charset="0"/>
                <a:cs typeface="Helvetica" panose="020B0604020202020204" pitchFamily="34" charset="0"/>
              </a:rPr>
              <a:t>3.6 Professional Web Application Interface</a:t>
            </a:r>
          </a:p>
          <a:p>
            <a:pPr algn="l"/>
            <a:r>
              <a:rPr lang="fr-FR" sz="1800" b="0" dirty="0">
                <a:effectLst/>
                <a:latin typeface="Helvetica" panose="020B0604020202020204" pitchFamily="34" charset="0"/>
                <a:cs typeface="Helvetica" panose="020B0604020202020204" pitchFamily="34" charset="0"/>
              </a:rPr>
              <a:t>- Modern, responsive design</a:t>
            </a:r>
          </a:p>
          <a:p>
            <a:pPr algn="l"/>
            <a:r>
              <a:rPr lang="fr-FR" sz="1800" b="0" dirty="0">
                <a:effectLst/>
                <a:latin typeface="Helvetica" panose="020B0604020202020204" pitchFamily="34" charset="0"/>
                <a:cs typeface="Helvetica" panose="020B0604020202020204" pitchFamily="34" charset="0"/>
              </a:rPr>
              <a:t>- Multiple pages (Landing, Prediction, About, Features)</a:t>
            </a:r>
          </a:p>
          <a:p>
            <a:pPr algn="l"/>
            <a:r>
              <a:rPr lang="fr-FR" sz="1800" b="0" dirty="0">
                <a:effectLst/>
                <a:latin typeface="Helvetica" panose="020B0604020202020204" pitchFamily="34" charset="0"/>
                <a:cs typeface="Helvetica" panose="020B0604020202020204" pitchFamily="34" charset="0"/>
              </a:rPr>
              <a:t>- Template-based architecture (Flask + Jinja2)</a:t>
            </a:r>
          </a:p>
          <a:p>
            <a:endParaRPr lang="fr-FR" dirty="0"/>
          </a:p>
        </p:txBody>
      </p:sp>
    </p:spTree>
    <p:extLst>
      <p:ext uri="{BB962C8B-B14F-4D97-AF65-F5344CB8AC3E}">
        <p14:creationId xmlns:p14="http://schemas.microsoft.com/office/powerpoint/2010/main" val="1773167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05D36-EA4E-492D-82C9-8B09356CB039}"/>
              </a:ext>
            </a:extLst>
          </p:cNvPr>
          <p:cNvSpPr>
            <a:spLocks noGrp="1"/>
          </p:cNvSpPr>
          <p:nvPr>
            <p:ph type="ctrTitle"/>
          </p:nvPr>
        </p:nvSpPr>
        <p:spPr>
          <a:xfrm>
            <a:off x="95715" y="122664"/>
            <a:ext cx="12000570" cy="1605776"/>
          </a:xfrm>
        </p:spPr>
        <p:txBody>
          <a:bodyPr>
            <a:normAutofit/>
          </a:bodyPr>
          <a:lstStyle/>
          <a:p>
            <a:pPr algn="l"/>
            <a:r>
              <a:rPr lang="en-US" sz="4400" dirty="0">
                <a:solidFill>
                  <a:srgbClr val="8B2132"/>
                </a:solidFill>
                <a:effectLst/>
                <a:latin typeface="Helvetica" panose="020B0604020202020204" pitchFamily="34" charset="0"/>
                <a:cs typeface="Helvetica" panose="020B0604020202020204" pitchFamily="34" charset="0"/>
              </a:rPr>
              <a:t>Technical Implementation: SHAP Explainability</a:t>
            </a:r>
            <a:br>
              <a:rPr lang="en-US" sz="4400" dirty="0">
                <a:solidFill>
                  <a:srgbClr val="CCCCCC"/>
                </a:solidFill>
                <a:effectLst/>
                <a:latin typeface="Helvetica" panose="020B0604020202020204" pitchFamily="34" charset="0"/>
                <a:cs typeface="Helvetica" panose="020B0604020202020204" pitchFamily="34" charset="0"/>
              </a:rPr>
            </a:br>
            <a:endParaRPr lang="fr-FR" sz="4400" dirty="0">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4B141563-13A4-41B9-9C13-BBC9CF79DB07}"/>
              </a:ext>
            </a:extLst>
          </p:cNvPr>
          <p:cNvSpPr>
            <a:spLocks noGrp="1"/>
          </p:cNvSpPr>
          <p:nvPr>
            <p:ph type="subTitle" idx="1"/>
          </p:nvPr>
        </p:nvSpPr>
        <p:spPr>
          <a:xfrm>
            <a:off x="220236" y="1806499"/>
            <a:ext cx="11555452" cy="4248614"/>
          </a:xfrm>
        </p:spPr>
        <p:txBody>
          <a:bodyPr>
            <a:normAutofit/>
          </a:bodyPr>
          <a:lstStyle/>
          <a:p>
            <a:pPr algn="l"/>
            <a:r>
              <a:rPr lang="en-US" sz="1800" b="0" dirty="0">
                <a:solidFill>
                  <a:srgbClr val="8B2132"/>
                </a:solidFill>
                <a:effectLst/>
                <a:latin typeface="Helvetica" panose="020B0604020202020204" pitchFamily="34" charset="0"/>
                <a:cs typeface="Helvetica" panose="020B0604020202020204" pitchFamily="34" charset="0"/>
              </a:rPr>
              <a:t>What is SHAP?</a:t>
            </a:r>
          </a:p>
          <a:p>
            <a:pPr algn="l"/>
            <a:r>
              <a:rPr lang="en-US" sz="1800" b="0" dirty="0">
                <a:effectLst/>
                <a:latin typeface="Helvetica" panose="020B0604020202020204" pitchFamily="34" charset="0"/>
                <a:cs typeface="Helvetica" panose="020B0604020202020204" pitchFamily="34" charset="0"/>
              </a:rPr>
              <a:t>- SHapley Additive exPlanations: Game-theoretic approach from cooperative game theory</a:t>
            </a:r>
          </a:p>
          <a:p>
            <a:pPr algn="l"/>
            <a:r>
              <a:rPr lang="en-US" sz="1800" b="0" dirty="0">
                <a:effectLst/>
                <a:latin typeface="Helvetica" panose="020B0604020202020204" pitchFamily="34" charset="0"/>
                <a:cs typeface="Helvetica" panose="020B0604020202020204" pitchFamily="34" charset="0"/>
              </a:rPr>
              <a:t>- Purpose: Explains how each feature contributes to prediction (not just which features matter, but by how much)</a:t>
            </a:r>
          </a:p>
          <a:p>
            <a:pPr algn="l"/>
            <a:r>
              <a:rPr lang="en-US" sz="1800" b="0" dirty="0">
                <a:effectLst/>
                <a:latin typeface="Helvetica" panose="020B0604020202020204" pitchFamily="34" charset="0"/>
                <a:cs typeface="Helvetica" panose="020B0604020202020204" pitchFamily="34" charset="0"/>
              </a:rPr>
              <a:t>- Method: TreeExplainer for tree-based models (fast, exact values)</a:t>
            </a:r>
          </a:p>
          <a:p>
            <a:pPr algn="l"/>
            <a:r>
              <a:rPr lang="en-US" sz="1800" b="0" dirty="0">
                <a:effectLst/>
                <a:latin typeface="Helvetica" panose="020B0604020202020204" pitchFamily="34" charset="0"/>
                <a:cs typeface="Helvetica" panose="020B0604020202020204" pitchFamily="34" charset="0"/>
              </a:rPr>
              <a:t>- Why Important: Engineers need to understand WHY the model predicts certain waste levels to make informed decisions</a:t>
            </a:r>
          </a:p>
          <a:p>
            <a:pPr algn="l"/>
            <a:br>
              <a:rPr lang="en-US" sz="1800" b="0" dirty="0">
                <a:solidFill>
                  <a:srgbClr val="8B2132"/>
                </a:solidFill>
                <a:effectLst/>
                <a:latin typeface="Helvetica" panose="020B0604020202020204" pitchFamily="34" charset="0"/>
                <a:cs typeface="Helvetica" panose="020B0604020202020204" pitchFamily="34" charset="0"/>
              </a:rPr>
            </a:br>
            <a:r>
              <a:rPr lang="en-US" sz="1800" b="0" dirty="0">
                <a:solidFill>
                  <a:srgbClr val="8B2132"/>
                </a:solidFill>
                <a:effectLst/>
                <a:latin typeface="Helvetica" panose="020B0604020202020204" pitchFamily="34" charset="0"/>
                <a:cs typeface="Helvetica" panose="020B0604020202020204" pitchFamily="34" charset="0"/>
              </a:rPr>
              <a:t>How SHAP Works:</a:t>
            </a:r>
          </a:p>
          <a:p>
            <a:pPr algn="l"/>
            <a:r>
              <a:rPr lang="en-US" sz="1800" b="0" dirty="0">
                <a:effectLst/>
                <a:latin typeface="Helvetica" panose="020B0604020202020204" pitchFamily="34" charset="0"/>
                <a:cs typeface="Helvetica" panose="020B0604020202020204" pitchFamily="34" charset="0"/>
              </a:rPr>
              <a:t>- Calculates the contribution of each feature by comparing predictions with and without that feature</a:t>
            </a:r>
          </a:p>
          <a:p>
            <a:pPr algn="l"/>
            <a:r>
              <a:rPr lang="en-US" sz="1800" b="0" dirty="0">
                <a:effectLst/>
                <a:latin typeface="Helvetica" panose="020B0604020202020204" pitchFamily="34" charset="0"/>
                <a:cs typeface="Helvetica" panose="020B0604020202020204" pitchFamily="34" charset="0"/>
              </a:rPr>
              <a:t>- Uses Shapley values from game theory: fairly distributes "credit" for the prediction among all features</a:t>
            </a:r>
          </a:p>
          <a:p>
            <a:pPr algn="l"/>
            <a:r>
              <a:rPr lang="en-US" sz="1800" b="0" dirty="0">
                <a:effectLst/>
                <a:latin typeface="Helvetica" panose="020B0604020202020204" pitchFamily="34" charset="0"/>
                <a:cs typeface="Helvetica" panose="020B0604020202020204" pitchFamily="34" charset="0"/>
              </a:rPr>
              <a:t>- For our model: Shows which of the 16 parameters drive waste up or down, and by how much</a:t>
            </a:r>
          </a:p>
          <a:p>
            <a:endParaRPr lang="fr-FR" dirty="0"/>
          </a:p>
        </p:txBody>
      </p:sp>
    </p:spTree>
    <p:extLst>
      <p:ext uri="{BB962C8B-B14F-4D97-AF65-F5344CB8AC3E}">
        <p14:creationId xmlns:p14="http://schemas.microsoft.com/office/powerpoint/2010/main" val="399936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D470-98D5-4BB4-A21A-32D08493EEA4}"/>
              </a:ext>
            </a:extLst>
          </p:cNvPr>
          <p:cNvSpPr>
            <a:spLocks noGrp="1"/>
          </p:cNvSpPr>
          <p:nvPr>
            <p:ph type="ctrTitle"/>
          </p:nvPr>
        </p:nvSpPr>
        <p:spPr>
          <a:xfrm>
            <a:off x="193288" y="144966"/>
            <a:ext cx="11805424" cy="951764"/>
          </a:xfrm>
        </p:spPr>
        <p:txBody>
          <a:bodyPr>
            <a:noAutofit/>
          </a:bodyPr>
          <a:lstStyle/>
          <a:p>
            <a:pPr algn="l"/>
            <a:r>
              <a:rPr lang="en-US" sz="4400" dirty="0">
                <a:solidFill>
                  <a:srgbClr val="8B2132"/>
                </a:solidFill>
                <a:effectLst/>
                <a:latin typeface="Helvetica" panose="020B0604020202020204" pitchFamily="34" charset="0"/>
                <a:cs typeface="Helvetica" panose="020B0604020202020204" pitchFamily="34" charset="0"/>
              </a:rPr>
              <a:t>Technical Implementation: SHAP Explainability</a:t>
            </a:r>
            <a:endParaRPr lang="fr-FR" sz="4400" dirty="0"/>
          </a:p>
        </p:txBody>
      </p:sp>
      <p:sp>
        <p:nvSpPr>
          <p:cNvPr id="4" name="Subtitle 2">
            <a:extLst>
              <a:ext uri="{FF2B5EF4-FFF2-40B4-BE49-F238E27FC236}">
                <a16:creationId xmlns:a16="http://schemas.microsoft.com/office/drawing/2014/main" id="{DF60F01F-C215-47D6-BA37-8E66D165D165}"/>
              </a:ext>
            </a:extLst>
          </p:cNvPr>
          <p:cNvSpPr txBox="1">
            <a:spLocks/>
          </p:cNvSpPr>
          <p:nvPr/>
        </p:nvSpPr>
        <p:spPr>
          <a:xfrm>
            <a:off x="211874" y="1572322"/>
            <a:ext cx="11786838" cy="57763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0" dirty="0">
                <a:solidFill>
                  <a:srgbClr val="8B2132"/>
                </a:solidFill>
                <a:effectLst/>
                <a:latin typeface="Helvetica" panose="020B0604020202020204" pitchFamily="34" charset="0"/>
                <a:cs typeface="Helvetica" panose="020B0604020202020204" pitchFamily="34" charset="0"/>
              </a:rPr>
              <a:t>Key Features:</a:t>
            </a:r>
          </a:p>
          <a:p>
            <a:pPr algn="l"/>
            <a:r>
              <a:rPr lang="en-US" sz="1800" b="0" dirty="0">
                <a:effectLst/>
                <a:latin typeface="Helvetica" panose="020B0604020202020204" pitchFamily="34" charset="0"/>
                <a:cs typeface="Helvetica" panose="020B0604020202020204" pitchFamily="34" charset="0"/>
              </a:rPr>
              <a:t>- Fast Calculation: O(n) complexity for tree models - completes in milliseconds</a:t>
            </a:r>
          </a:p>
          <a:p>
            <a:pPr algn="l"/>
            <a:r>
              <a:rPr lang="en-US" sz="1800" b="0" dirty="0">
                <a:effectLst/>
                <a:latin typeface="Helvetica" panose="020B0604020202020204" pitchFamily="34" charset="0"/>
                <a:cs typeface="Helvetica" panose="020B0604020202020204" pitchFamily="34" charset="0"/>
              </a:rPr>
              <a:t>- Exact Values: No approximation needed - mathematically precise Shapley values</a:t>
            </a:r>
          </a:p>
          <a:p>
            <a:pPr algn="l"/>
            <a:r>
              <a:rPr lang="en-US" sz="1800" b="0" dirty="0">
                <a:effectLst/>
                <a:latin typeface="Helvetica" panose="020B0604020202020204" pitchFamily="34" charset="0"/>
                <a:cs typeface="Helvetica" panose="020B0604020202020204" pitchFamily="34" charset="0"/>
              </a:rPr>
              <a:t>- Feature Ranking: Identifies most impactful factors (top 5 shown to users)</a:t>
            </a:r>
          </a:p>
          <a:p>
            <a:pPr algn="l"/>
            <a:r>
              <a:rPr lang="en-US" sz="1800" b="0" dirty="0">
                <a:effectLst/>
                <a:latin typeface="Helvetica" panose="020B0604020202020204" pitchFamily="34" charset="0"/>
                <a:cs typeface="Helvetica" panose="020B0604020202020204" pitchFamily="34" charset="0"/>
              </a:rPr>
              <a:t>- Impact Direction: Positive (increases waste) vs Negative (decreases waste) - tells engineers what to improve</a:t>
            </a:r>
          </a:p>
          <a:p>
            <a:pPr algn="l"/>
            <a:r>
              <a:rPr lang="en-US" sz="1800" b="0" dirty="0">
                <a:effectLst/>
                <a:latin typeface="Helvetica" panose="020B0604020202020204" pitchFamily="34" charset="0"/>
                <a:cs typeface="Helvetica" panose="020B0604020202020204" pitchFamily="34" charset="0"/>
              </a:rPr>
              <a:t>- Fallback: Uses feature importance if SHAP unavailable - ensures system always provides explanations</a:t>
            </a:r>
          </a:p>
          <a:p>
            <a:pPr algn="l"/>
            <a:br>
              <a:rPr lang="en-US" sz="1800" b="0" dirty="0">
                <a:solidFill>
                  <a:srgbClr val="8B2132"/>
                </a:solidFill>
                <a:effectLst/>
                <a:latin typeface="Helvetica" panose="020B0604020202020204" pitchFamily="34" charset="0"/>
                <a:cs typeface="Helvetica" panose="020B0604020202020204" pitchFamily="34" charset="0"/>
              </a:rPr>
            </a:br>
            <a:r>
              <a:rPr lang="en-US" sz="1800" b="0" dirty="0">
                <a:solidFill>
                  <a:srgbClr val="8B2132"/>
                </a:solidFill>
                <a:effectLst/>
                <a:latin typeface="Helvetica" panose="020B0604020202020204" pitchFamily="34" charset="0"/>
                <a:cs typeface="Helvetica" panose="020B0604020202020204" pitchFamily="34" charset="0"/>
              </a:rPr>
              <a:t>Real-World Application:</a:t>
            </a:r>
          </a:p>
          <a:p>
            <a:pPr algn="l"/>
            <a:r>
              <a:rPr lang="en-US" sz="1800" b="0" dirty="0">
                <a:effectLst/>
                <a:latin typeface="Helvetica" panose="020B0604020202020204" pitchFamily="34" charset="0"/>
                <a:cs typeface="Helvetica" panose="020B0604020202020204" pitchFamily="34" charset="0"/>
              </a:rPr>
              <a:t>- Example: If "Offcut Reuse Policy" has SHAP value +1.57, it means this feature alone increases predicted waste by 1.57 percentage points compared to the baseline</a:t>
            </a:r>
          </a:p>
          <a:p>
            <a:pPr algn="l"/>
            <a:r>
              <a:rPr lang="en-US" sz="1800" b="0" dirty="0">
                <a:effectLst/>
                <a:latin typeface="Helvetica" panose="020B0604020202020204" pitchFamily="34" charset="0"/>
                <a:cs typeface="Helvetica" panose="020B0604020202020204" pitchFamily="34" charset="0"/>
              </a:rPr>
              <a:t>- Engineers can see: "If I implement systematic offcut reuse (change from 0 to 2), I could reduce waste by X%"</a:t>
            </a:r>
          </a:p>
          <a:p>
            <a:pPr algn="l"/>
            <a:r>
              <a:rPr lang="en-US" sz="1800" b="0" dirty="0">
                <a:effectLst/>
                <a:latin typeface="Helvetica" panose="020B0604020202020204" pitchFamily="34" charset="0"/>
                <a:cs typeface="Helvetica" panose="020B0604020202020204" pitchFamily="34" charset="0"/>
              </a:rPr>
              <a:t>- This transforms the model from a "black box" to a decision-support tool</a:t>
            </a:r>
          </a:p>
          <a:p>
            <a:pPr algn="l"/>
            <a:br>
              <a:rPr lang="en-US" sz="7200" b="0" dirty="0">
                <a:solidFill>
                  <a:srgbClr val="8B2132"/>
                </a:solidFill>
                <a:effectLst/>
                <a:latin typeface="Helvetica" panose="020B0604020202020204" pitchFamily="34" charset="0"/>
                <a:cs typeface="Helvetica" panose="020B0604020202020204" pitchFamily="34" charset="0"/>
              </a:rPr>
            </a:br>
            <a:endParaRPr lang="fr-FR" dirty="0">
              <a:solidFill>
                <a:srgbClr val="8B2132"/>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9233360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169F5-07A6-4335-9353-D5E9C80141E4}"/>
              </a:ext>
            </a:extLst>
          </p:cNvPr>
          <p:cNvSpPr>
            <a:spLocks noGrp="1"/>
          </p:cNvSpPr>
          <p:nvPr>
            <p:ph type="ctrTitle"/>
          </p:nvPr>
        </p:nvSpPr>
        <p:spPr>
          <a:xfrm>
            <a:off x="191429" y="273399"/>
            <a:ext cx="11809141" cy="806798"/>
          </a:xfrm>
        </p:spPr>
        <p:txBody>
          <a:bodyPr>
            <a:normAutofit/>
          </a:bodyPr>
          <a:lstStyle/>
          <a:p>
            <a:r>
              <a:rPr lang="en-US" sz="4400" dirty="0">
                <a:solidFill>
                  <a:srgbClr val="8B2132"/>
                </a:solidFill>
                <a:effectLst/>
                <a:latin typeface="Helvetica" panose="020B0604020202020204" pitchFamily="34" charset="0"/>
                <a:cs typeface="Helvetica" panose="020B0604020202020204" pitchFamily="34" charset="0"/>
              </a:rPr>
              <a:t>Technical Implementation: SHAP Explainability</a:t>
            </a:r>
            <a:endParaRPr lang="fr-FR" sz="4400" dirty="0"/>
          </a:p>
        </p:txBody>
      </p:sp>
      <p:sp>
        <p:nvSpPr>
          <p:cNvPr id="3" name="Subtitle 2">
            <a:extLst>
              <a:ext uri="{FF2B5EF4-FFF2-40B4-BE49-F238E27FC236}">
                <a16:creationId xmlns:a16="http://schemas.microsoft.com/office/drawing/2014/main" id="{C49ABEF6-1779-4EEE-BFF6-F0E981F5EC0B}"/>
              </a:ext>
            </a:extLst>
          </p:cNvPr>
          <p:cNvSpPr>
            <a:spLocks noGrp="1"/>
          </p:cNvSpPr>
          <p:nvPr>
            <p:ph type="subTitle" idx="1"/>
          </p:nvPr>
        </p:nvSpPr>
        <p:spPr>
          <a:xfrm>
            <a:off x="4913042" y="1667720"/>
            <a:ext cx="6506736" cy="1655762"/>
          </a:xfrm>
        </p:spPr>
        <p:txBody>
          <a:bodyPr>
            <a:normAutofit/>
          </a:bodyPr>
          <a:lstStyle/>
          <a:p>
            <a:pPr algn="l"/>
            <a:r>
              <a:rPr lang="en-US" sz="1800" b="0" dirty="0">
                <a:solidFill>
                  <a:srgbClr val="8B2132"/>
                </a:solidFill>
                <a:effectLst/>
                <a:latin typeface="Helvetica" panose="020B0604020202020204" pitchFamily="34" charset="0"/>
                <a:cs typeface="Helvetica" panose="020B0604020202020204" pitchFamily="34" charset="0"/>
              </a:rPr>
              <a:t>Output Example:</a:t>
            </a:r>
          </a:p>
          <a:p>
            <a:pPr algn="l"/>
            <a:r>
              <a:rPr lang="en-US" sz="1800" b="0" dirty="0">
                <a:effectLst/>
                <a:latin typeface="Helvetica" panose="020B0604020202020204" pitchFamily="34" charset="0"/>
                <a:cs typeface="Helvetica" panose="020B0604020202020204" pitchFamily="34" charset="0"/>
              </a:rPr>
              <a:t>- Top 5 waste-driving factors with contribution values</a:t>
            </a:r>
          </a:p>
          <a:p>
            <a:pPr algn="l"/>
            <a:r>
              <a:rPr lang="en-US" sz="1800" b="0" dirty="0">
                <a:effectLst/>
                <a:latin typeface="Helvetica" panose="020B0604020202020204" pitchFamily="34" charset="0"/>
                <a:cs typeface="Helvetica" panose="020B0604020202020204" pitchFamily="34" charset="0"/>
              </a:rPr>
              <a:t>- Clear indication of which factors increase/decrease waste</a:t>
            </a:r>
          </a:p>
          <a:p>
            <a:pPr algn="l"/>
            <a:r>
              <a:rPr lang="en-US" sz="1800" b="0" dirty="0">
                <a:effectLst/>
                <a:latin typeface="Helvetica" panose="020B0604020202020204" pitchFamily="34" charset="0"/>
                <a:cs typeface="Helvetica" panose="020B0604020202020204" pitchFamily="34" charset="0"/>
              </a:rPr>
              <a:t>- Actionable insights for project managers</a:t>
            </a:r>
          </a:p>
          <a:p>
            <a:endParaRPr lang="fr-FR" dirty="0"/>
          </a:p>
        </p:txBody>
      </p:sp>
      <p:pic>
        <p:nvPicPr>
          <p:cNvPr id="4" name="Picture 3">
            <a:extLst>
              <a:ext uri="{FF2B5EF4-FFF2-40B4-BE49-F238E27FC236}">
                <a16:creationId xmlns:a16="http://schemas.microsoft.com/office/drawing/2014/main" id="{DEE26C58-3B87-4238-812B-C787EF6FEC6B}"/>
              </a:ext>
            </a:extLst>
          </p:cNvPr>
          <p:cNvPicPr>
            <a:picLocks noChangeAspect="1"/>
          </p:cNvPicPr>
          <p:nvPr/>
        </p:nvPicPr>
        <p:blipFill>
          <a:blip r:embed="rId3"/>
          <a:stretch>
            <a:fillRect/>
          </a:stretch>
        </p:blipFill>
        <p:spPr>
          <a:xfrm>
            <a:off x="468354" y="2190607"/>
            <a:ext cx="3557238" cy="2999673"/>
          </a:xfrm>
          <a:prstGeom prst="rect">
            <a:avLst/>
          </a:prstGeom>
        </p:spPr>
      </p:pic>
      <p:sp>
        <p:nvSpPr>
          <p:cNvPr id="5" name="Subtitle 2">
            <a:extLst>
              <a:ext uri="{FF2B5EF4-FFF2-40B4-BE49-F238E27FC236}">
                <a16:creationId xmlns:a16="http://schemas.microsoft.com/office/drawing/2014/main" id="{A8A239E2-0F64-457D-B2D0-1440C34DD50F}"/>
              </a:ext>
            </a:extLst>
          </p:cNvPr>
          <p:cNvSpPr txBox="1">
            <a:spLocks/>
          </p:cNvSpPr>
          <p:nvPr/>
        </p:nvSpPr>
        <p:spPr>
          <a:xfrm>
            <a:off x="468354" y="1667720"/>
            <a:ext cx="3055433" cy="50180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FR" sz="1900" b="0" dirty="0">
                <a:solidFill>
                  <a:srgbClr val="8B2132"/>
                </a:solidFill>
                <a:effectLst/>
                <a:latin typeface="Helvetica" panose="020B0604020202020204" pitchFamily="34" charset="0"/>
                <a:cs typeface="Helvetica" panose="020B0604020202020204" pitchFamily="34" charset="0"/>
              </a:rPr>
              <a:t>Technical Implementation:</a:t>
            </a:r>
          </a:p>
          <a:p>
            <a:endParaRPr lang="fr-FR" dirty="0"/>
          </a:p>
        </p:txBody>
      </p:sp>
    </p:spTree>
    <p:extLst>
      <p:ext uri="{BB962C8B-B14F-4D97-AF65-F5344CB8AC3E}">
        <p14:creationId xmlns:p14="http://schemas.microsoft.com/office/powerpoint/2010/main" val="36852553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B86B4-1BE9-4200-839C-1F7DAE812F35}"/>
              </a:ext>
            </a:extLst>
          </p:cNvPr>
          <p:cNvSpPr>
            <a:spLocks noGrp="1"/>
          </p:cNvSpPr>
          <p:nvPr>
            <p:ph type="ctrTitle"/>
          </p:nvPr>
        </p:nvSpPr>
        <p:spPr>
          <a:xfrm>
            <a:off x="211873" y="-44605"/>
            <a:ext cx="12192000" cy="1510989"/>
          </a:xfrm>
        </p:spPr>
        <p:txBody>
          <a:bodyPr>
            <a:noAutofit/>
          </a:bodyPr>
          <a:lstStyle/>
          <a:p>
            <a:pPr algn="l"/>
            <a:r>
              <a:rPr lang="en-US" sz="4200" dirty="0">
                <a:solidFill>
                  <a:srgbClr val="8B2132"/>
                </a:solidFill>
                <a:effectLst/>
                <a:latin typeface="Helvetica" panose="020B0604020202020204" pitchFamily="34" charset="0"/>
                <a:cs typeface="Helvetica" panose="020B0604020202020204" pitchFamily="34" charset="0"/>
              </a:rPr>
              <a:t>Technical Implementation: Reliability &amp; Cost/CO₂</a:t>
            </a:r>
            <a:br>
              <a:rPr lang="en-US" sz="4200" dirty="0">
                <a:solidFill>
                  <a:srgbClr val="8B2132"/>
                </a:solidFill>
                <a:effectLst/>
                <a:latin typeface="Helvetica" panose="020B0604020202020204" pitchFamily="34" charset="0"/>
                <a:cs typeface="Helvetica" panose="020B0604020202020204" pitchFamily="34" charset="0"/>
              </a:rPr>
            </a:br>
            <a:endParaRPr lang="fr-FR" sz="42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F6C37A6F-5120-4728-B9CE-FCF6CF6BCE65}"/>
              </a:ext>
            </a:extLst>
          </p:cNvPr>
          <p:cNvSpPr>
            <a:spLocks noGrp="1"/>
          </p:cNvSpPr>
          <p:nvPr>
            <p:ph type="subTitle" idx="1"/>
          </p:nvPr>
        </p:nvSpPr>
        <p:spPr>
          <a:xfrm>
            <a:off x="337390" y="1510989"/>
            <a:ext cx="9144000" cy="2113157"/>
          </a:xfrm>
        </p:spPr>
        <p:txBody>
          <a:bodyPr>
            <a:normAutofit fontScale="92500" lnSpcReduction="10000"/>
          </a:bodyPr>
          <a:lstStyle/>
          <a:p>
            <a:pPr algn="l"/>
            <a:r>
              <a:rPr lang="en-US" sz="1900" b="0" dirty="0">
                <a:solidFill>
                  <a:srgbClr val="8B2132"/>
                </a:solidFill>
                <a:effectLst/>
                <a:latin typeface="Helvetica" panose="020B0604020202020204" pitchFamily="34" charset="0"/>
                <a:cs typeface="Helvetica" panose="020B0604020202020204" pitchFamily="34" charset="0"/>
              </a:rPr>
              <a:t>Why Reliability Matters:</a:t>
            </a:r>
          </a:p>
          <a:p>
            <a:pPr algn="l"/>
            <a:r>
              <a:rPr lang="en-US" sz="1900" b="0" dirty="0">
                <a:effectLst/>
                <a:latin typeface="Helvetica" panose="020B0604020202020204" pitchFamily="34" charset="0"/>
                <a:cs typeface="Helvetica" panose="020B0604020202020204" pitchFamily="34" charset="0"/>
              </a:rPr>
              <a:t>- ML models are only reliable when input data is similar to training data</a:t>
            </a:r>
          </a:p>
          <a:p>
            <a:pPr algn="l"/>
            <a:r>
              <a:rPr lang="en-US" sz="1900" b="0" dirty="0">
                <a:effectLst/>
                <a:latin typeface="Helvetica" panose="020B0604020202020204" pitchFamily="34" charset="0"/>
                <a:cs typeface="Helvetica" panose="020B0604020202020204" pitchFamily="34" charset="0"/>
              </a:rPr>
              <a:t>- If user enters unusual parameters, prediction may be less trustworthy</a:t>
            </a:r>
          </a:p>
          <a:p>
            <a:pPr marL="342900" indent="-342900" algn="l">
              <a:buFontTx/>
              <a:buChar char="-"/>
            </a:pPr>
            <a:r>
              <a:rPr lang="en-US" sz="1900" b="0" dirty="0">
                <a:effectLst/>
                <a:latin typeface="Helvetica" panose="020B0604020202020204" pitchFamily="34" charset="0"/>
                <a:cs typeface="Helvetica" panose="020B0604020202020204" pitchFamily="34" charset="0"/>
              </a:rPr>
              <a:t>Engineers need to know: "Can I trust this prediction for my specific project?“</a:t>
            </a:r>
          </a:p>
          <a:p>
            <a:pPr algn="l"/>
            <a:endParaRPr lang="en-US" sz="1900" dirty="0">
              <a:latin typeface="Helvetica" panose="020B0604020202020204" pitchFamily="34" charset="0"/>
              <a:cs typeface="Helvetica" panose="020B0604020202020204" pitchFamily="34" charset="0"/>
            </a:endParaRPr>
          </a:p>
          <a:p>
            <a:pPr algn="l"/>
            <a:r>
              <a:rPr lang="fr-FR" sz="1900" b="0" dirty="0">
                <a:solidFill>
                  <a:srgbClr val="8B2132"/>
                </a:solidFill>
                <a:effectLst/>
                <a:latin typeface="Helvetica" panose="020B0604020202020204" pitchFamily="34" charset="0"/>
                <a:cs typeface="Helvetica" panose="020B0604020202020204" pitchFamily="34" charset="0"/>
              </a:rPr>
              <a:t>Reliability Calculation (k-NN):</a:t>
            </a:r>
          </a:p>
          <a:p>
            <a:pPr algn="l"/>
            <a:endParaRPr lang="en-US" b="0" dirty="0">
              <a:effectLst/>
              <a:latin typeface="Helvetica" panose="020B0604020202020204" pitchFamily="34" charset="0"/>
              <a:cs typeface="Helvetica" panose="020B0604020202020204" pitchFamily="34" charset="0"/>
            </a:endParaRPr>
          </a:p>
          <a:p>
            <a:endParaRPr lang="fr-FR" dirty="0"/>
          </a:p>
        </p:txBody>
      </p:sp>
      <p:pic>
        <p:nvPicPr>
          <p:cNvPr id="5" name="Picture 4">
            <a:extLst>
              <a:ext uri="{FF2B5EF4-FFF2-40B4-BE49-F238E27FC236}">
                <a16:creationId xmlns:a16="http://schemas.microsoft.com/office/drawing/2014/main" id="{41F86E3D-8449-495F-B329-F6C90458EC26}"/>
              </a:ext>
            </a:extLst>
          </p:cNvPr>
          <p:cNvPicPr>
            <a:picLocks noChangeAspect="1"/>
          </p:cNvPicPr>
          <p:nvPr/>
        </p:nvPicPr>
        <p:blipFill>
          <a:blip r:embed="rId3"/>
          <a:stretch>
            <a:fillRect/>
          </a:stretch>
        </p:blipFill>
        <p:spPr>
          <a:xfrm>
            <a:off x="211873" y="3713356"/>
            <a:ext cx="5316278" cy="2581510"/>
          </a:xfrm>
          <a:prstGeom prst="rect">
            <a:avLst/>
          </a:prstGeom>
        </p:spPr>
      </p:pic>
      <p:sp>
        <p:nvSpPr>
          <p:cNvPr id="6" name="Subtitle 2">
            <a:extLst>
              <a:ext uri="{FF2B5EF4-FFF2-40B4-BE49-F238E27FC236}">
                <a16:creationId xmlns:a16="http://schemas.microsoft.com/office/drawing/2014/main" id="{821BA491-4210-4E02-A117-694940E32C9E}"/>
              </a:ext>
            </a:extLst>
          </p:cNvPr>
          <p:cNvSpPr txBox="1">
            <a:spLocks/>
          </p:cNvSpPr>
          <p:nvPr/>
        </p:nvSpPr>
        <p:spPr>
          <a:xfrm>
            <a:off x="6096000" y="3150219"/>
            <a:ext cx="5496688" cy="56871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FR" sz="1800" b="0" dirty="0">
                <a:solidFill>
                  <a:srgbClr val="8B2132"/>
                </a:solidFill>
                <a:effectLst/>
                <a:latin typeface="Consolas" panose="020B0609020204030204" pitchFamily="49" charset="0"/>
              </a:rPr>
              <a:t>Cost &amp; CO₂ Calculation:</a:t>
            </a:r>
          </a:p>
          <a:p>
            <a:endParaRPr lang="fr-FR" dirty="0"/>
          </a:p>
        </p:txBody>
      </p:sp>
      <p:pic>
        <p:nvPicPr>
          <p:cNvPr id="8" name="Picture 7">
            <a:extLst>
              <a:ext uri="{FF2B5EF4-FFF2-40B4-BE49-F238E27FC236}">
                <a16:creationId xmlns:a16="http://schemas.microsoft.com/office/drawing/2014/main" id="{CD9137F6-0448-436F-BCC5-2B0E5E0961B6}"/>
              </a:ext>
            </a:extLst>
          </p:cNvPr>
          <p:cNvPicPr>
            <a:picLocks noChangeAspect="1"/>
          </p:cNvPicPr>
          <p:nvPr/>
        </p:nvPicPr>
        <p:blipFill>
          <a:blip r:embed="rId4"/>
          <a:stretch>
            <a:fillRect/>
          </a:stretch>
        </p:blipFill>
        <p:spPr>
          <a:xfrm>
            <a:off x="6096000" y="3713356"/>
            <a:ext cx="5496688" cy="2581510"/>
          </a:xfrm>
          <a:prstGeom prst="rect">
            <a:avLst/>
          </a:prstGeom>
        </p:spPr>
      </p:pic>
    </p:spTree>
    <p:extLst>
      <p:ext uri="{BB962C8B-B14F-4D97-AF65-F5344CB8AC3E}">
        <p14:creationId xmlns:p14="http://schemas.microsoft.com/office/powerpoint/2010/main" val="6003342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257B5-CB9D-49CB-A571-53F7FBFD187A}"/>
              </a:ext>
            </a:extLst>
          </p:cNvPr>
          <p:cNvSpPr>
            <a:spLocks noGrp="1"/>
          </p:cNvSpPr>
          <p:nvPr>
            <p:ph type="ctrTitle"/>
          </p:nvPr>
        </p:nvSpPr>
        <p:spPr>
          <a:xfrm>
            <a:off x="284356" y="29544"/>
            <a:ext cx="11907644" cy="1498174"/>
          </a:xfrm>
        </p:spPr>
        <p:txBody>
          <a:bodyPr>
            <a:noAutofit/>
          </a:bodyPr>
          <a:lstStyle/>
          <a:p>
            <a:pPr algn="l"/>
            <a:r>
              <a:rPr lang="en-US" sz="4200" dirty="0">
                <a:solidFill>
                  <a:srgbClr val="8B2132"/>
                </a:solidFill>
                <a:effectLst/>
                <a:latin typeface="Helvetica" panose="020B0604020202020204" pitchFamily="34" charset="0"/>
                <a:cs typeface="Helvetica" panose="020B0604020202020204" pitchFamily="34" charset="0"/>
              </a:rPr>
              <a:t>Technical Implementation: Reliability &amp; Cost/CO₂</a:t>
            </a:r>
            <a:br>
              <a:rPr lang="en-US" sz="4400" dirty="0">
                <a:solidFill>
                  <a:srgbClr val="8B2132"/>
                </a:solidFill>
                <a:effectLst/>
                <a:latin typeface="Helvetica" panose="020B0604020202020204" pitchFamily="34" charset="0"/>
                <a:cs typeface="Helvetica" panose="020B0604020202020204" pitchFamily="34" charset="0"/>
              </a:rPr>
            </a:br>
            <a:endParaRPr lang="fr-FR" sz="4400" dirty="0"/>
          </a:p>
        </p:txBody>
      </p:sp>
      <p:sp>
        <p:nvSpPr>
          <p:cNvPr id="3" name="Subtitle 2">
            <a:extLst>
              <a:ext uri="{FF2B5EF4-FFF2-40B4-BE49-F238E27FC236}">
                <a16:creationId xmlns:a16="http://schemas.microsoft.com/office/drawing/2014/main" id="{E44846E0-0176-4E96-BC26-ED746E70CD82}"/>
              </a:ext>
            </a:extLst>
          </p:cNvPr>
          <p:cNvSpPr>
            <a:spLocks noGrp="1"/>
          </p:cNvSpPr>
          <p:nvPr>
            <p:ph type="subTitle" idx="1"/>
          </p:nvPr>
        </p:nvSpPr>
        <p:spPr>
          <a:xfrm>
            <a:off x="284356" y="1527718"/>
            <a:ext cx="11623288" cy="2743199"/>
          </a:xfrm>
        </p:spPr>
        <p:txBody>
          <a:bodyPr>
            <a:normAutofit/>
          </a:bodyPr>
          <a:lstStyle/>
          <a:p>
            <a:pPr algn="l"/>
            <a:r>
              <a:rPr lang="en-US" sz="1800" b="0" dirty="0">
                <a:solidFill>
                  <a:srgbClr val="8B2132"/>
                </a:solidFill>
                <a:effectLst/>
                <a:latin typeface="Helvetica" panose="020B0604020202020204" pitchFamily="34" charset="0"/>
                <a:cs typeface="Helvetica" panose="020B0604020202020204" pitchFamily="34" charset="0"/>
              </a:rPr>
              <a:t>How Reliability Works:</a:t>
            </a:r>
          </a:p>
          <a:p>
            <a:pPr algn="l"/>
            <a:r>
              <a:rPr lang="en-US" sz="1800" b="0" dirty="0">
                <a:effectLst/>
                <a:latin typeface="Helvetica" panose="020B0604020202020204" pitchFamily="34" charset="0"/>
                <a:cs typeface="Helvetica" panose="020B0604020202020204" pitchFamily="34" charset="0"/>
              </a:rPr>
              <a:t>1. Find Similar Projects: Uses k-NN to find 10 most similar training projects</a:t>
            </a:r>
          </a:p>
          <a:p>
            <a:pPr algn="l"/>
            <a:r>
              <a:rPr lang="en-US" sz="1800" b="0" dirty="0">
                <a:effectLst/>
                <a:latin typeface="Helvetica" panose="020B0604020202020204" pitchFamily="34" charset="0"/>
                <a:cs typeface="Helvetica" panose="020B0604020202020204" pitchFamily="34" charset="0"/>
              </a:rPr>
              <a:t>2. Calculate Distance: Measures how "far" the input is from training data in 16-dimensional space</a:t>
            </a:r>
          </a:p>
          <a:p>
            <a:pPr algn="l"/>
            <a:r>
              <a:rPr lang="en-US" sz="1800" b="0" dirty="0">
                <a:effectLst/>
                <a:latin typeface="Helvetica" panose="020B0604020202020204" pitchFamily="34" charset="0"/>
                <a:cs typeface="Helvetica" panose="020B0604020202020204" pitchFamily="34" charset="0"/>
              </a:rPr>
              <a:t>3. Normalize: Accounts for features with different scales (e.g., reinforcement ratio 50-200 vs supervision 1-5)</a:t>
            </a:r>
          </a:p>
          <a:p>
            <a:pPr algn="l"/>
            <a:r>
              <a:rPr lang="en-US" sz="1800" b="0" dirty="0">
                <a:effectLst/>
                <a:latin typeface="Helvetica" panose="020B0604020202020204" pitchFamily="34" charset="0"/>
                <a:cs typeface="Helvetica" panose="020B0604020202020204" pitchFamily="34" charset="0"/>
              </a:rPr>
              <a:t>4. Score: Combines distance metrics (60% raw distance + 40% normalized distance)</a:t>
            </a:r>
          </a:p>
          <a:p>
            <a:pPr algn="l"/>
            <a:r>
              <a:rPr lang="en-US" sz="1800" b="0" dirty="0">
                <a:effectLst/>
                <a:latin typeface="Helvetica" panose="020B0604020202020204" pitchFamily="34" charset="0"/>
                <a:cs typeface="Helvetica" panose="020B0604020202020204" pitchFamily="34" charset="0"/>
              </a:rPr>
              <a:t>5. Categorize: High (≥70%) = very similar, Medium (40-70%) = somewhat similar, Low (&lt;40%) = different</a:t>
            </a:r>
          </a:p>
        </p:txBody>
      </p:sp>
      <p:sp>
        <p:nvSpPr>
          <p:cNvPr id="5" name="Subtitle 2">
            <a:extLst>
              <a:ext uri="{FF2B5EF4-FFF2-40B4-BE49-F238E27FC236}">
                <a16:creationId xmlns:a16="http://schemas.microsoft.com/office/drawing/2014/main" id="{3B8DD0E1-528A-4848-B20C-A93A69069B29}"/>
              </a:ext>
            </a:extLst>
          </p:cNvPr>
          <p:cNvSpPr txBox="1">
            <a:spLocks/>
          </p:cNvSpPr>
          <p:nvPr/>
        </p:nvSpPr>
        <p:spPr>
          <a:xfrm>
            <a:off x="214660" y="4270917"/>
            <a:ext cx="11762679" cy="265399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0" dirty="0">
                <a:solidFill>
                  <a:srgbClr val="8B2132"/>
                </a:solidFill>
                <a:effectLst/>
                <a:latin typeface="Helvetica" panose="020B0604020202020204" pitchFamily="34" charset="0"/>
                <a:cs typeface="Helvetica" panose="020B0604020202020204" pitchFamily="34" charset="0"/>
              </a:rPr>
              <a:t>Real-World Application:</a:t>
            </a:r>
          </a:p>
          <a:p>
            <a:pPr algn="l"/>
            <a:r>
              <a:rPr lang="en-US" sz="1800" b="0" dirty="0">
                <a:effectLst/>
                <a:latin typeface="Helvetica" panose="020B0604020202020204" pitchFamily="34" charset="0"/>
                <a:cs typeface="Helvetica" panose="020B0604020202020204" pitchFamily="34" charset="0"/>
              </a:rPr>
              <a:t>- High reliability: "Your project is very similar to our training data - high confidence in prediction"</a:t>
            </a:r>
          </a:p>
          <a:p>
            <a:pPr algn="l"/>
            <a:r>
              <a:rPr lang="en-US" sz="1800" b="0" dirty="0">
                <a:effectLst/>
                <a:latin typeface="Helvetica" panose="020B0604020202020204" pitchFamily="34" charset="0"/>
                <a:cs typeface="Helvetica" panose="020B0604020202020204" pitchFamily="34" charset="0"/>
              </a:rPr>
              <a:t>- Low reliability: "Your project has unusual parameters - interpret results with caution, consider consulting experts"</a:t>
            </a:r>
          </a:p>
          <a:p>
            <a:pPr algn="l"/>
            <a:r>
              <a:rPr lang="en-US" sz="1800" b="0" dirty="0">
                <a:effectLst/>
                <a:latin typeface="Helvetica" panose="020B0604020202020204" pitchFamily="34" charset="0"/>
                <a:cs typeface="Helvetica" panose="020B0604020202020204" pitchFamily="34" charset="0"/>
              </a:rPr>
              <a:t>- This prevents over-reliance on predictions when they may not be appropriate</a:t>
            </a:r>
          </a:p>
          <a:p>
            <a:pPr algn="l"/>
            <a:endParaRPr lang="fr-FR" sz="16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312823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9833D-2812-4235-BA23-EB5F00255102}"/>
              </a:ext>
            </a:extLst>
          </p:cNvPr>
          <p:cNvSpPr>
            <a:spLocks noGrp="1"/>
          </p:cNvSpPr>
          <p:nvPr>
            <p:ph type="ctrTitle"/>
          </p:nvPr>
        </p:nvSpPr>
        <p:spPr>
          <a:xfrm>
            <a:off x="144966" y="220334"/>
            <a:ext cx="12047034" cy="1655762"/>
          </a:xfrm>
        </p:spPr>
        <p:txBody>
          <a:bodyPr>
            <a:normAutofit/>
          </a:bodyPr>
          <a:lstStyle/>
          <a:p>
            <a:r>
              <a:rPr lang="en-US" sz="4200" dirty="0">
                <a:solidFill>
                  <a:srgbClr val="8B2132"/>
                </a:solidFill>
                <a:effectLst/>
                <a:latin typeface="Helvetica" panose="020B0604020202020204" pitchFamily="34" charset="0"/>
                <a:cs typeface="Helvetica" panose="020B0604020202020204" pitchFamily="34" charset="0"/>
              </a:rPr>
              <a:t>Technical Implementation: Reliability &amp; Cost/CO₂</a:t>
            </a:r>
            <a:br>
              <a:rPr lang="en-US" sz="4200" dirty="0">
                <a:solidFill>
                  <a:srgbClr val="8B2132"/>
                </a:solidFill>
                <a:effectLst/>
                <a:latin typeface="Helvetica" panose="020B0604020202020204" pitchFamily="34" charset="0"/>
                <a:cs typeface="Helvetica" panose="020B0604020202020204" pitchFamily="34" charset="0"/>
              </a:rPr>
            </a:br>
            <a:endParaRPr lang="fr-FR" sz="4200" dirty="0"/>
          </a:p>
        </p:txBody>
      </p:sp>
      <p:sp>
        <p:nvSpPr>
          <p:cNvPr id="4" name="Subtitle 2">
            <a:extLst>
              <a:ext uri="{FF2B5EF4-FFF2-40B4-BE49-F238E27FC236}">
                <a16:creationId xmlns:a16="http://schemas.microsoft.com/office/drawing/2014/main" id="{88368DD1-3DA4-4F88-8F96-1461AC8295E0}"/>
              </a:ext>
            </a:extLst>
          </p:cNvPr>
          <p:cNvSpPr txBox="1">
            <a:spLocks/>
          </p:cNvSpPr>
          <p:nvPr/>
        </p:nvSpPr>
        <p:spPr>
          <a:xfrm>
            <a:off x="505522" y="2174488"/>
            <a:ext cx="9932020" cy="365759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0" dirty="0">
                <a:solidFill>
                  <a:srgbClr val="8B2132"/>
                </a:solidFill>
                <a:effectLst/>
                <a:latin typeface="Helvetica" panose="020B0604020202020204" pitchFamily="34" charset="0"/>
                <a:cs typeface="Helvetica" panose="020B0604020202020204" pitchFamily="34" charset="0"/>
              </a:rPr>
              <a:t>Key Features:</a:t>
            </a:r>
          </a:p>
          <a:p>
            <a:pPr algn="l"/>
            <a:r>
              <a:rPr lang="en-US" sz="1800" b="0" dirty="0">
                <a:effectLst/>
                <a:latin typeface="Helvetica" panose="020B0604020202020204" pitchFamily="34" charset="0"/>
                <a:cs typeface="Helvetica" panose="020B0604020202020204" pitchFamily="34" charset="0"/>
              </a:rPr>
              <a:t>- Reliability: Measures input similarity to training data - tells engineers prediction confidence</a:t>
            </a:r>
          </a:p>
          <a:p>
            <a:pPr algn="l"/>
            <a:r>
              <a:rPr lang="en-US" sz="1800" b="0" dirty="0">
                <a:effectLst/>
                <a:latin typeface="Helvetica" panose="020B0604020202020204" pitchFamily="34" charset="0"/>
                <a:cs typeface="Helvetica" panose="020B0604020202020204" pitchFamily="34" charset="0"/>
              </a:rPr>
              <a:t>- Dual Metrics: Combines raw and normalized distances - handles different feature scales properly</a:t>
            </a:r>
          </a:p>
          <a:p>
            <a:pPr algn="l"/>
            <a:r>
              <a:rPr lang="en-US" sz="1800" b="0" dirty="0">
                <a:effectLst/>
                <a:latin typeface="Helvetica" panose="020B0604020202020204" pitchFamily="34" charset="0"/>
                <a:cs typeface="Helvetica" panose="020B0604020202020204" pitchFamily="34" charset="0"/>
              </a:rPr>
              <a:t>- Cost Impact: Real-time financial calculations - converts waste % to actual dollars</a:t>
            </a:r>
          </a:p>
          <a:p>
            <a:pPr algn="l"/>
            <a:r>
              <a:rPr lang="en-US" sz="1800" b="0" dirty="0">
                <a:effectLst/>
                <a:latin typeface="Helvetica" panose="020B0604020202020204" pitchFamily="34" charset="0"/>
                <a:cs typeface="Helvetica" panose="020B0604020202020204" pitchFamily="34" charset="0"/>
              </a:rPr>
              <a:t>- Environmental Impact: CO₂ emissions and reduction potential - shows sustainability impact</a:t>
            </a:r>
          </a:p>
          <a:p>
            <a:pPr algn="l"/>
            <a:r>
              <a:rPr lang="en-US" sz="1800" b="0" dirty="0">
                <a:effectLst/>
                <a:latin typeface="Helvetica" panose="020B0604020202020204" pitchFamily="34" charset="0"/>
                <a:cs typeface="Helvetica" panose="020B0604020202020204" pitchFamily="34" charset="0"/>
              </a:rPr>
              <a:t>- Configurable: Unit costs and emission factors adjustable - adapts to regional variations</a:t>
            </a:r>
          </a:p>
          <a:p>
            <a:pPr algn="l"/>
            <a:endParaRPr lang="fr-FR" sz="16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98697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25B9C-69D2-43A1-8228-9B0D9B7FAA57}"/>
              </a:ext>
            </a:extLst>
          </p:cNvPr>
          <p:cNvSpPr>
            <a:spLocks noGrp="1"/>
          </p:cNvSpPr>
          <p:nvPr>
            <p:ph type="ctrTitle"/>
          </p:nvPr>
        </p:nvSpPr>
        <p:spPr>
          <a:xfrm>
            <a:off x="275063" y="-115423"/>
            <a:ext cx="11641873" cy="1966525"/>
          </a:xfrm>
        </p:spPr>
        <p:txBody>
          <a:bodyPr>
            <a:normAutofit/>
          </a:bodyPr>
          <a:lstStyle/>
          <a:p>
            <a:pPr algn="l"/>
            <a:r>
              <a:rPr lang="fr-FR" sz="4400" dirty="0">
                <a:solidFill>
                  <a:srgbClr val="8B2132"/>
                </a:solidFill>
                <a:effectLst/>
                <a:latin typeface="Helvetica" panose="020B0604020202020204" pitchFamily="34" charset="0"/>
                <a:cs typeface="Helvetica" panose="020B0604020202020204" pitchFamily="34" charset="0"/>
              </a:rPr>
              <a:t>Technical Implementation: Flask Backend</a:t>
            </a:r>
            <a:br>
              <a:rPr lang="fr-FR" sz="4400" dirty="0">
                <a:solidFill>
                  <a:srgbClr val="8B2132"/>
                </a:solidFill>
                <a:effectLst/>
                <a:latin typeface="Helvetica" panose="020B0604020202020204" pitchFamily="34" charset="0"/>
                <a:cs typeface="Helvetica" panose="020B0604020202020204" pitchFamily="34" charset="0"/>
              </a:rPr>
            </a:br>
            <a:endParaRPr lang="fr-FR" sz="4400" dirty="0"/>
          </a:p>
        </p:txBody>
      </p:sp>
      <p:sp>
        <p:nvSpPr>
          <p:cNvPr id="5" name="TextBox 4">
            <a:extLst>
              <a:ext uri="{FF2B5EF4-FFF2-40B4-BE49-F238E27FC236}">
                <a16:creationId xmlns:a16="http://schemas.microsoft.com/office/drawing/2014/main" id="{0BE05EA2-1131-4ADE-A1AC-4C3AEA3A6687}"/>
              </a:ext>
            </a:extLst>
          </p:cNvPr>
          <p:cNvSpPr txBox="1"/>
          <p:nvPr/>
        </p:nvSpPr>
        <p:spPr>
          <a:xfrm>
            <a:off x="370777" y="1551328"/>
            <a:ext cx="9966403" cy="4524315"/>
          </a:xfrm>
          <a:prstGeom prst="rect">
            <a:avLst/>
          </a:prstGeom>
          <a:noFill/>
        </p:spPr>
        <p:txBody>
          <a:bodyPr wrap="square">
            <a:spAutoFit/>
          </a:bodyPr>
          <a:lstStyle/>
          <a:p>
            <a:pPr algn="l"/>
            <a:br>
              <a:rPr lang="fr-FR" b="0" dirty="0">
                <a:solidFill>
                  <a:srgbClr val="8B2132"/>
                </a:solidFill>
                <a:effectLst/>
                <a:latin typeface="Consolas" panose="020B0609020204030204" pitchFamily="49" charset="0"/>
              </a:rPr>
            </a:br>
            <a:r>
              <a:rPr lang="fr-FR" sz="1800" b="0" dirty="0">
                <a:solidFill>
                  <a:srgbClr val="8B2132"/>
                </a:solidFill>
                <a:effectLst/>
                <a:latin typeface="Helvetica" panose="020B0604020202020204" pitchFamily="34" charset="0"/>
                <a:cs typeface="Helvetica" panose="020B0604020202020204" pitchFamily="34" charset="0"/>
              </a:rPr>
              <a:t>Frontend Architecture:</a:t>
            </a:r>
          </a:p>
          <a:p>
            <a:pPr algn="l"/>
            <a:r>
              <a:rPr lang="fr-FR" sz="1800" b="0" dirty="0">
                <a:effectLst/>
                <a:latin typeface="Helvetica" panose="020B0604020202020204" pitchFamily="34" charset="0"/>
                <a:cs typeface="Helvetica" panose="020B0604020202020204" pitchFamily="34" charset="0"/>
              </a:rPr>
              <a:t>- Templates: Jinja2 template inheritance (base.html)</a:t>
            </a:r>
          </a:p>
          <a:p>
            <a:pPr algn="l"/>
            <a:r>
              <a:rPr lang="fr-FR" sz="1800" b="0" dirty="0">
                <a:effectLst/>
                <a:latin typeface="Helvetica" panose="020B0604020202020204" pitchFamily="34" charset="0"/>
                <a:cs typeface="Helvetica" panose="020B0604020202020204" pitchFamily="34" charset="0"/>
              </a:rPr>
              <a:t>- Static Assets: Organized folders (CSS, JS, images)</a:t>
            </a:r>
          </a:p>
          <a:p>
            <a:pPr algn="l"/>
            <a:r>
              <a:rPr lang="fr-FR" sz="1800" b="0" dirty="0">
                <a:effectLst/>
                <a:latin typeface="Helvetica" panose="020B0604020202020204" pitchFamily="34" charset="0"/>
                <a:cs typeface="Helvetica" panose="020B0604020202020204" pitchFamily="34" charset="0"/>
              </a:rPr>
              <a:t>- Responsive Design: Bootstrap 5 grid system</a:t>
            </a:r>
          </a:p>
          <a:p>
            <a:pPr marL="285750" indent="-285750" algn="l">
              <a:buFontTx/>
              <a:buChar char="-"/>
            </a:pPr>
            <a:r>
              <a:rPr lang="fr-FR" sz="1800" b="0" dirty="0">
                <a:effectLst/>
                <a:latin typeface="Helvetica" panose="020B0604020202020204" pitchFamily="34" charset="0"/>
                <a:cs typeface="Helvetica" panose="020B0604020202020204" pitchFamily="34" charset="0"/>
              </a:rPr>
              <a:t>JavaScript: Form validation and interactivity</a:t>
            </a:r>
          </a:p>
          <a:p>
            <a:pPr algn="l"/>
            <a:endParaRPr lang="fr-FR" sz="1800" b="0" dirty="0">
              <a:effectLst/>
              <a:latin typeface="Helvetica" panose="020B0604020202020204" pitchFamily="34" charset="0"/>
              <a:cs typeface="Helvetica" panose="020B0604020202020204" pitchFamily="34" charset="0"/>
            </a:endParaRPr>
          </a:p>
          <a:p>
            <a:pPr algn="l"/>
            <a:r>
              <a:rPr lang="fr-FR" sz="1800" b="0" dirty="0">
                <a:solidFill>
                  <a:srgbClr val="8B2132"/>
                </a:solidFill>
                <a:effectLst/>
                <a:latin typeface="Consolas" panose="020B0609020204030204" pitchFamily="49" charset="0"/>
              </a:rPr>
              <a:t>How It Works:</a:t>
            </a:r>
          </a:p>
          <a:p>
            <a:pPr algn="l"/>
            <a:r>
              <a:rPr lang="fr-FR" sz="1800" dirty="0">
                <a:latin typeface="Helvetica" panose="020B0604020202020204" pitchFamily="34" charset="0"/>
                <a:cs typeface="Helvetica" panose="020B0604020202020204" pitchFamily="34" charset="0"/>
              </a:rPr>
              <a:t>1. User submits form → Flask receives POST request with 16 parameters</a:t>
            </a:r>
          </a:p>
          <a:p>
            <a:pPr algn="l"/>
            <a:r>
              <a:rPr lang="fr-FR" sz="1800" dirty="0">
                <a:latin typeface="Helvetica" panose="020B0604020202020204" pitchFamily="34" charset="0"/>
                <a:cs typeface="Helvetica" panose="020B0604020202020204" pitchFamily="34" charset="0"/>
              </a:rPr>
              <a:t>2. Data preparation → Convert form data to pandas DataFrame (same format as training)</a:t>
            </a:r>
          </a:p>
          <a:p>
            <a:pPr algn="l"/>
            <a:r>
              <a:rPr lang="fr-FR" sz="1800" dirty="0">
                <a:latin typeface="Helvetica" panose="020B0604020202020204" pitchFamily="34" charset="0"/>
                <a:cs typeface="Helvetica" panose="020B0604020202020204" pitchFamily="34" charset="0"/>
              </a:rPr>
              <a:t>3. Model prediction → Gradient Boosting model predicts waste percentage</a:t>
            </a:r>
          </a:p>
          <a:p>
            <a:pPr algn="l"/>
            <a:r>
              <a:rPr lang="fr-FR" sz="1800" dirty="0">
                <a:latin typeface="Helvetica" panose="020B0604020202020204" pitchFamily="34" charset="0"/>
                <a:cs typeface="Helvetica" panose="020B0604020202020204" pitchFamily="34" charset="0"/>
              </a:rPr>
              <a:t>4. SHAP calculation → TreeExplainer calculates feature contributions</a:t>
            </a:r>
          </a:p>
          <a:p>
            <a:pPr algn="l"/>
            <a:r>
              <a:rPr lang="fr-FR" sz="1800" dirty="0">
                <a:latin typeface="Helvetica" panose="020B0604020202020204" pitchFamily="34" charset="0"/>
                <a:cs typeface="Helvetica" panose="020B0604020202020204" pitchFamily="34" charset="0"/>
              </a:rPr>
              <a:t>5. Reliability scoring → k-NN finds similar training samples, calculates confidence</a:t>
            </a:r>
          </a:p>
          <a:p>
            <a:pPr algn="l"/>
            <a:r>
              <a:rPr lang="fr-FR" sz="1800" dirty="0">
                <a:latin typeface="Helvetica" panose="020B0604020202020204" pitchFamily="34" charset="0"/>
                <a:cs typeface="Helvetica" panose="020B0604020202020204" pitchFamily="34" charset="0"/>
              </a:rPr>
              <a:t>6. Cost/CO₂ analysis → Converts waste % to financial and environmental impact</a:t>
            </a:r>
          </a:p>
          <a:p>
            <a:pPr algn="l"/>
            <a:r>
              <a:rPr lang="fr-FR" sz="1800" dirty="0">
                <a:latin typeface="Helvetica" panose="020B0604020202020204" pitchFamily="34" charset="0"/>
                <a:cs typeface="Helvetica" panose="020B0604020202020204" pitchFamily="34" charset="0"/>
              </a:rPr>
              <a:t>7. Template rendering → Jinja2 combines all results into HTML response</a:t>
            </a:r>
          </a:p>
          <a:p>
            <a:pPr algn="l"/>
            <a:endParaRPr lang="fr-FR"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169180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CBA72-E2B4-4D0C-B068-F9072820760F}"/>
              </a:ext>
            </a:extLst>
          </p:cNvPr>
          <p:cNvSpPr>
            <a:spLocks noGrp="1"/>
          </p:cNvSpPr>
          <p:nvPr>
            <p:ph type="ctrTitle"/>
          </p:nvPr>
        </p:nvSpPr>
        <p:spPr>
          <a:xfrm>
            <a:off x="131958" y="1"/>
            <a:ext cx="11545228" cy="1572322"/>
          </a:xfrm>
        </p:spPr>
        <p:txBody>
          <a:bodyPr>
            <a:normAutofit/>
          </a:bodyPr>
          <a:lstStyle/>
          <a:p>
            <a:pPr algn="l"/>
            <a:r>
              <a:rPr lang="fr-FR" sz="4400" dirty="0">
                <a:solidFill>
                  <a:srgbClr val="8B2132"/>
                </a:solidFill>
                <a:effectLst/>
                <a:latin typeface="Helvetica" panose="020B0604020202020204" pitchFamily="34" charset="0"/>
                <a:cs typeface="Helvetica" panose="020B0604020202020204" pitchFamily="34" charset="0"/>
              </a:rPr>
              <a:t>Technical Implementation: Flask Backend</a:t>
            </a:r>
            <a:br>
              <a:rPr lang="fr-FR" sz="4400" dirty="0">
                <a:solidFill>
                  <a:srgbClr val="8B2132"/>
                </a:solidFill>
                <a:effectLst/>
                <a:latin typeface="Helvetica" panose="020B0604020202020204" pitchFamily="34" charset="0"/>
                <a:cs typeface="Helvetica" panose="020B0604020202020204" pitchFamily="34" charset="0"/>
              </a:rPr>
            </a:br>
            <a:endParaRPr lang="fr-FR" sz="44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AEABBF4D-150E-4F14-8708-F3077B3672E7}"/>
              </a:ext>
            </a:extLst>
          </p:cNvPr>
          <p:cNvSpPr>
            <a:spLocks noGrp="1"/>
          </p:cNvSpPr>
          <p:nvPr>
            <p:ph type="subTitle" idx="1"/>
          </p:nvPr>
        </p:nvSpPr>
        <p:spPr>
          <a:xfrm>
            <a:off x="348972" y="1349199"/>
            <a:ext cx="10417097" cy="2308301"/>
          </a:xfrm>
        </p:spPr>
        <p:txBody>
          <a:bodyPr>
            <a:normAutofit fontScale="25000" lnSpcReduction="20000"/>
          </a:bodyPr>
          <a:lstStyle/>
          <a:p>
            <a:pPr algn="l"/>
            <a:r>
              <a:rPr lang="en-US" sz="7200" b="0" dirty="0">
                <a:solidFill>
                  <a:srgbClr val="8B2132"/>
                </a:solidFill>
                <a:effectLst/>
                <a:latin typeface="Helvetica" panose="020B0604020202020204" pitchFamily="34" charset="0"/>
                <a:cs typeface="Helvetica" panose="020B0604020202020204" pitchFamily="34" charset="0"/>
              </a:rPr>
              <a:t>Why This Architecture:</a:t>
            </a:r>
          </a:p>
          <a:p>
            <a:pPr algn="l"/>
            <a:r>
              <a:rPr lang="en-US" sz="7200" dirty="0">
                <a:latin typeface="Helvetica" panose="020B0604020202020204" pitchFamily="34" charset="0"/>
                <a:cs typeface="Helvetica" panose="020B0604020202020204" pitchFamily="34" charset="0"/>
              </a:rPr>
              <a:t>- Separation of Concerns: Model logic separate from web logic separate from presentation</a:t>
            </a:r>
          </a:p>
          <a:p>
            <a:pPr algn="l"/>
            <a:r>
              <a:rPr lang="en-US" sz="7200" dirty="0">
                <a:latin typeface="Helvetica" panose="020B0604020202020204" pitchFamily="34" charset="0"/>
                <a:cs typeface="Helvetica" panose="020B0604020202020204" pitchFamily="34" charset="0"/>
              </a:rPr>
              <a:t>- Maintainability: Easy to update model without touching web code</a:t>
            </a:r>
          </a:p>
          <a:p>
            <a:pPr algn="l"/>
            <a:r>
              <a:rPr lang="en-US" sz="7200" dirty="0">
                <a:latin typeface="Helvetica" panose="020B0604020202020204" pitchFamily="34" charset="0"/>
                <a:cs typeface="Helvetica" panose="020B0604020202020204" pitchFamily="34" charset="0"/>
              </a:rPr>
              <a:t>- Scalability: Can add new features without breaking existing functionality</a:t>
            </a:r>
          </a:p>
          <a:p>
            <a:pPr algn="l"/>
            <a:r>
              <a:rPr lang="en-US" sz="7200" dirty="0">
                <a:latin typeface="Helvetica" panose="020B0604020202020204" pitchFamily="34" charset="0"/>
                <a:cs typeface="Helvetica" panose="020B0604020202020204" pitchFamily="34" charset="0"/>
              </a:rPr>
              <a:t>- Performance: Optimized to complete all calculations in &lt;2 seconds</a:t>
            </a:r>
          </a:p>
          <a:p>
            <a:pPr algn="l"/>
            <a:br>
              <a:rPr lang="en-US" sz="7200" b="0" dirty="0">
                <a:solidFill>
                  <a:srgbClr val="C00000"/>
                </a:solidFill>
                <a:effectLst/>
                <a:latin typeface="Helvetica" panose="020B0604020202020204" pitchFamily="34" charset="0"/>
                <a:cs typeface="Helvetica" panose="020B0604020202020204" pitchFamily="34" charset="0"/>
              </a:rPr>
            </a:br>
            <a:r>
              <a:rPr lang="en-US" sz="7200" b="0" dirty="0">
                <a:solidFill>
                  <a:srgbClr val="8B2132"/>
                </a:solidFill>
                <a:effectLst/>
                <a:latin typeface="Helvetica" panose="020B0604020202020204" pitchFamily="34" charset="0"/>
                <a:cs typeface="Helvetica" panose="020B0604020202020204" pitchFamily="34" charset="0"/>
              </a:rPr>
              <a:t>Flask Backend Structure:</a:t>
            </a:r>
          </a:p>
          <a:p>
            <a:pPr algn="l"/>
            <a:endParaRPr lang="fr-FR" dirty="0">
              <a:latin typeface="Helvetica" panose="020B0604020202020204" pitchFamily="34" charset="0"/>
              <a:cs typeface="Helvetica" panose="020B0604020202020204" pitchFamily="34" charset="0"/>
            </a:endParaRPr>
          </a:p>
        </p:txBody>
      </p:sp>
      <p:pic>
        <p:nvPicPr>
          <p:cNvPr id="5" name="Picture 4">
            <a:extLst>
              <a:ext uri="{FF2B5EF4-FFF2-40B4-BE49-F238E27FC236}">
                <a16:creationId xmlns:a16="http://schemas.microsoft.com/office/drawing/2014/main" id="{90EE2BF3-DDAD-4448-B19B-6D81092DE6F2}"/>
              </a:ext>
            </a:extLst>
          </p:cNvPr>
          <p:cNvPicPr>
            <a:picLocks noChangeAspect="1"/>
          </p:cNvPicPr>
          <p:nvPr/>
        </p:nvPicPr>
        <p:blipFill>
          <a:blip r:embed="rId3"/>
          <a:stretch>
            <a:fillRect/>
          </a:stretch>
        </p:blipFill>
        <p:spPr>
          <a:xfrm>
            <a:off x="427031" y="3518210"/>
            <a:ext cx="4991533" cy="2603810"/>
          </a:xfrm>
          <a:prstGeom prst="rect">
            <a:avLst/>
          </a:prstGeom>
        </p:spPr>
      </p:pic>
    </p:spTree>
    <p:extLst>
      <p:ext uri="{BB962C8B-B14F-4D97-AF65-F5344CB8AC3E}">
        <p14:creationId xmlns:p14="http://schemas.microsoft.com/office/powerpoint/2010/main" val="3418778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CBBB4-D384-462A-BB00-363F07EF684A}"/>
              </a:ext>
            </a:extLst>
          </p:cNvPr>
          <p:cNvSpPr>
            <a:spLocks noGrp="1"/>
          </p:cNvSpPr>
          <p:nvPr>
            <p:ph type="ctrTitle"/>
          </p:nvPr>
        </p:nvSpPr>
        <p:spPr>
          <a:xfrm>
            <a:off x="247185" y="119759"/>
            <a:ext cx="11697629" cy="1452563"/>
          </a:xfrm>
        </p:spPr>
        <p:txBody>
          <a:bodyPr>
            <a:normAutofit/>
          </a:bodyPr>
          <a:lstStyle/>
          <a:p>
            <a:pPr algn="l"/>
            <a:r>
              <a:rPr lang="fr-FR" sz="4400" dirty="0">
                <a:solidFill>
                  <a:srgbClr val="8B2132"/>
                </a:solidFill>
                <a:effectLst/>
                <a:latin typeface="Helvetica" panose="020B0604020202020204" pitchFamily="34" charset="0"/>
                <a:cs typeface="Helvetica" panose="020B0604020202020204" pitchFamily="34" charset="0"/>
              </a:rPr>
              <a:t>Technical Implementation: Flask Backend</a:t>
            </a:r>
            <a:br>
              <a:rPr lang="fr-FR" sz="4400" dirty="0">
                <a:solidFill>
                  <a:srgbClr val="8B2132"/>
                </a:solidFill>
                <a:effectLst/>
                <a:latin typeface="Helvetica" panose="020B0604020202020204" pitchFamily="34" charset="0"/>
                <a:cs typeface="Helvetica" panose="020B0604020202020204" pitchFamily="34" charset="0"/>
              </a:rPr>
            </a:br>
            <a:endParaRPr lang="fr-FR" sz="4400" dirty="0"/>
          </a:p>
        </p:txBody>
      </p:sp>
      <p:sp>
        <p:nvSpPr>
          <p:cNvPr id="3" name="Subtitle 2">
            <a:extLst>
              <a:ext uri="{FF2B5EF4-FFF2-40B4-BE49-F238E27FC236}">
                <a16:creationId xmlns:a16="http://schemas.microsoft.com/office/drawing/2014/main" id="{3F2E5DB2-EBC9-448B-BEB2-16C07EA3E7E4}"/>
              </a:ext>
            </a:extLst>
          </p:cNvPr>
          <p:cNvSpPr>
            <a:spLocks noGrp="1"/>
          </p:cNvSpPr>
          <p:nvPr>
            <p:ph type="subTitle" idx="1"/>
          </p:nvPr>
        </p:nvSpPr>
        <p:spPr>
          <a:xfrm>
            <a:off x="247184" y="1460810"/>
            <a:ext cx="11697629" cy="4995746"/>
          </a:xfrm>
        </p:spPr>
        <p:txBody>
          <a:bodyPr>
            <a:normAutofit/>
          </a:bodyPr>
          <a:lstStyle/>
          <a:p>
            <a:pPr algn="l"/>
            <a:r>
              <a:rPr lang="fr-FR" sz="1800" b="0" dirty="0">
                <a:solidFill>
                  <a:srgbClr val="8B2132"/>
                </a:solidFill>
                <a:effectLst/>
                <a:latin typeface="Helvetica" panose="020B0604020202020204" pitchFamily="34" charset="0"/>
                <a:cs typeface="Helvetica" panose="020B0604020202020204" pitchFamily="34" charset="0"/>
              </a:rPr>
              <a:t>Key Technical Points:</a:t>
            </a:r>
          </a:p>
          <a:p>
            <a:pPr algn="l"/>
            <a:r>
              <a:rPr lang="fr-FR" sz="1800" b="0" dirty="0">
                <a:effectLst/>
                <a:latin typeface="Helvetica" panose="020B0604020202020204" pitchFamily="34" charset="0"/>
                <a:cs typeface="Helvetica" panose="020B0604020202020204" pitchFamily="34" charset="0"/>
              </a:rPr>
              <a:t>- Single Route: One endpoint handles all prediction logic - simple, maintainable</a:t>
            </a:r>
          </a:p>
          <a:p>
            <a:pPr algn="l"/>
            <a:r>
              <a:rPr lang="fr-FR" sz="1800" b="0" dirty="0">
                <a:effectLst/>
                <a:latin typeface="Helvetica" panose="020B0604020202020204" pitchFamily="34" charset="0"/>
                <a:cs typeface="Helvetica" panose="020B0604020202020204" pitchFamily="34" charset="0"/>
              </a:rPr>
              <a:t>- Sequential Processing: Model → SHAP → Reliability → Cost/CO₂ - each step uses previous results</a:t>
            </a:r>
          </a:p>
          <a:p>
            <a:pPr algn="l"/>
            <a:r>
              <a:rPr lang="fr-FR" sz="1800" b="0" dirty="0">
                <a:effectLst/>
                <a:latin typeface="Helvetica" panose="020B0604020202020204" pitchFamily="34" charset="0"/>
                <a:cs typeface="Helvetica" panose="020B0604020202020204" pitchFamily="34" charset="0"/>
              </a:rPr>
              <a:t>- Template Rendering: Jinja2 receives all computed results - clean separation of logic and presentation</a:t>
            </a:r>
          </a:p>
          <a:p>
            <a:pPr algn="l"/>
            <a:r>
              <a:rPr lang="fr-FR" sz="1800" b="0" dirty="0">
                <a:effectLst/>
                <a:latin typeface="Helvetica" panose="020B0604020202020204" pitchFamily="34" charset="0"/>
                <a:cs typeface="Helvetica" panose="020B0604020202020204" pitchFamily="34" charset="0"/>
              </a:rPr>
              <a:t>- Error Handling: Graceful failure with user-friendly messages - system never crashes, always provides feedback</a:t>
            </a:r>
          </a:p>
          <a:p>
            <a:pPr algn="l"/>
            <a:r>
              <a:rPr lang="fr-FR" sz="1800" b="0" dirty="0">
                <a:effectLst/>
                <a:latin typeface="Helvetica" panose="020B0604020202020204" pitchFamily="34" charset="0"/>
                <a:cs typeface="Helvetica" panose="020B0604020202020204" pitchFamily="34" charset="0"/>
              </a:rPr>
              <a:t>- Performance: &lt;2 seconds processing time - fast enough for real-time use</a:t>
            </a:r>
          </a:p>
          <a:p>
            <a:pPr algn="l"/>
            <a:br>
              <a:rPr lang="fr-FR" sz="1800" b="0" dirty="0">
                <a:solidFill>
                  <a:srgbClr val="8B2132"/>
                </a:solidFill>
                <a:effectLst/>
                <a:latin typeface="Helvetica" panose="020B0604020202020204" pitchFamily="34" charset="0"/>
                <a:cs typeface="Helvetica" panose="020B0604020202020204" pitchFamily="34" charset="0"/>
              </a:rPr>
            </a:br>
            <a:r>
              <a:rPr lang="fr-FR" sz="1800" b="0" dirty="0">
                <a:solidFill>
                  <a:srgbClr val="8B2132"/>
                </a:solidFill>
                <a:effectLst/>
                <a:latin typeface="Helvetica" panose="020B0604020202020204" pitchFamily="34" charset="0"/>
                <a:cs typeface="Helvetica" panose="020B0604020202020204" pitchFamily="34" charset="0"/>
              </a:rPr>
              <a:t>Frontend-Backend Integration:</a:t>
            </a:r>
          </a:p>
          <a:p>
            <a:pPr algn="l"/>
            <a:r>
              <a:rPr lang="fr-FR" sz="1800" b="0" dirty="0">
                <a:effectLst/>
                <a:latin typeface="Helvetica" panose="020B0604020202020204" pitchFamily="34" charset="0"/>
                <a:cs typeface="Helvetica" panose="020B0604020202020204" pitchFamily="34" charset="0"/>
              </a:rPr>
              <a:t>- Templates: Jinja2 template inheritance allows reusable components (header, footer, navigation)</a:t>
            </a:r>
          </a:p>
          <a:p>
            <a:pPr algn="l"/>
            <a:r>
              <a:rPr lang="fr-FR" sz="1800" b="0" dirty="0">
                <a:effectLst/>
                <a:latin typeface="Helvetica" panose="020B0604020202020204" pitchFamily="34" charset="0"/>
                <a:cs typeface="Helvetica" panose="020B0604020202020204" pitchFamily="34" charset="0"/>
              </a:rPr>
              <a:t>- Static Assets: Organized folders make it easy to update CSS/JS/images independently</a:t>
            </a:r>
          </a:p>
          <a:p>
            <a:pPr algn="l"/>
            <a:r>
              <a:rPr lang="fr-FR" sz="1800" b="0" dirty="0">
                <a:effectLst/>
                <a:latin typeface="Helvetica" panose="020B0604020202020204" pitchFamily="34" charset="0"/>
                <a:cs typeface="Helvetica" panose="020B0604020202020204" pitchFamily="34" charset="0"/>
              </a:rPr>
              <a:t>- Responsive Design: Bootstrap 5 ensures works on all devices (mobile, tablet, desktop)</a:t>
            </a:r>
          </a:p>
          <a:p>
            <a:pPr algn="l"/>
            <a:r>
              <a:rPr lang="fr-FR" sz="1800" b="0" dirty="0">
                <a:effectLst/>
                <a:latin typeface="Helvetica" panose="020B0604020202020204" pitchFamily="34" charset="0"/>
                <a:cs typeface="Helvetica" panose="020B0604020202020204" pitchFamily="34" charset="0"/>
              </a:rPr>
              <a:t>- JavaScript: Client-side validation reduces server load and improves user experience</a:t>
            </a:r>
          </a:p>
          <a:p>
            <a:pPr algn="l"/>
            <a:endParaRPr lang="fr-FR" sz="1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626480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0C52D-60F1-4EFA-99FD-0EDAB4625D80}"/>
              </a:ext>
            </a:extLst>
          </p:cNvPr>
          <p:cNvSpPr>
            <a:spLocks noGrp="1"/>
          </p:cNvSpPr>
          <p:nvPr>
            <p:ph type="ctrTitle"/>
          </p:nvPr>
        </p:nvSpPr>
        <p:spPr>
          <a:xfrm>
            <a:off x="379141" y="0"/>
            <a:ext cx="11058292" cy="925552"/>
          </a:xfrm>
        </p:spPr>
        <p:txBody>
          <a:bodyPr>
            <a:normAutofit/>
          </a:bodyPr>
          <a:lstStyle/>
          <a:p>
            <a:pPr algn="l"/>
            <a:r>
              <a:rPr lang="en-US" sz="4400" dirty="0">
                <a:solidFill>
                  <a:srgbClr val="8B2132"/>
                </a:solidFill>
                <a:latin typeface="Helvetica" panose="020B0604020202020204" pitchFamily="34" charset="0"/>
                <a:cs typeface="Helvetica" panose="020B0604020202020204" pitchFamily="34" charset="0"/>
              </a:rPr>
              <a:t>Future Work </a:t>
            </a:r>
            <a:endParaRPr lang="fr-FR" sz="44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9F5673B6-ADE5-447C-9C9C-C757CE089D41}"/>
              </a:ext>
            </a:extLst>
          </p:cNvPr>
          <p:cNvSpPr>
            <a:spLocks noGrp="1"/>
          </p:cNvSpPr>
          <p:nvPr>
            <p:ph type="subTitle" idx="1"/>
          </p:nvPr>
        </p:nvSpPr>
        <p:spPr>
          <a:xfrm>
            <a:off x="379142" y="1698705"/>
            <a:ext cx="5887844" cy="4568280"/>
          </a:xfrm>
        </p:spPr>
        <p:txBody>
          <a:bodyPr>
            <a:noAutofit/>
          </a:bodyPr>
          <a:lstStyle/>
          <a:p>
            <a:pPr algn="l"/>
            <a:r>
              <a:rPr lang="fr-FR" sz="1800" b="0" dirty="0">
                <a:solidFill>
                  <a:srgbClr val="8B2132"/>
                </a:solidFill>
                <a:effectLst/>
                <a:latin typeface="Helvetica" panose="020B0604020202020204" pitchFamily="34" charset="0"/>
                <a:cs typeface="Helvetica" panose="020B0604020202020204" pitchFamily="34" charset="0"/>
              </a:rPr>
              <a:t>Immediate Next Steps:</a:t>
            </a:r>
          </a:p>
          <a:p>
            <a:pPr algn="l"/>
            <a:r>
              <a:rPr lang="fr-FR" sz="1800" b="0" dirty="0">
                <a:effectLst/>
                <a:latin typeface="Helvetica" panose="020B0604020202020204" pitchFamily="34" charset="0"/>
                <a:cs typeface="Helvetica" panose="020B0604020202020204" pitchFamily="34" charset="0"/>
              </a:rPr>
              <a:t>- Complete Hourie data integration</a:t>
            </a:r>
          </a:p>
          <a:p>
            <a:pPr algn="l"/>
            <a:r>
              <a:rPr lang="fr-FR" sz="1800" b="0" dirty="0">
                <a:effectLst/>
                <a:latin typeface="Helvetica" panose="020B0604020202020204" pitchFamily="34" charset="0"/>
                <a:cs typeface="Helvetica" panose="020B0604020202020204" pitchFamily="34" charset="0"/>
              </a:rPr>
              <a:t>- Model retraining with real data</a:t>
            </a:r>
          </a:p>
          <a:p>
            <a:pPr algn="l"/>
            <a:r>
              <a:rPr lang="fr-FR" sz="1800" b="0" dirty="0">
                <a:effectLst/>
                <a:latin typeface="Helvetica" panose="020B0604020202020204" pitchFamily="34" charset="0"/>
                <a:cs typeface="Helvetica" panose="020B0604020202020204" pitchFamily="34" charset="0"/>
              </a:rPr>
              <a:t>- Performance validation and comparison</a:t>
            </a:r>
          </a:p>
          <a:p>
            <a:pPr algn="l"/>
            <a:r>
              <a:rPr lang="fr-FR" sz="1800" b="0" dirty="0">
                <a:effectLst/>
                <a:latin typeface="Helvetica" panose="020B0604020202020204" pitchFamily="34" charset="0"/>
                <a:cs typeface="Helvetica" panose="020B0604020202020204" pitchFamily="34" charset="0"/>
              </a:rPr>
              <a:t>- Final testing and documentation</a:t>
            </a:r>
          </a:p>
          <a:p>
            <a:pPr algn="l"/>
            <a:r>
              <a:rPr lang="fr-FR" sz="1800" b="0" dirty="0">
                <a:effectLst/>
                <a:latin typeface="Helvetica" panose="020B0604020202020204" pitchFamily="34" charset="0"/>
                <a:cs typeface="Helvetica" panose="020B0604020202020204" pitchFamily="34" charset="0"/>
              </a:rPr>
              <a:t>- User feedback collection</a:t>
            </a:r>
          </a:p>
          <a:p>
            <a:pPr algn="l"/>
            <a:endParaRPr lang="fr-FR" sz="1800" b="0" dirty="0">
              <a:solidFill>
                <a:srgbClr val="8B2132"/>
              </a:solidFill>
              <a:effectLst/>
              <a:latin typeface="Helvetica" panose="020B0604020202020204" pitchFamily="34" charset="0"/>
              <a:cs typeface="Helvetica" panose="020B0604020202020204" pitchFamily="34" charset="0"/>
            </a:endParaRPr>
          </a:p>
          <a:p>
            <a:pPr algn="l"/>
            <a:r>
              <a:rPr lang="fr-FR" sz="1800" b="0" dirty="0">
                <a:solidFill>
                  <a:srgbClr val="8B2132"/>
                </a:solidFill>
                <a:effectLst/>
                <a:latin typeface="Helvetica" panose="020B0604020202020204" pitchFamily="34" charset="0"/>
                <a:cs typeface="Helvetica" panose="020B0604020202020204" pitchFamily="34" charset="0"/>
              </a:rPr>
              <a:t>1. Data Expansion</a:t>
            </a:r>
          </a:p>
          <a:p>
            <a:pPr algn="l"/>
            <a:r>
              <a:rPr lang="fr-FR" sz="1800" b="0" dirty="0">
                <a:effectLst/>
                <a:latin typeface="Helvetica" panose="020B0604020202020204" pitchFamily="34" charset="0"/>
                <a:cs typeface="Helvetica" panose="020B0604020202020204" pitchFamily="34" charset="0"/>
              </a:rPr>
              <a:t>- Additional real project datasets</a:t>
            </a:r>
          </a:p>
          <a:p>
            <a:pPr algn="l"/>
            <a:r>
              <a:rPr lang="fr-FR" sz="1800" b="0" dirty="0">
                <a:effectLst/>
                <a:latin typeface="Helvetica" panose="020B0604020202020204" pitchFamily="34" charset="0"/>
                <a:cs typeface="Helvetica" panose="020B0604020202020204" pitchFamily="34" charset="0"/>
              </a:rPr>
              <a:t>- Geographic expansion (beyond Middle East)</a:t>
            </a:r>
          </a:p>
          <a:p>
            <a:pPr algn="l"/>
            <a:r>
              <a:rPr lang="fr-FR" sz="1800" b="0" dirty="0">
                <a:effectLst/>
                <a:latin typeface="Helvetica" panose="020B0604020202020204" pitchFamily="34" charset="0"/>
                <a:cs typeface="Helvetica" panose="020B0604020202020204" pitchFamily="34" charset="0"/>
              </a:rPr>
              <a:t>- Temporal data (longitudinal studies)</a:t>
            </a:r>
          </a:p>
          <a:p>
            <a:pPr algn="l"/>
            <a:r>
              <a:rPr lang="fr-FR" sz="1800" b="0" dirty="0">
                <a:effectLst/>
                <a:latin typeface="Helvetica" panose="020B0604020202020204" pitchFamily="34" charset="0"/>
                <a:cs typeface="Helvetica" panose="020B0604020202020204" pitchFamily="34" charset="0"/>
              </a:rPr>
              <a:t>- Different project types</a:t>
            </a:r>
          </a:p>
          <a:p>
            <a:pPr algn="l"/>
            <a:endParaRPr lang="fr-FR" sz="1600" dirty="0">
              <a:latin typeface="Helvetica" panose="020B0604020202020204" pitchFamily="34" charset="0"/>
              <a:cs typeface="Helvetica" panose="020B0604020202020204" pitchFamily="34" charset="0"/>
            </a:endParaRPr>
          </a:p>
        </p:txBody>
      </p:sp>
      <p:sp>
        <p:nvSpPr>
          <p:cNvPr id="4" name="Subtitle 2">
            <a:extLst>
              <a:ext uri="{FF2B5EF4-FFF2-40B4-BE49-F238E27FC236}">
                <a16:creationId xmlns:a16="http://schemas.microsoft.com/office/drawing/2014/main" id="{6B6CD6E6-FAB1-407F-ABB0-090E59722674}"/>
              </a:ext>
            </a:extLst>
          </p:cNvPr>
          <p:cNvSpPr txBox="1">
            <a:spLocks/>
          </p:cNvSpPr>
          <p:nvPr/>
        </p:nvSpPr>
        <p:spPr>
          <a:xfrm>
            <a:off x="6266986" y="1698706"/>
            <a:ext cx="5285676" cy="2338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r>
              <a:rPr lang="fr-FR" sz="1800" b="0" dirty="0">
                <a:solidFill>
                  <a:srgbClr val="8B2132"/>
                </a:solidFill>
                <a:effectLst/>
                <a:latin typeface="Helvetica" panose="020B0604020202020204" pitchFamily="34" charset="0"/>
                <a:cs typeface="Helvetica" panose="020B0604020202020204" pitchFamily="34" charset="0"/>
              </a:rPr>
            </a:br>
            <a:r>
              <a:rPr lang="fr-FR" sz="1800" b="0" dirty="0">
                <a:solidFill>
                  <a:srgbClr val="8B2132"/>
                </a:solidFill>
                <a:effectLst/>
                <a:latin typeface="Helvetica" panose="020B0604020202020204" pitchFamily="34" charset="0"/>
                <a:cs typeface="Helvetica" panose="020B0604020202020204" pitchFamily="34" charset="0"/>
              </a:rPr>
              <a:t>2. Model Improvements</a:t>
            </a:r>
          </a:p>
          <a:p>
            <a:pPr algn="l"/>
            <a:r>
              <a:rPr lang="fr-FR" sz="1800" b="0" dirty="0">
                <a:effectLst/>
                <a:latin typeface="Helvetica" panose="020B0604020202020204" pitchFamily="34" charset="0"/>
                <a:cs typeface="Helvetica" panose="020B0604020202020204" pitchFamily="34" charset="0"/>
              </a:rPr>
              <a:t>- Hyperparameter optimization</a:t>
            </a:r>
          </a:p>
          <a:p>
            <a:pPr algn="l"/>
            <a:r>
              <a:rPr lang="fr-FR" sz="1800" b="0" dirty="0">
                <a:effectLst/>
                <a:latin typeface="Helvetica" panose="020B0604020202020204" pitchFamily="34" charset="0"/>
                <a:cs typeface="Helvetica" panose="020B0604020202020204" pitchFamily="34" charset="0"/>
              </a:rPr>
              <a:t>- Ensemble methods</a:t>
            </a:r>
          </a:p>
          <a:p>
            <a:pPr algn="l"/>
            <a:r>
              <a:rPr lang="fr-FR" sz="1800" b="0" dirty="0">
                <a:effectLst/>
                <a:latin typeface="Helvetica" panose="020B0604020202020204" pitchFamily="34" charset="0"/>
                <a:cs typeface="Helvetica" panose="020B0604020202020204" pitchFamily="34" charset="0"/>
              </a:rPr>
              <a:t>- Real-time learning (online updates)</a:t>
            </a:r>
          </a:p>
          <a:p>
            <a:pPr algn="l"/>
            <a:r>
              <a:rPr lang="fr-FR" sz="1800" b="0" dirty="0">
                <a:effectLst/>
                <a:latin typeface="Helvetica" panose="020B0604020202020204" pitchFamily="34" charset="0"/>
                <a:cs typeface="Helvetica" panose="020B0604020202020204" pitchFamily="34" charset="0"/>
              </a:rPr>
              <a:t>- Uncertainty quantification</a:t>
            </a:r>
          </a:p>
        </p:txBody>
      </p:sp>
    </p:spTree>
    <p:extLst>
      <p:ext uri="{BB962C8B-B14F-4D97-AF65-F5344CB8AC3E}">
        <p14:creationId xmlns:p14="http://schemas.microsoft.com/office/powerpoint/2010/main" val="1063852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A0621-18E8-40DC-9191-32AFE497C4B8}"/>
              </a:ext>
            </a:extLst>
          </p:cNvPr>
          <p:cNvSpPr>
            <a:spLocks noGrp="1"/>
          </p:cNvSpPr>
          <p:nvPr>
            <p:ph type="ctrTitle"/>
          </p:nvPr>
        </p:nvSpPr>
        <p:spPr>
          <a:xfrm>
            <a:off x="635616" y="252566"/>
            <a:ext cx="11266449" cy="829100"/>
          </a:xfrm>
        </p:spPr>
        <p:txBody>
          <a:bodyPr>
            <a:normAutofit/>
          </a:bodyPr>
          <a:lstStyle/>
          <a:p>
            <a:pPr algn="l"/>
            <a:r>
              <a:rPr lang="en-US" sz="4400" dirty="0">
                <a:solidFill>
                  <a:srgbClr val="8B2132"/>
                </a:solidFill>
                <a:latin typeface="Helvetica" panose="020B0604020202020204" pitchFamily="34" charset="0"/>
                <a:cs typeface="Helvetica" panose="020B0604020202020204" pitchFamily="34" charset="0"/>
              </a:rPr>
              <a:t>Future Work</a:t>
            </a:r>
            <a:endParaRPr lang="fr-FR" sz="44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5F07717E-6AC8-4D02-B5C0-62478AA0F39A}"/>
              </a:ext>
            </a:extLst>
          </p:cNvPr>
          <p:cNvSpPr>
            <a:spLocks noGrp="1"/>
          </p:cNvSpPr>
          <p:nvPr>
            <p:ph type="subTitle" idx="1"/>
          </p:nvPr>
        </p:nvSpPr>
        <p:spPr>
          <a:xfrm>
            <a:off x="810317" y="1561171"/>
            <a:ext cx="5458523" cy="3445727"/>
          </a:xfrm>
        </p:spPr>
        <p:txBody>
          <a:bodyPr>
            <a:normAutofit/>
          </a:bodyPr>
          <a:lstStyle/>
          <a:p>
            <a:pPr algn="l"/>
            <a:r>
              <a:rPr lang="en-US" sz="1800" dirty="0">
                <a:solidFill>
                  <a:srgbClr val="8B2132"/>
                </a:solidFill>
                <a:effectLst/>
                <a:latin typeface="Helvetica" panose="020B0604020202020204" pitchFamily="34" charset="0"/>
                <a:cs typeface="Helvetica" panose="020B0604020202020204" pitchFamily="34" charset="0"/>
              </a:rPr>
              <a:t>4. System Enhancements</a:t>
            </a:r>
          </a:p>
          <a:p>
            <a:pPr algn="l"/>
            <a:r>
              <a:rPr lang="en-US" sz="1800" b="0" dirty="0">
                <a:effectLst/>
                <a:latin typeface="Helvetica" panose="020B0604020202020204" pitchFamily="34" charset="0"/>
                <a:cs typeface="Helvetica" panose="020B0604020202020204" pitchFamily="34" charset="0"/>
              </a:rPr>
              <a:t>- User authentication and history</a:t>
            </a:r>
          </a:p>
          <a:p>
            <a:pPr algn="l"/>
            <a:r>
              <a:rPr lang="en-US" sz="1800" b="0" dirty="0">
                <a:effectLst/>
                <a:latin typeface="Helvetica" panose="020B0604020202020204" pitchFamily="34" charset="0"/>
                <a:cs typeface="Helvetica" panose="020B0604020202020204" pitchFamily="34" charset="0"/>
              </a:rPr>
              <a:t>- Project comparison tools</a:t>
            </a:r>
          </a:p>
          <a:p>
            <a:pPr algn="l"/>
            <a:r>
              <a:rPr lang="en-US" sz="1800" b="0" dirty="0">
                <a:effectLst/>
                <a:latin typeface="Helvetica" panose="020B0604020202020204" pitchFamily="34" charset="0"/>
                <a:cs typeface="Helvetica" panose="020B0604020202020204" pitchFamily="34" charset="0"/>
              </a:rPr>
              <a:t>- Batch prediction capabilities</a:t>
            </a:r>
          </a:p>
          <a:p>
            <a:pPr algn="l"/>
            <a:r>
              <a:rPr lang="en-US" sz="1800" b="0" dirty="0">
                <a:effectLst/>
                <a:latin typeface="Helvetica" panose="020B0604020202020204" pitchFamily="34" charset="0"/>
                <a:cs typeface="Helvetica" panose="020B0604020202020204" pitchFamily="34" charset="0"/>
              </a:rPr>
              <a:t>- API for third-party integration</a:t>
            </a:r>
          </a:p>
          <a:p>
            <a:pPr algn="l"/>
            <a:r>
              <a:rPr lang="en-US" sz="1800" b="0" dirty="0">
                <a:effectLst/>
                <a:latin typeface="Helvetica" panose="020B0604020202020204" pitchFamily="34" charset="0"/>
                <a:cs typeface="Helvetica" panose="020B0604020202020204" pitchFamily="34" charset="0"/>
              </a:rPr>
              <a:t>- Mobile application</a:t>
            </a:r>
          </a:p>
          <a:p>
            <a:endParaRPr lang="fr-FR" dirty="0"/>
          </a:p>
        </p:txBody>
      </p:sp>
      <p:sp>
        <p:nvSpPr>
          <p:cNvPr id="4" name="Subtitle 2">
            <a:extLst>
              <a:ext uri="{FF2B5EF4-FFF2-40B4-BE49-F238E27FC236}">
                <a16:creationId xmlns:a16="http://schemas.microsoft.com/office/drawing/2014/main" id="{92F6DE29-3336-41E0-86A4-DB417603235A}"/>
              </a:ext>
            </a:extLst>
          </p:cNvPr>
          <p:cNvSpPr txBox="1">
            <a:spLocks/>
          </p:cNvSpPr>
          <p:nvPr/>
        </p:nvSpPr>
        <p:spPr>
          <a:xfrm>
            <a:off x="810317" y="4189138"/>
            <a:ext cx="5631365" cy="229715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dirty="0">
                <a:solidFill>
                  <a:srgbClr val="8B2132"/>
                </a:solidFill>
                <a:effectLst/>
                <a:latin typeface="Helvetica" panose="020B0604020202020204" pitchFamily="34" charset="0"/>
                <a:cs typeface="Helvetica" panose="020B0604020202020204" pitchFamily="34" charset="0"/>
              </a:rPr>
              <a:t>5. Research &amp; Validation</a:t>
            </a:r>
          </a:p>
          <a:p>
            <a:pPr algn="l"/>
            <a:r>
              <a:rPr lang="en-US" sz="1800" b="0" dirty="0">
                <a:effectLst/>
                <a:latin typeface="Helvetica" panose="020B0604020202020204" pitchFamily="34" charset="0"/>
                <a:cs typeface="Helvetica" panose="020B0604020202020204" pitchFamily="34" charset="0"/>
              </a:rPr>
              <a:t>- Field studies and validation</a:t>
            </a:r>
          </a:p>
          <a:p>
            <a:pPr algn="l"/>
            <a:r>
              <a:rPr lang="en-US" sz="1800" b="0" dirty="0">
                <a:effectLst/>
                <a:latin typeface="Helvetica" panose="020B0604020202020204" pitchFamily="34" charset="0"/>
                <a:cs typeface="Helvetica" panose="020B0604020202020204" pitchFamily="34" charset="0"/>
              </a:rPr>
              <a:t>- Industry pilot programs</a:t>
            </a:r>
          </a:p>
          <a:p>
            <a:pPr algn="l"/>
            <a:r>
              <a:rPr lang="en-US" sz="1800" b="0" dirty="0">
                <a:effectLst/>
                <a:latin typeface="Helvetica" panose="020B0604020202020204" pitchFamily="34" charset="0"/>
                <a:cs typeface="Helvetica" panose="020B0604020202020204" pitchFamily="34" charset="0"/>
              </a:rPr>
              <a:t>- Academic publication</a:t>
            </a:r>
          </a:p>
          <a:p>
            <a:pPr algn="l"/>
            <a:r>
              <a:rPr lang="en-US" sz="1800" b="0" dirty="0">
                <a:effectLst/>
                <a:latin typeface="Helvetica" panose="020B0604020202020204" pitchFamily="34" charset="0"/>
                <a:cs typeface="Helvetica" panose="020B0604020202020204" pitchFamily="34" charset="0"/>
              </a:rPr>
              <a:t>- Best practices documentation</a:t>
            </a:r>
          </a:p>
          <a:p>
            <a:pPr algn="l"/>
            <a:endParaRPr lang="en-US" sz="1800" b="0" dirty="0">
              <a:effectLst/>
              <a:latin typeface="Helvetica" panose="020B0604020202020204" pitchFamily="34" charset="0"/>
              <a:cs typeface="Helvetica" panose="020B0604020202020204" pitchFamily="34" charset="0"/>
            </a:endParaRPr>
          </a:p>
        </p:txBody>
      </p:sp>
      <p:sp>
        <p:nvSpPr>
          <p:cNvPr id="5" name="Subtitle 2">
            <a:extLst>
              <a:ext uri="{FF2B5EF4-FFF2-40B4-BE49-F238E27FC236}">
                <a16:creationId xmlns:a16="http://schemas.microsoft.com/office/drawing/2014/main" id="{39901B2C-F674-42D6-AF6F-8BEC21E33C60}"/>
              </a:ext>
            </a:extLst>
          </p:cNvPr>
          <p:cNvSpPr txBox="1">
            <a:spLocks/>
          </p:cNvSpPr>
          <p:nvPr/>
        </p:nvSpPr>
        <p:spPr>
          <a:xfrm>
            <a:off x="5800491" y="1393901"/>
            <a:ext cx="5285676" cy="248300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r>
              <a:rPr lang="fr-FR" sz="1800" b="0" dirty="0">
                <a:solidFill>
                  <a:srgbClr val="8B2132"/>
                </a:solidFill>
                <a:effectLst/>
                <a:latin typeface="Helvetica" panose="020B0604020202020204" pitchFamily="34" charset="0"/>
                <a:cs typeface="Helvetica" panose="020B0604020202020204" pitchFamily="34" charset="0"/>
              </a:rPr>
            </a:br>
            <a:r>
              <a:rPr lang="fr-FR" sz="1800" b="0" dirty="0">
                <a:solidFill>
                  <a:srgbClr val="8B2132"/>
                </a:solidFill>
                <a:effectLst/>
                <a:latin typeface="Helvetica" panose="020B0604020202020204" pitchFamily="34" charset="0"/>
                <a:cs typeface="Helvetica" panose="020B0604020202020204" pitchFamily="34" charset="0"/>
              </a:rPr>
              <a:t>3. Feature Extensions</a:t>
            </a:r>
          </a:p>
          <a:p>
            <a:pPr algn="l"/>
            <a:r>
              <a:rPr lang="fr-FR" sz="1800" b="0" dirty="0">
                <a:effectLst/>
                <a:latin typeface="Helvetica" panose="020B0604020202020204" pitchFamily="34" charset="0"/>
                <a:cs typeface="Helvetica" panose="020B0604020202020204" pitchFamily="34" charset="0"/>
              </a:rPr>
              <a:t>- Additional material types (concrete, blocks)</a:t>
            </a:r>
          </a:p>
          <a:p>
            <a:pPr algn="l"/>
            <a:r>
              <a:rPr lang="fr-FR" sz="1800" b="0" dirty="0">
                <a:effectLst/>
                <a:latin typeface="Helvetica" panose="020B0604020202020204" pitchFamily="34" charset="0"/>
                <a:cs typeface="Helvetica" panose="020B0604020202020204" pitchFamily="34" charset="0"/>
              </a:rPr>
              <a:t>- Weather and environmental factors</a:t>
            </a:r>
          </a:p>
          <a:p>
            <a:pPr algn="l"/>
            <a:r>
              <a:rPr lang="fr-FR" sz="1800" b="0" dirty="0">
                <a:effectLst/>
                <a:latin typeface="Helvetica" panose="020B0604020202020204" pitchFamily="34" charset="0"/>
                <a:cs typeface="Helvetica" panose="020B0604020202020204" pitchFamily="34" charset="0"/>
              </a:rPr>
              <a:t>- Supply chain parameters</a:t>
            </a:r>
          </a:p>
          <a:p>
            <a:pPr algn="l"/>
            <a:r>
              <a:rPr lang="fr-FR" sz="1800" b="0" dirty="0">
                <a:effectLst/>
                <a:latin typeface="Helvetica" panose="020B0604020202020204" pitchFamily="34" charset="0"/>
                <a:cs typeface="Helvetica" panose="020B0604020202020204" pitchFamily="34" charset="0"/>
              </a:rPr>
              <a:t>- Advanced BIM integration metrics</a:t>
            </a:r>
          </a:p>
        </p:txBody>
      </p:sp>
    </p:spTree>
    <p:extLst>
      <p:ext uri="{BB962C8B-B14F-4D97-AF65-F5344CB8AC3E}">
        <p14:creationId xmlns:p14="http://schemas.microsoft.com/office/powerpoint/2010/main" val="1859512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59FFC-1A66-4901-893E-3370AE7ED0A7}"/>
              </a:ext>
            </a:extLst>
          </p:cNvPr>
          <p:cNvSpPr>
            <a:spLocks noGrp="1"/>
          </p:cNvSpPr>
          <p:nvPr>
            <p:ph type="ctrTitle"/>
          </p:nvPr>
        </p:nvSpPr>
        <p:spPr>
          <a:xfrm>
            <a:off x="278783" y="96452"/>
            <a:ext cx="9144000" cy="996369"/>
          </a:xfrm>
        </p:spPr>
        <p:txBody>
          <a:bodyPr>
            <a:normAutofit/>
          </a:bodyPr>
          <a:lstStyle/>
          <a:p>
            <a:pPr algn="l"/>
            <a:r>
              <a:rPr lang="en-US" sz="4400" dirty="0">
                <a:solidFill>
                  <a:srgbClr val="8B2132"/>
                </a:solidFill>
                <a:latin typeface="Helvetica" panose="020B0604020202020204" pitchFamily="34" charset="0"/>
                <a:cs typeface="Helvetica" panose="020B0604020202020204" pitchFamily="34" charset="0"/>
              </a:rPr>
              <a:t>Impact</a:t>
            </a:r>
            <a:endParaRPr lang="fr-FR" sz="44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150D7FBD-A4F9-4CC8-BC8A-4A8785342307}"/>
              </a:ext>
            </a:extLst>
          </p:cNvPr>
          <p:cNvSpPr>
            <a:spLocks noGrp="1"/>
          </p:cNvSpPr>
          <p:nvPr>
            <p:ph type="subTitle" idx="1"/>
          </p:nvPr>
        </p:nvSpPr>
        <p:spPr>
          <a:xfrm>
            <a:off x="278784" y="1676396"/>
            <a:ext cx="5151860" cy="3806285"/>
          </a:xfrm>
        </p:spPr>
        <p:txBody>
          <a:bodyPr>
            <a:normAutofit fontScale="70000" lnSpcReduction="20000"/>
          </a:bodyPr>
          <a:lstStyle/>
          <a:p>
            <a:pPr algn="l"/>
            <a:r>
              <a:rPr lang="fr-FR" sz="2600" b="0" dirty="0">
                <a:solidFill>
                  <a:srgbClr val="8B2132"/>
                </a:solidFill>
                <a:effectLst/>
                <a:latin typeface="Helvetica" panose="020B0604020202020204" pitchFamily="34" charset="0"/>
                <a:cs typeface="Helvetica" panose="020B0604020202020204" pitchFamily="34" charset="0"/>
              </a:rPr>
              <a:t>Industry Impact:</a:t>
            </a:r>
          </a:p>
          <a:p>
            <a:pPr algn="l"/>
            <a:br>
              <a:rPr lang="fr-FR" sz="2600" b="0" dirty="0">
                <a:solidFill>
                  <a:srgbClr val="CCCCCC"/>
                </a:solidFill>
                <a:effectLst/>
                <a:latin typeface="Helvetica" panose="020B0604020202020204" pitchFamily="34" charset="0"/>
                <a:cs typeface="Helvetica" panose="020B0604020202020204" pitchFamily="34" charset="0"/>
              </a:rPr>
            </a:br>
            <a:r>
              <a:rPr lang="fr-FR" sz="2600" b="0" dirty="0">
                <a:solidFill>
                  <a:srgbClr val="8B2132"/>
                </a:solidFill>
                <a:effectLst/>
                <a:latin typeface="Helvetica" panose="020B0604020202020204" pitchFamily="34" charset="0"/>
                <a:cs typeface="Helvetica" panose="020B0604020202020204" pitchFamily="34" charset="0"/>
              </a:rPr>
              <a:t>Cost</a:t>
            </a:r>
            <a:r>
              <a:rPr lang="fr-FR" sz="2600" b="0" dirty="0">
                <a:effectLst/>
                <a:latin typeface="Helvetica" panose="020B0604020202020204" pitchFamily="34" charset="0"/>
                <a:cs typeface="Helvetica" panose="020B0604020202020204" pitchFamily="34" charset="0"/>
              </a:rPr>
              <a:t> </a:t>
            </a:r>
            <a:r>
              <a:rPr lang="fr-FR" sz="2600" b="0" dirty="0">
                <a:solidFill>
                  <a:srgbClr val="8B2132"/>
                </a:solidFill>
                <a:effectLst/>
                <a:latin typeface="Helvetica" panose="020B0604020202020204" pitchFamily="34" charset="0"/>
                <a:cs typeface="Helvetica" panose="020B0604020202020204" pitchFamily="34" charset="0"/>
              </a:rPr>
              <a:t>Savings:</a:t>
            </a:r>
          </a:p>
          <a:p>
            <a:pPr algn="l"/>
            <a:r>
              <a:rPr lang="fr-FR" sz="2600" b="0" dirty="0">
                <a:effectLst/>
                <a:latin typeface="Helvetica" panose="020B0604020202020204" pitchFamily="34" charset="0"/>
                <a:cs typeface="Helvetica" panose="020B0604020202020204" pitchFamily="34" charset="0"/>
              </a:rPr>
              <a:t>- Per Project: $4,000-$8,000 per 100,000 kg steel</a:t>
            </a:r>
          </a:p>
          <a:p>
            <a:pPr algn="l"/>
            <a:r>
              <a:rPr lang="fr-FR" sz="2600" b="0" dirty="0">
                <a:effectLst/>
                <a:latin typeface="Helvetica" panose="020B0604020202020204" pitchFamily="34" charset="0"/>
                <a:cs typeface="Helvetica" panose="020B0604020202020204" pitchFamily="34" charset="0"/>
              </a:rPr>
              <a:t>- Annual Potential: Millions in savings across industry</a:t>
            </a:r>
          </a:p>
          <a:p>
            <a:pPr algn="l"/>
            <a:r>
              <a:rPr lang="fr-FR" sz="2600" b="0" dirty="0">
                <a:effectLst/>
                <a:latin typeface="Helvetica" panose="020B0604020202020204" pitchFamily="34" charset="0"/>
                <a:cs typeface="Helvetica" panose="020B0604020202020204" pitchFamily="34" charset="0"/>
              </a:rPr>
              <a:t>- Improved Estimation: Better bidding accuracy</a:t>
            </a:r>
          </a:p>
          <a:p>
            <a:pPr algn="l"/>
            <a:br>
              <a:rPr lang="fr-FR" sz="2600" b="0" dirty="0">
                <a:solidFill>
                  <a:srgbClr val="8B2132"/>
                </a:solidFill>
                <a:effectLst/>
                <a:latin typeface="Helvetica" panose="020B0604020202020204" pitchFamily="34" charset="0"/>
                <a:cs typeface="Helvetica" panose="020B0604020202020204" pitchFamily="34" charset="0"/>
              </a:rPr>
            </a:br>
            <a:r>
              <a:rPr lang="fr-FR" sz="2600" b="0" dirty="0">
                <a:solidFill>
                  <a:srgbClr val="8B2132"/>
                </a:solidFill>
                <a:effectLst/>
                <a:latin typeface="Helvetica" panose="020B0604020202020204" pitchFamily="34" charset="0"/>
                <a:cs typeface="Helvetica" panose="020B0604020202020204" pitchFamily="34" charset="0"/>
              </a:rPr>
              <a:t>Environmental Impact:</a:t>
            </a:r>
          </a:p>
          <a:p>
            <a:pPr algn="l"/>
            <a:r>
              <a:rPr lang="fr-FR" sz="2600" b="0" dirty="0">
                <a:effectLst/>
                <a:latin typeface="Helvetica" panose="020B0604020202020204" pitchFamily="34" charset="0"/>
                <a:cs typeface="Helvetica" panose="020B0604020202020204" pitchFamily="34" charset="0"/>
              </a:rPr>
              <a:t>- CO₂ Reduction: 10,000-20,000 kg per project</a:t>
            </a:r>
          </a:p>
          <a:p>
            <a:pPr algn="l"/>
            <a:r>
              <a:rPr lang="fr-FR" sz="2600" b="0" dirty="0">
                <a:effectLst/>
                <a:latin typeface="Helvetica" panose="020B0604020202020204" pitchFamily="34" charset="0"/>
                <a:cs typeface="Helvetica" panose="020B0604020202020204" pitchFamily="34" charset="0"/>
              </a:rPr>
              <a:t>- Material Efficiency: Reduced waste = less production needed</a:t>
            </a:r>
          </a:p>
          <a:p>
            <a:pPr algn="l"/>
            <a:r>
              <a:rPr lang="fr-FR" sz="2600" b="0" dirty="0">
                <a:effectLst/>
                <a:latin typeface="Helvetica" panose="020B0604020202020204" pitchFamily="34" charset="0"/>
                <a:cs typeface="Helvetica" panose="020B0604020202020204" pitchFamily="34" charset="0"/>
              </a:rPr>
              <a:t>- Sustainability: Aligns with net-zero goals</a:t>
            </a:r>
          </a:p>
          <a:p>
            <a:endParaRPr lang="fr-FR" dirty="0">
              <a:latin typeface="Helvetica" panose="020B0604020202020204" pitchFamily="34" charset="0"/>
              <a:cs typeface="Helvetica" panose="020B0604020202020204" pitchFamily="34" charset="0"/>
            </a:endParaRPr>
          </a:p>
        </p:txBody>
      </p:sp>
      <p:sp>
        <p:nvSpPr>
          <p:cNvPr id="6" name="Subtitle 2">
            <a:extLst>
              <a:ext uri="{FF2B5EF4-FFF2-40B4-BE49-F238E27FC236}">
                <a16:creationId xmlns:a16="http://schemas.microsoft.com/office/drawing/2014/main" id="{CD345D6B-06E7-4EBB-A656-F65D22746A92}"/>
              </a:ext>
            </a:extLst>
          </p:cNvPr>
          <p:cNvSpPr txBox="1">
            <a:spLocks/>
          </p:cNvSpPr>
          <p:nvPr/>
        </p:nvSpPr>
        <p:spPr>
          <a:xfrm>
            <a:off x="5512419" y="1678258"/>
            <a:ext cx="6400797" cy="35014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FR" sz="1800" dirty="0">
                <a:solidFill>
                  <a:srgbClr val="8B2132"/>
                </a:solidFill>
                <a:latin typeface="Helvetica" panose="020B0604020202020204" pitchFamily="34" charset="0"/>
                <a:cs typeface="Helvetica" panose="020B0604020202020204" pitchFamily="34" charset="0"/>
              </a:rPr>
              <a:t>Technical Achievements:</a:t>
            </a:r>
          </a:p>
          <a:p>
            <a:pPr algn="l"/>
            <a:r>
              <a:rPr lang="fr-FR" sz="1800" dirty="0">
                <a:latin typeface="Helvetica" panose="020B0604020202020204" pitchFamily="34" charset="0"/>
                <a:cs typeface="Helvetica" panose="020B0604020202020204" pitchFamily="34" charset="0"/>
              </a:rPr>
              <a:t>- 93% Model Accuracy: Exceeded all targets (63-69% better)</a:t>
            </a:r>
          </a:p>
          <a:p>
            <a:pPr algn="l"/>
            <a:r>
              <a:rPr lang="fr-FR" sz="1800" dirty="0">
                <a:latin typeface="Helvetica" panose="020B0604020202020204" pitchFamily="34" charset="0"/>
                <a:cs typeface="Helvetica" panose="020B0604020202020204" pitchFamily="34" charset="0"/>
              </a:rPr>
              <a:t>- Explainable AI: SHAP-based transparency</a:t>
            </a:r>
          </a:p>
          <a:p>
            <a:pPr algn="l"/>
            <a:r>
              <a:rPr lang="fr-FR" sz="1800" dirty="0">
                <a:latin typeface="Helvetica" panose="020B0604020202020204" pitchFamily="34" charset="0"/>
                <a:cs typeface="Helvetica" panose="020B0604020202020204" pitchFamily="34" charset="0"/>
              </a:rPr>
              <a:t>- Reliability System: Confidence indicators for engineers</a:t>
            </a:r>
          </a:p>
          <a:p>
            <a:pPr algn="l"/>
            <a:r>
              <a:rPr lang="fr-FR" sz="1800" dirty="0">
                <a:latin typeface="Helvetica" panose="020B0604020202020204" pitchFamily="34" charset="0"/>
                <a:cs typeface="Helvetica" panose="020B0604020202020204" pitchFamily="34" charset="0"/>
              </a:rPr>
              <a:t>- Integrated Analysis: Prediction + Cost + CO₂ in one system</a:t>
            </a:r>
          </a:p>
          <a:p>
            <a:pPr algn="l"/>
            <a:r>
              <a:rPr lang="fr-FR" sz="1800" dirty="0">
                <a:latin typeface="Helvetica" panose="020B0604020202020204" pitchFamily="34" charset="0"/>
                <a:cs typeface="Helvetica" panose="020B0604020202020204" pitchFamily="34" charset="0"/>
              </a:rPr>
              <a:t>- Production-Ready: Professional web application</a:t>
            </a:r>
          </a:p>
          <a:p>
            <a:endParaRPr lang="fr-FR" dirty="0"/>
          </a:p>
        </p:txBody>
      </p:sp>
    </p:spTree>
    <p:extLst>
      <p:ext uri="{BB962C8B-B14F-4D97-AF65-F5344CB8AC3E}">
        <p14:creationId xmlns:p14="http://schemas.microsoft.com/office/powerpoint/2010/main" val="4275306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D4624-EA77-49BB-AA8E-FD999F7D7058}"/>
              </a:ext>
            </a:extLst>
          </p:cNvPr>
          <p:cNvSpPr>
            <a:spLocks noGrp="1"/>
          </p:cNvSpPr>
          <p:nvPr>
            <p:ph type="ctrTitle"/>
          </p:nvPr>
        </p:nvSpPr>
        <p:spPr>
          <a:xfrm>
            <a:off x="362414" y="0"/>
            <a:ext cx="11467171" cy="1096730"/>
          </a:xfrm>
        </p:spPr>
        <p:txBody>
          <a:bodyPr>
            <a:normAutofit/>
          </a:bodyPr>
          <a:lstStyle/>
          <a:p>
            <a:pPr algn="l"/>
            <a:r>
              <a:rPr lang="en-US" sz="4400" dirty="0">
                <a:solidFill>
                  <a:srgbClr val="8B2132"/>
                </a:solidFill>
                <a:latin typeface="Helvetica" panose="020B0604020202020204" pitchFamily="34" charset="0"/>
                <a:cs typeface="Helvetica" panose="020B0604020202020204" pitchFamily="34" charset="0"/>
              </a:rPr>
              <a:t>Impact</a:t>
            </a:r>
            <a:endParaRPr lang="fr-FR" sz="4400" dirty="0">
              <a:solidFill>
                <a:srgbClr val="8B2132"/>
              </a:solidFill>
              <a:latin typeface="Helvetica" panose="020B0604020202020204" pitchFamily="34" charset="0"/>
              <a:cs typeface="Helvetica" panose="020B0604020202020204" pitchFamily="34" charset="0"/>
            </a:endParaRPr>
          </a:p>
        </p:txBody>
      </p:sp>
      <p:sp>
        <p:nvSpPr>
          <p:cNvPr id="4" name="Subtitle 2">
            <a:extLst>
              <a:ext uri="{FF2B5EF4-FFF2-40B4-BE49-F238E27FC236}">
                <a16:creationId xmlns:a16="http://schemas.microsoft.com/office/drawing/2014/main" id="{53AC0DBA-7283-4E33-B9C3-019A2E66850A}"/>
              </a:ext>
            </a:extLst>
          </p:cNvPr>
          <p:cNvSpPr txBox="1">
            <a:spLocks/>
          </p:cNvSpPr>
          <p:nvPr/>
        </p:nvSpPr>
        <p:spPr>
          <a:xfrm>
            <a:off x="362414" y="1709852"/>
            <a:ext cx="8971157" cy="419657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0" dirty="0">
                <a:solidFill>
                  <a:srgbClr val="8B2132"/>
                </a:solidFill>
                <a:effectLst/>
                <a:latin typeface="Helvetica" panose="020B0604020202020204" pitchFamily="34" charset="0"/>
                <a:cs typeface="Helvetica" panose="020B0604020202020204" pitchFamily="34" charset="0"/>
              </a:rPr>
              <a:t>Innovation:</a:t>
            </a:r>
          </a:p>
          <a:p>
            <a:pPr algn="l"/>
            <a:r>
              <a:rPr lang="en-US" sz="1800" b="0" dirty="0">
                <a:effectLst/>
                <a:latin typeface="Helvetica" panose="020B0604020202020204" pitchFamily="34" charset="0"/>
                <a:cs typeface="Helvetica" panose="020B0604020202020204" pitchFamily="34" charset="0"/>
              </a:rPr>
              <a:t>- First Steel-Specific: Waste prediction with explainability</a:t>
            </a:r>
          </a:p>
          <a:p>
            <a:pPr algn="l"/>
            <a:r>
              <a:rPr lang="en-US" sz="1800" b="0" dirty="0">
                <a:effectLst/>
                <a:latin typeface="Helvetica" panose="020B0604020202020204" pitchFamily="34" charset="0"/>
                <a:cs typeface="Helvetica" panose="020B0604020202020204" pitchFamily="34" charset="0"/>
              </a:rPr>
              <a:t>- Combined Approach: Prediction + financial + environmental</a:t>
            </a:r>
          </a:p>
          <a:p>
            <a:pPr algn="l"/>
            <a:r>
              <a:rPr lang="en-US" sz="1800" b="0" dirty="0">
                <a:effectLst/>
                <a:latin typeface="Helvetica" panose="020B0604020202020204" pitchFamily="34" charset="0"/>
                <a:cs typeface="Helvetica" panose="020B0604020202020204" pitchFamily="34" charset="0"/>
              </a:rPr>
              <a:t>- Engineering-Focused: Reliability indicators for responsibility</a:t>
            </a:r>
          </a:p>
          <a:p>
            <a:pPr algn="l"/>
            <a:r>
              <a:rPr lang="en-US" sz="1800" b="0" dirty="0">
                <a:effectLst/>
                <a:latin typeface="Helvetica" panose="020B0604020202020204" pitchFamily="34" charset="0"/>
                <a:cs typeface="Helvetica" panose="020B0604020202020204" pitchFamily="34" charset="0"/>
              </a:rPr>
              <a:t>- Practical Tool: Ready for immediate industry use</a:t>
            </a:r>
          </a:p>
          <a:p>
            <a:pPr algn="l"/>
            <a:endParaRPr lang="en-US" sz="1800" b="0" dirty="0">
              <a:solidFill>
                <a:srgbClr val="8B2132"/>
              </a:solidFill>
              <a:effectLst/>
              <a:latin typeface="Helvetica" panose="020B0604020202020204" pitchFamily="34" charset="0"/>
              <a:cs typeface="Helvetica" panose="020B0604020202020204" pitchFamily="34" charset="0"/>
            </a:endParaRPr>
          </a:p>
          <a:p>
            <a:pPr algn="l"/>
            <a:br>
              <a:rPr lang="en-US" sz="1800" b="0" dirty="0">
                <a:solidFill>
                  <a:srgbClr val="8B2132"/>
                </a:solidFill>
                <a:effectLst/>
                <a:latin typeface="Helvetica" panose="020B0604020202020204" pitchFamily="34" charset="0"/>
                <a:cs typeface="Helvetica" panose="020B0604020202020204" pitchFamily="34" charset="0"/>
              </a:rPr>
            </a:br>
            <a:r>
              <a:rPr lang="en-US" sz="1800" b="0" dirty="0">
                <a:solidFill>
                  <a:srgbClr val="8B2132"/>
                </a:solidFill>
                <a:effectLst/>
                <a:latin typeface="Helvetica" panose="020B0604020202020204" pitchFamily="34" charset="0"/>
                <a:cs typeface="Helvetica" panose="020B0604020202020204" pitchFamily="34" charset="0"/>
              </a:rPr>
              <a:t>Academic Contribution:</a:t>
            </a:r>
          </a:p>
          <a:p>
            <a:pPr algn="l"/>
            <a:r>
              <a:rPr lang="en-US" sz="1800" b="0" dirty="0">
                <a:effectLst/>
                <a:latin typeface="Helvetica" panose="020B0604020202020204" pitchFamily="34" charset="0"/>
                <a:cs typeface="Helvetica" panose="020B0604020202020204" pitchFamily="34" charset="0"/>
              </a:rPr>
              <a:t>- Methodology: Replicable framework for other materials</a:t>
            </a:r>
          </a:p>
          <a:p>
            <a:pPr algn="l"/>
            <a:r>
              <a:rPr lang="en-US" sz="1800" b="0" dirty="0">
                <a:effectLst/>
                <a:latin typeface="Helvetica" panose="020B0604020202020204" pitchFamily="34" charset="0"/>
                <a:cs typeface="Helvetica" panose="020B0604020202020204" pitchFamily="34" charset="0"/>
              </a:rPr>
              <a:t>- Research: Validates ML approach for construction waste</a:t>
            </a:r>
          </a:p>
          <a:p>
            <a:pPr algn="l"/>
            <a:r>
              <a:rPr lang="en-US" sz="1800" b="0" dirty="0">
                <a:effectLst/>
                <a:latin typeface="Helvetica" panose="020B0604020202020204" pitchFamily="34" charset="0"/>
                <a:cs typeface="Helvetica" panose="020B0604020202020204" pitchFamily="34" charset="0"/>
              </a:rPr>
              <a:t>- Knowledge: Advances understanding of waste drivers</a:t>
            </a:r>
          </a:p>
          <a:p>
            <a:pPr algn="l"/>
            <a:endParaRPr lang="fr-FR" sz="1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132018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51BCE-5461-4F53-9F58-4D096DDC0567}"/>
              </a:ext>
            </a:extLst>
          </p:cNvPr>
          <p:cNvSpPr>
            <a:spLocks noGrp="1"/>
          </p:cNvSpPr>
          <p:nvPr>
            <p:ph type="ctrTitle"/>
          </p:nvPr>
        </p:nvSpPr>
        <p:spPr>
          <a:xfrm>
            <a:off x="518996" y="0"/>
            <a:ext cx="11154007" cy="1655762"/>
          </a:xfrm>
        </p:spPr>
        <p:txBody>
          <a:bodyPr>
            <a:normAutofit/>
          </a:bodyPr>
          <a:lstStyle/>
          <a:p>
            <a:pPr algn="l"/>
            <a:r>
              <a:rPr lang="en-US" sz="4400" dirty="0">
                <a:solidFill>
                  <a:srgbClr val="8B2132"/>
                </a:solidFill>
                <a:effectLst/>
                <a:latin typeface="Helvetica" panose="020B0604020202020204" pitchFamily="34" charset="0"/>
                <a:cs typeface="Helvetica" panose="020B0604020202020204" pitchFamily="34" charset="0"/>
              </a:rPr>
              <a:t>Interactive Exercise - Try the Website</a:t>
            </a:r>
            <a:br>
              <a:rPr lang="en-US" sz="4400" dirty="0">
                <a:solidFill>
                  <a:srgbClr val="8B2132"/>
                </a:solidFill>
                <a:effectLst/>
                <a:latin typeface="Helvetica" panose="020B0604020202020204" pitchFamily="34" charset="0"/>
                <a:cs typeface="Helvetica" panose="020B0604020202020204" pitchFamily="34" charset="0"/>
              </a:rPr>
            </a:br>
            <a:endParaRPr lang="fr-FR" sz="44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6958CC9D-7689-4EAD-B7AF-C61189E64FF5}"/>
              </a:ext>
            </a:extLst>
          </p:cNvPr>
          <p:cNvSpPr>
            <a:spLocks noGrp="1"/>
          </p:cNvSpPr>
          <p:nvPr>
            <p:ph type="subTitle" idx="1"/>
          </p:nvPr>
        </p:nvSpPr>
        <p:spPr>
          <a:xfrm>
            <a:off x="6590835" y="1371406"/>
            <a:ext cx="4875870" cy="4867702"/>
          </a:xfrm>
        </p:spPr>
        <p:txBody>
          <a:bodyPr>
            <a:normAutofit/>
          </a:bodyPr>
          <a:lstStyle/>
          <a:p>
            <a:pPr algn="l"/>
            <a:r>
              <a:rPr lang="en-US" sz="1800" b="0" dirty="0">
                <a:solidFill>
                  <a:srgbClr val="8B2132"/>
                </a:solidFill>
                <a:effectLst/>
                <a:latin typeface="Helvetica" panose="020B0604020202020204" pitchFamily="34" charset="0"/>
                <a:cs typeface="Helvetica" panose="020B0604020202020204" pitchFamily="34" charset="0"/>
              </a:rPr>
              <a:t>QR Code:</a:t>
            </a:r>
          </a:p>
          <a:p>
            <a:pPr algn="l"/>
            <a:endParaRPr lang="en-US" b="0" dirty="0">
              <a:solidFill>
                <a:srgbClr val="8B2132"/>
              </a:solidFill>
              <a:effectLst/>
              <a:latin typeface="Helvetica" panose="020B0604020202020204" pitchFamily="34" charset="0"/>
              <a:cs typeface="Helvetica" panose="020B0604020202020204" pitchFamily="34" charset="0"/>
            </a:endParaRPr>
          </a:p>
          <a:p>
            <a:pPr algn="l"/>
            <a:r>
              <a:rPr lang="en-US" b="0" dirty="0">
                <a:effectLst/>
                <a:latin typeface="Helvetica" panose="020B0604020202020204" pitchFamily="34" charset="0"/>
                <a:cs typeface="Helvetica" panose="020B0604020202020204" pitchFamily="34" charset="0"/>
              </a:rPr>
              <a:t>[QR CODE PLACEHOLDER - Link to website]</a:t>
            </a:r>
          </a:p>
          <a:p>
            <a:pPr algn="l"/>
            <a:endParaRPr lang="en-US" b="0" dirty="0">
              <a:effectLst/>
              <a:latin typeface="Helvetica" panose="020B0604020202020204" pitchFamily="34" charset="0"/>
              <a:cs typeface="Helvetica" panose="020B0604020202020204" pitchFamily="34" charset="0"/>
            </a:endParaRPr>
          </a:p>
          <a:p>
            <a:pPr algn="l"/>
            <a:r>
              <a:rPr lang="en-US" sz="1800" b="0" dirty="0">
                <a:solidFill>
                  <a:srgbClr val="8B2132"/>
                </a:solidFill>
                <a:effectLst/>
                <a:latin typeface="Helvetica" panose="020B0604020202020204" pitchFamily="34" charset="0"/>
                <a:cs typeface="Helvetica" panose="020B0604020202020204" pitchFamily="34" charset="0"/>
              </a:rPr>
              <a:t>Scan to Access:</a:t>
            </a:r>
          </a:p>
          <a:p>
            <a:pPr algn="l"/>
            <a:r>
              <a:rPr lang="en-US" sz="1800" b="0" dirty="0">
                <a:effectLst/>
                <a:latin typeface="Helvetica" panose="020B0604020202020204" pitchFamily="34" charset="0"/>
                <a:cs typeface="Helvetica" panose="020B0604020202020204" pitchFamily="34" charset="0"/>
              </a:rPr>
              <a:t>- Direct link to prediction page</a:t>
            </a:r>
          </a:p>
          <a:p>
            <a:pPr algn="l"/>
            <a:r>
              <a:rPr lang="en-US" sz="1800" b="0" dirty="0">
                <a:effectLst/>
                <a:latin typeface="Helvetica" panose="020B0604020202020204" pitchFamily="34" charset="0"/>
                <a:cs typeface="Helvetica" panose="020B0604020202020204" pitchFamily="34" charset="0"/>
              </a:rPr>
              <a:t>- No login required</a:t>
            </a:r>
          </a:p>
          <a:p>
            <a:pPr algn="l"/>
            <a:r>
              <a:rPr lang="en-US" sz="1800" b="0" dirty="0">
                <a:effectLst/>
                <a:latin typeface="Helvetica" panose="020B0604020202020204" pitchFamily="34" charset="0"/>
                <a:cs typeface="Helvetica" panose="020B0604020202020204" pitchFamily="34" charset="0"/>
              </a:rPr>
              <a:t>- Mobile-friendly interface</a:t>
            </a:r>
          </a:p>
          <a:p>
            <a:endParaRPr lang="fr-FR" dirty="0"/>
          </a:p>
        </p:txBody>
      </p:sp>
      <p:sp>
        <p:nvSpPr>
          <p:cNvPr id="4" name="Subtitle 2">
            <a:extLst>
              <a:ext uri="{FF2B5EF4-FFF2-40B4-BE49-F238E27FC236}">
                <a16:creationId xmlns:a16="http://schemas.microsoft.com/office/drawing/2014/main" id="{3073A725-8302-4E9B-B123-8C89EEA9AA44}"/>
              </a:ext>
            </a:extLst>
          </p:cNvPr>
          <p:cNvSpPr txBox="1">
            <a:spLocks/>
          </p:cNvSpPr>
          <p:nvPr/>
        </p:nvSpPr>
        <p:spPr>
          <a:xfrm>
            <a:off x="518996" y="1371406"/>
            <a:ext cx="5709424" cy="50572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FR" sz="1800" b="0" dirty="0">
                <a:solidFill>
                  <a:srgbClr val="8B2132"/>
                </a:solidFill>
                <a:effectLst/>
                <a:latin typeface="Helvetica" panose="020B0604020202020204" pitchFamily="34" charset="0"/>
                <a:cs typeface="Helvetica" panose="020B0604020202020204" pitchFamily="34" charset="0"/>
              </a:rPr>
              <a:t>Suggested Test Scenarios:</a:t>
            </a:r>
            <a:br>
              <a:rPr lang="fr-FR" sz="1800" b="0" dirty="0">
                <a:effectLst/>
                <a:latin typeface="Helvetica" panose="020B0604020202020204" pitchFamily="34" charset="0"/>
                <a:cs typeface="Helvetica" panose="020B0604020202020204" pitchFamily="34" charset="0"/>
              </a:rPr>
            </a:br>
            <a:r>
              <a:rPr lang="fr-FR" sz="1800" b="0" dirty="0">
                <a:solidFill>
                  <a:srgbClr val="8B2132"/>
                </a:solidFill>
                <a:effectLst/>
                <a:latin typeface="Helvetica" panose="020B0604020202020204" pitchFamily="34" charset="0"/>
                <a:cs typeface="Helvetica" panose="020B0604020202020204" pitchFamily="34" charset="0"/>
              </a:rPr>
              <a:t>Scenario 1: </a:t>
            </a:r>
            <a:r>
              <a:rPr lang="fr-FR" sz="1800" b="0" dirty="0">
                <a:effectLst/>
                <a:latin typeface="Helvetica" panose="020B0604020202020204" pitchFamily="34" charset="0"/>
                <a:cs typeface="Helvetica" panose="020B0604020202020204" pitchFamily="34" charset="0"/>
              </a:rPr>
              <a:t>Low Waste Project (Good Practices)</a:t>
            </a:r>
          </a:p>
          <a:p>
            <a:pPr algn="l"/>
            <a:r>
              <a:rPr lang="fr-FR" sz="1800" b="0" dirty="0">
                <a:effectLst/>
                <a:latin typeface="Helvetica" panose="020B0604020202020204" pitchFamily="34" charset="0"/>
                <a:cs typeface="Helvetica" panose="020B0604020202020204" pitchFamily="34" charset="0"/>
              </a:rPr>
              <a:t>- Reinforcement Ratio: 100 kg/m³</a:t>
            </a:r>
          </a:p>
          <a:p>
            <a:pPr algn="l"/>
            <a:r>
              <a:rPr lang="fr-FR" sz="1800" b="0" dirty="0">
                <a:effectLst/>
                <a:latin typeface="Helvetica" panose="020B0604020202020204" pitchFamily="34" charset="0"/>
                <a:cs typeface="Helvetica" panose="020B0604020202020204" pitchFamily="34" charset="0"/>
              </a:rPr>
              <a:t>- Unique Lengths: 15</a:t>
            </a:r>
          </a:p>
          <a:p>
            <a:pPr algn="l"/>
            <a:r>
              <a:rPr lang="fr-FR" sz="1800" b="0" dirty="0">
                <a:effectLst/>
                <a:latin typeface="Helvetica" panose="020B0604020202020204" pitchFamily="34" charset="0"/>
                <a:cs typeface="Helvetica" panose="020B0604020202020204" pitchFamily="34" charset="0"/>
              </a:rPr>
              <a:t>- Stock Length Policy: Standard 12m</a:t>
            </a:r>
          </a:p>
          <a:p>
            <a:pPr algn="l"/>
            <a:r>
              <a:rPr lang="fr-FR" sz="1800" b="0" dirty="0">
                <a:effectLst/>
                <a:latin typeface="Helvetica" panose="020B0604020202020204" pitchFamily="34" charset="0"/>
                <a:cs typeface="Helvetica" panose="020B0604020202020204" pitchFamily="34" charset="0"/>
              </a:rPr>
              <a:t>- Cutting Optimization: Full (2)</a:t>
            </a:r>
          </a:p>
          <a:p>
            <a:pPr algn="l"/>
            <a:r>
              <a:rPr lang="fr-FR" sz="1800" b="0" dirty="0">
                <a:effectLst/>
                <a:latin typeface="Helvetica" panose="020B0604020202020204" pitchFamily="34" charset="0"/>
                <a:cs typeface="Helvetica" panose="020B0604020202020204" pitchFamily="34" charset="0"/>
              </a:rPr>
              <a:t>- Supervision Index: 5</a:t>
            </a:r>
          </a:p>
          <a:p>
            <a:pPr algn="l"/>
            <a:r>
              <a:rPr lang="fr-FR" sz="1800" b="0" dirty="0">
                <a:effectLst/>
                <a:latin typeface="Helvetica" panose="020B0604020202020204" pitchFamily="34" charset="0"/>
                <a:cs typeface="Helvetica" panose="020B0604020202020204" pitchFamily="34" charset="0"/>
              </a:rPr>
              <a:t>- Material Control: 3</a:t>
            </a:r>
          </a:p>
          <a:p>
            <a:pPr algn="l"/>
            <a:r>
              <a:rPr lang="fr-FR" sz="1800" b="0" dirty="0">
                <a:effectLst/>
                <a:latin typeface="Helvetica" panose="020B0604020202020204" pitchFamily="34" charset="0"/>
                <a:cs typeface="Helvetica" panose="020B0604020202020204" pitchFamily="34" charset="0"/>
              </a:rPr>
              <a:t>- Storage Handling: 5</a:t>
            </a:r>
          </a:p>
          <a:p>
            <a:pPr algn="l"/>
            <a:r>
              <a:rPr lang="fr-FR" sz="1800" b="0" dirty="0">
                <a:effectLst/>
                <a:latin typeface="Helvetica" panose="020B0604020202020204" pitchFamily="34" charset="0"/>
                <a:cs typeface="Helvetica" panose="020B0604020202020204" pitchFamily="34" charset="0"/>
              </a:rPr>
              <a:t>- BIM Integration: 3</a:t>
            </a:r>
          </a:p>
          <a:p>
            <a:pPr algn="l"/>
            <a:r>
              <a:rPr lang="fr-FR" sz="1800" b="0" dirty="0">
                <a:effectLst/>
                <a:latin typeface="Helvetica" panose="020B0604020202020204" pitchFamily="34" charset="0"/>
                <a:cs typeface="Helvetica" panose="020B0604020202020204" pitchFamily="34" charset="0"/>
              </a:rPr>
              <a:t>- Offcut Reuse: Systematic (2)</a:t>
            </a:r>
          </a:p>
          <a:p>
            <a:pPr algn="l"/>
            <a:r>
              <a:rPr lang="fr-FR" sz="1800" b="0" dirty="0">
                <a:effectLst/>
                <a:latin typeface="Helvetica" panose="020B0604020202020204" pitchFamily="34" charset="0"/>
                <a:cs typeface="Helvetica" panose="020B0604020202020204" pitchFamily="34" charset="0"/>
              </a:rPr>
              <a:t>- Change Orders: 0</a:t>
            </a:r>
          </a:p>
          <a:p>
            <a:pPr algn="l"/>
            <a:r>
              <a:rPr lang="fr-FR" sz="1800" b="0" dirty="0">
                <a:effectLst/>
                <a:latin typeface="Helvetica" panose="020B0604020202020204" pitchFamily="34" charset="0"/>
                <a:cs typeface="Helvetica" panose="020B0604020202020204" pitchFamily="34" charset="0"/>
              </a:rPr>
              <a:t>- Design Revisions: 0</a:t>
            </a:r>
          </a:p>
          <a:p>
            <a:pPr algn="l"/>
            <a:r>
              <a:rPr lang="fr-FR" sz="1800" b="0" dirty="0">
                <a:effectLst/>
                <a:latin typeface="Helvetica" panose="020B0604020202020204" pitchFamily="34" charset="0"/>
                <a:cs typeface="Helvetica" panose="020B0604020202020204" pitchFamily="34" charset="0"/>
              </a:rPr>
              <a:t>- Expected: Low waste percentage, High reliability</a:t>
            </a:r>
          </a:p>
          <a:p>
            <a:pPr algn="l"/>
            <a:endParaRPr lang="fr-FR" sz="1800" b="0" dirty="0">
              <a:effectLst/>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4935164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FCFA-737D-4E44-9CCB-893BF20EF1C6}"/>
              </a:ext>
            </a:extLst>
          </p:cNvPr>
          <p:cNvSpPr>
            <a:spLocks noGrp="1"/>
          </p:cNvSpPr>
          <p:nvPr>
            <p:ph type="ctrTitle"/>
          </p:nvPr>
        </p:nvSpPr>
        <p:spPr>
          <a:xfrm>
            <a:off x="356376" y="0"/>
            <a:ext cx="11211619" cy="1655762"/>
          </a:xfrm>
        </p:spPr>
        <p:txBody>
          <a:bodyPr>
            <a:normAutofit/>
          </a:bodyPr>
          <a:lstStyle/>
          <a:p>
            <a:pPr algn="l"/>
            <a:r>
              <a:rPr lang="en-US" sz="4400" dirty="0">
                <a:solidFill>
                  <a:srgbClr val="8B2132"/>
                </a:solidFill>
                <a:effectLst/>
                <a:latin typeface="Helvetica" panose="020B0604020202020204" pitchFamily="34" charset="0"/>
                <a:cs typeface="Helvetica" panose="020B0604020202020204" pitchFamily="34" charset="0"/>
              </a:rPr>
              <a:t>Interactive Exercise - Try the Website</a:t>
            </a:r>
            <a:br>
              <a:rPr lang="en-US" sz="4400" dirty="0">
                <a:solidFill>
                  <a:srgbClr val="8B2132"/>
                </a:solidFill>
                <a:effectLst/>
                <a:latin typeface="Helvetica" panose="020B0604020202020204" pitchFamily="34" charset="0"/>
                <a:cs typeface="Helvetica" panose="020B0604020202020204" pitchFamily="34" charset="0"/>
              </a:rPr>
            </a:br>
            <a:endParaRPr lang="fr-FR" sz="4400" dirty="0">
              <a:solidFill>
                <a:srgbClr val="8B2132"/>
              </a:solidFill>
            </a:endParaRPr>
          </a:p>
        </p:txBody>
      </p:sp>
      <p:sp>
        <p:nvSpPr>
          <p:cNvPr id="3" name="Subtitle 2">
            <a:extLst>
              <a:ext uri="{FF2B5EF4-FFF2-40B4-BE49-F238E27FC236}">
                <a16:creationId xmlns:a16="http://schemas.microsoft.com/office/drawing/2014/main" id="{0E8DAA22-E8C3-4A80-AC47-EE20ABE56F23}"/>
              </a:ext>
            </a:extLst>
          </p:cNvPr>
          <p:cNvSpPr>
            <a:spLocks noGrp="1"/>
          </p:cNvSpPr>
          <p:nvPr>
            <p:ph type="subTitle" idx="1"/>
          </p:nvPr>
        </p:nvSpPr>
        <p:spPr>
          <a:xfrm>
            <a:off x="356376" y="1416205"/>
            <a:ext cx="5847883" cy="5096110"/>
          </a:xfrm>
        </p:spPr>
        <p:txBody>
          <a:bodyPr>
            <a:noAutofit/>
          </a:bodyPr>
          <a:lstStyle/>
          <a:p>
            <a:pPr algn="l"/>
            <a:r>
              <a:rPr lang="fr-FR" sz="1800" b="0" dirty="0">
                <a:solidFill>
                  <a:srgbClr val="8B2132"/>
                </a:solidFill>
                <a:effectLst/>
                <a:latin typeface="Helvetica" panose="020B0604020202020204" pitchFamily="34" charset="0"/>
                <a:cs typeface="Helvetica" panose="020B0604020202020204" pitchFamily="34" charset="0"/>
              </a:rPr>
              <a:t>Scenario 2: </a:t>
            </a:r>
            <a:r>
              <a:rPr lang="fr-FR" sz="1800" b="0" dirty="0">
                <a:effectLst/>
                <a:latin typeface="Helvetica" panose="020B0604020202020204" pitchFamily="34" charset="0"/>
                <a:cs typeface="Helvetica" panose="020B0604020202020204" pitchFamily="34" charset="0"/>
              </a:rPr>
              <a:t>High Waste Project (Poor Practices)</a:t>
            </a:r>
          </a:p>
          <a:p>
            <a:pPr algn="l"/>
            <a:r>
              <a:rPr lang="fr-FR" sz="1800" b="0" dirty="0">
                <a:effectLst/>
                <a:latin typeface="Helvetica" panose="020B0604020202020204" pitchFamily="34" charset="0"/>
                <a:cs typeface="Helvetica" panose="020B0604020202020204" pitchFamily="34" charset="0"/>
              </a:rPr>
              <a:t>- Reinforcement Ratio: 180 kg/m³</a:t>
            </a:r>
          </a:p>
          <a:p>
            <a:pPr algn="l"/>
            <a:r>
              <a:rPr lang="fr-FR" sz="1800" b="0" dirty="0">
                <a:effectLst/>
                <a:latin typeface="Helvetica" panose="020B0604020202020204" pitchFamily="34" charset="0"/>
                <a:cs typeface="Helvetica" panose="020B0604020202020204" pitchFamily="34" charset="0"/>
              </a:rPr>
              <a:t>- Unique Lengths: 35</a:t>
            </a:r>
          </a:p>
          <a:p>
            <a:pPr algn="l"/>
            <a:r>
              <a:rPr lang="fr-FR" sz="1800" b="0" dirty="0">
                <a:effectLst/>
                <a:latin typeface="Helvetica" panose="020B0604020202020204" pitchFamily="34" charset="0"/>
                <a:cs typeface="Helvetica" panose="020B0604020202020204" pitchFamily="34" charset="0"/>
              </a:rPr>
              <a:t>- Stock Length Policy: Custom lengths</a:t>
            </a:r>
          </a:p>
          <a:p>
            <a:pPr algn="l"/>
            <a:r>
              <a:rPr lang="fr-FR" sz="1800" b="0" dirty="0">
                <a:effectLst/>
                <a:latin typeface="Helvetica" panose="020B0604020202020204" pitchFamily="34" charset="0"/>
                <a:cs typeface="Helvetica" panose="020B0604020202020204" pitchFamily="34" charset="0"/>
              </a:rPr>
              <a:t>- Cutting Optimization: None (0)</a:t>
            </a:r>
          </a:p>
          <a:p>
            <a:pPr algn="l"/>
            <a:r>
              <a:rPr lang="fr-FR" sz="1800" b="0" dirty="0">
                <a:effectLst/>
                <a:latin typeface="Helvetica" panose="020B0604020202020204" pitchFamily="34" charset="0"/>
                <a:cs typeface="Helvetica" panose="020B0604020202020204" pitchFamily="34" charset="0"/>
              </a:rPr>
              <a:t>- Supervision Index: 1</a:t>
            </a:r>
          </a:p>
          <a:p>
            <a:pPr algn="l"/>
            <a:r>
              <a:rPr lang="fr-FR" sz="1800" b="0" dirty="0">
                <a:effectLst/>
                <a:latin typeface="Helvetica" panose="020B0604020202020204" pitchFamily="34" charset="0"/>
                <a:cs typeface="Helvetica" panose="020B0604020202020204" pitchFamily="34" charset="0"/>
              </a:rPr>
              <a:t>- Material Control: 1</a:t>
            </a:r>
          </a:p>
          <a:p>
            <a:pPr algn="l"/>
            <a:r>
              <a:rPr lang="fr-FR" sz="1800" b="0" dirty="0">
                <a:effectLst/>
                <a:latin typeface="Helvetica" panose="020B0604020202020204" pitchFamily="34" charset="0"/>
                <a:cs typeface="Helvetica" panose="020B0604020202020204" pitchFamily="34" charset="0"/>
              </a:rPr>
              <a:t>- Storage Handling: 1</a:t>
            </a:r>
          </a:p>
          <a:p>
            <a:pPr algn="l"/>
            <a:r>
              <a:rPr lang="fr-FR" sz="1800" b="0" dirty="0">
                <a:effectLst/>
                <a:latin typeface="Helvetica" panose="020B0604020202020204" pitchFamily="34" charset="0"/>
                <a:cs typeface="Helvetica" panose="020B0604020202020204" pitchFamily="34" charset="0"/>
              </a:rPr>
              <a:t>- BIM Integration: 0</a:t>
            </a:r>
          </a:p>
          <a:p>
            <a:pPr algn="l"/>
            <a:r>
              <a:rPr lang="fr-FR" sz="1800" b="0" dirty="0">
                <a:effectLst/>
                <a:latin typeface="Helvetica" panose="020B0604020202020204" pitchFamily="34" charset="0"/>
                <a:cs typeface="Helvetica" panose="020B0604020202020204" pitchFamily="34" charset="0"/>
              </a:rPr>
              <a:t>- Offcut Reuse: None (0)</a:t>
            </a:r>
          </a:p>
          <a:p>
            <a:pPr algn="l"/>
            <a:r>
              <a:rPr lang="fr-FR" sz="1800" b="0" dirty="0">
                <a:effectLst/>
                <a:latin typeface="Helvetica" panose="020B0604020202020204" pitchFamily="34" charset="0"/>
                <a:cs typeface="Helvetica" panose="020B0604020202020204" pitchFamily="34" charset="0"/>
              </a:rPr>
              <a:t>- Change Orders: 5</a:t>
            </a:r>
          </a:p>
          <a:p>
            <a:pPr algn="l"/>
            <a:r>
              <a:rPr lang="fr-FR" sz="1800" b="0" dirty="0">
                <a:effectLst/>
                <a:latin typeface="Helvetica" panose="020B0604020202020204" pitchFamily="34" charset="0"/>
                <a:cs typeface="Helvetica" panose="020B0604020202020204" pitchFamily="34" charset="0"/>
              </a:rPr>
              <a:t>- Design Revisions: 8</a:t>
            </a:r>
          </a:p>
          <a:p>
            <a:pPr algn="l"/>
            <a:r>
              <a:rPr lang="fr-FR" sz="1800" b="0" dirty="0">
                <a:effectLst/>
                <a:latin typeface="Helvetica" panose="020B0604020202020204" pitchFamily="34" charset="0"/>
                <a:cs typeface="Helvetica" panose="020B0604020202020204" pitchFamily="34" charset="0"/>
              </a:rPr>
              <a:t>- Expected: High waste percentage, Medium/Low reliability</a:t>
            </a:r>
          </a:p>
        </p:txBody>
      </p:sp>
      <p:sp>
        <p:nvSpPr>
          <p:cNvPr id="4" name="Subtitle 2">
            <a:extLst>
              <a:ext uri="{FF2B5EF4-FFF2-40B4-BE49-F238E27FC236}">
                <a16:creationId xmlns:a16="http://schemas.microsoft.com/office/drawing/2014/main" id="{D53A2921-BE4D-4ACA-88BD-F679D80BB167}"/>
              </a:ext>
            </a:extLst>
          </p:cNvPr>
          <p:cNvSpPr txBox="1">
            <a:spLocks/>
          </p:cNvSpPr>
          <p:nvPr/>
        </p:nvSpPr>
        <p:spPr>
          <a:xfrm>
            <a:off x="6482573" y="1416205"/>
            <a:ext cx="5847883" cy="5207619"/>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7200" b="0" dirty="0">
                <a:solidFill>
                  <a:srgbClr val="8B2132"/>
                </a:solidFill>
                <a:effectLst/>
                <a:latin typeface="Helvetica" panose="020B0604020202020204" pitchFamily="34" charset="0"/>
                <a:cs typeface="Helvetica" panose="020B0604020202020204" pitchFamily="34" charset="0"/>
              </a:rPr>
              <a:t>Parameter Ranges for Testing:</a:t>
            </a:r>
          </a:p>
          <a:p>
            <a:pPr algn="l"/>
            <a:r>
              <a:rPr lang="en-US" sz="7200" b="0" dirty="0">
                <a:effectLst/>
                <a:latin typeface="Helvetica" panose="020B0604020202020204" pitchFamily="34" charset="0"/>
                <a:cs typeface="Helvetica" panose="020B0604020202020204" pitchFamily="34" charset="0"/>
              </a:rPr>
              <a:t>- Reinforcement Ratio: 60-180 kg/m³</a:t>
            </a:r>
          </a:p>
          <a:p>
            <a:pPr algn="l"/>
            <a:r>
              <a:rPr lang="en-US" sz="7200" b="0" dirty="0">
                <a:effectLst/>
                <a:latin typeface="Helvetica" panose="020B0604020202020204" pitchFamily="34" charset="0"/>
                <a:cs typeface="Helvetica" panose="020B0604020202020204" pitchFamily="34" charset="0"/>
              </a:rPr>
              <a:t>- Unique Lengths: 5-40</a:t>
            </a:r>
          </a:p>
          <a:p>
            <a:pPr algn="l"/>
            <a:r>
              <a:rPr lang="en-US" sz="7200" b="0" dirty="0">
                <a:effectLst/>
                <a:latin typeface="Helvetica" panose="020B0604020202020204" pitchFamily="34" charset="0"/>
                <a:cs typeface="Helvetica" panose="020B0604020202020204" pitchFamily="34" charset="0"/>
              </a:rPr>
              <a:t>- Supervision Index: 1-5</a:t>
            </a:r>
          </a:p>
          <a:p>
            <a:pPr algn="l"/>
            <a:r>
              <a:rPr lang="en-US" sz="7200" b="0" dirty="0">
                <a:effectLst/>
                <a:latin typeface="Helvetica" panose="020B0604020202020204" pitchFamily="34" charset="0"/>
                <a:cs typeface="Helvetica" panose="020B0604020202020204" pitchFamily="34" charset="0"/>
              </a:rPr>
              <a:t>- Material Control: 1-3</a:t>
            </a:r>
          </a:p>
          <a:p>
            <a:pPr algn="l"/>
            <a:r>
              <a:rPr lang="en-US" sz="7200" b="0" dirty="0">
                <a:effectLst/>
                <a:latin typeface="Helvetica" panose="020B0604020202020204" pitchFamily="34" charset="0"/>
                <a:cs typeface="Helvetica" panose="020B0604020202020204" pitchFamily="34" charset="0"/>
              </a:rPr>
              <a:t>- Storage Handling: 1-5</a:t>
            </a:r>
          </a:p>
          <a:p>
            <a:pPr algn="l"/>
            <a:r>
              <a:rPr lang="en-US" sz="7200" b="0" dirty="0">
                <a:effectLst/>
                <a:latin typeface="Helvetica" panose="020B0604020202020204" pitchFamily="34" charset="0"/>
                <a:cs typeface="Helvetica" panose="020B0604020202020204" pitchFamily="34" charset="0"/>
              </a:rPr>
              <a:t>- Change Orders: 0-8 per month</a:t>
            </a:r>
          </a:p>
          <a:p>
            <a:pPr algn="l"/>
            <a:r>
              <a:rPr lang="en-US" sz="7200" b="0" dirty="0">
                <a:effectLst/>
                <a:latin typeface="Helvetica" panose="020B0604020202020204" pitchFamily="34" charset="0"/>
                <a:cs typeface="Helvetica" panose="020B0604020202020204" pitchFamily="34" charset="0"/>
              </a:rPr>
              <a:t>- Design Revisions: 0-10 per month</a:t>
            </a:r>
          </a:p>
          <a:p>
            <a:pPr algn="l"/>
            <a:r>
              <a:rPr lang="en-US" sz="7200" b="0" dirty="0">
                <a:effectLst/>
                <a:latin typeface="Helvetica" panose="020B0604020202020204" pitchFamily="34" charset="0"/>
                <a:cs typeface="Helvetica" panose="020B0604020202020204" pitchFamily="34" charset="0"/>
              </a:rPr>
              <a:t>- Lead Time: 3-30 days</a:t>
            </a:r>
          </a:p>
          <a:p>
            <a:pPr algn="l"/>
            <a:r>
              <a:rPr lang="en-US" sz="7200" b="0" dirty="0">
                <a:effectLst/>
                <a:latin typeface="Helvetica" panose="020B0604020202020204" pitchFamily="34" charset="0"/>
                <a:cs typeface="Helvetica" panose="020B0604020202020204" pitchFamily="34" charset="0"/>
              </a:rPr>
              <a:t>- Order Frequency: 1-8 per month</a:t>
            </a:r>
          </a:p>
          <a:p>
            <a:pPr algn="l"/>
            <a:br>
              <a:rPr lang="en-US" sz="7200" b="0" dirty="0">
                <a:solidFill>
                  <a:srgbClr val="8B2132"/>
                </a:solidFill>
                <a:effectLst/>
                <a:latin typeface="Helvetica" panose="020B0604020202020204" pitchFamily="34" charset="0"/>
                <a:cs typeface="Helvetica" panose="020B0604020202020204" pitchFamily="34" charset="0"/>
              </a:rPr>
            </a:br>
            <a:r>
              <a:rPr lang="en-US" sz="7200" b="0" dirty="0">
                <a:solidFill>
                  <a:srgbClr val="8B2132"/>
                </a:solidFill>
                <a:effectLst/>
                <a:latin typeface="Helvetica" panose="020B0604020202020204" pitchFamily="34" charset="0"/>
                <a:cs typeface="Helvetica" panose="020B0604020202020204" pitchFamily="34" charset="0"/>
              </a:rPr>
              <a:t>What to Observe:</a:t>
            </a:r>
          </a:p>
          <a:p>
            <a:pPr algn="l"/>
            <a:r>
              <a:rPr lang="en-US" sz="7200" b="0" dirty="0">
                <a:effectLst/>
                <a:latin typeface="Helvetica" panose="020B0604020202020204" pitchFamily="34" charset="0"/>
                <a:cs typeface="Helvetica" panose="020B0604020202020204" pitchFamily="34" charset="0"/>
              </a:rPr>
              <a:t>- How prediction changes with different inputs</a:t>
            </a:r>
          </a:p>
          <a:p>
            <a:pPr algn="l"/>
            <a:r>
              <a:rPr lang="en-US" sz="7200" b="0" dirty="0">
                <a:effectLst/>
                <a:latin typeface="Helvetica" panose="020B0604020202020204" pitchFamily="34" charset="0"/>
                <a:cs typeface="Helvetica" panose="020B0604020202020204" pitchFamily="34" charset="0"/>
              </a:rPr>
              <a:t>- Which factors appear in top 5 waste drivers</a:t>
            </a:r>
          </a:p>
          <a:p>
            <a:pPr algn="l"/>
            <a:r>
              <a:rPr lang="en-US" sz="7200" b="0" dirty="0">
                <a:effectLst/>
                <a:latin typeface="Helvetica" panose="020B0604020202020204" pitchFamily="34" charset="0"/>
                <a:cs typeface="Helvetica" panose="020B0604020202020204" pitchFamily="34" charset="0"/>
              </a:rPr>
              <a:t>- Reliability indicator variations</a:t>
            </a:r>
          </a:p>
          <a:p>
            <a:pPr algn="l"/>
            <a:r>
              <a:rPr lang="en-US" sz="7200" b="0" dirty="0">
                <a:effectLst/>
                <a:latin typeface="Helvetica" panose="020B0604020202020204" pitchFamily="34" charset="0"/>
                <a:cs typeface="Helvetica" panose="020B0604020202020204" pitchFamily="34" charset="0"/>
              </a:rPr>
              <a:t>- Cost and CO₂ impact calculations</a:t>
            </a:r>
          </a:p>
          <a:p>
            <a:pPr algn="l"/>
            <a:r>
              <a:rPr lang="en-US" sz="7200" b="0" dirty="0">
                <a:effectLst/>
                <a:latin typeface="Helvetica" panose="020B0604020202020204" pitchFamily="34" charset="0"/>
                <a:cs typeface="Helvetica" panose="020B0604020202020204" pitchFamily="34" charset="0"/>
              </a:rPr>
              <a:t>- Ease of use and interface quality</a:t>
            </a:r>
          </a:p>
          <a:p>
            <a:pPr algn="l"/>
            <a:endParaRPr lang="fr-FR"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545067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92791-C352-469A-8179-29968E6899CF}"/>
              </a:ext>
            </a:extLst>
          </p:cNvPr>
          <p:cNvSpPr>
            <a:spLocks noGrp="1"/>
          </p:cNvSpPr>
          <p:nvPr>
            <p:ph type="ctrTitle"/>
          </p:nvPr>
        </p:nvSpPr>
        <p:spPr>
          <a:xfrm>
            <a:off x="364272" y="-11151"/>
            <a:ext cx="11827728" cy="1583473"/>
          </a:xfrm>
        </p:spPr>
        <p:txBody>
          <a:bodyPr>
            <a:normAutofit/>
          </a:bodyPr>
          <a:lstStyle/>
          <a:p>
            <a:pPr algn="l"/>
            <a:r>
              <a:rPr lang="fr-FR" sz="4400" dirty="0">
                <a:solidFill>
                  <a:srgbClr val="8B2132"/>
                </a:solidFill>
                <a:effectLst/>
                <a:latin typeface="Helvetica" panose="020B0604020202020204" pitchFamily="34" charset="0"/>
                <a:cs typeface="Helvetica" panose="020B0604020202020204" pitchFamily="34" charset="0"/>
              </a:rPr>
              <a:t>Conclusion &amp; Thank You </a:t>
            </a:r>
            <a:br>
              <a:rPr lang="fr-FR" sz="4400" dirty="0">
                <a:solidFill>
                  <a:srgbClr val="8B2132"/>
                </a:solidFill>
                <a:effectLst/>
                <a:latin typeface="Helvetica" panose="020B0604020202020204" pitchFamily="34" charset="0"/>
                <a:cs typeface="Helvetica" panose="020B0604020202020204" pitchFamily="34" charset="0"/>
              </a:rPr>
            </a:br>
            <a:endParaRPr lang="fr-FR" sz="4400" dirty="0">
              <a:solidFill>
                <a:srgbClr val="8B2132"/>
              </a:solidFill>
              <a:latin typeface="Helvetica" panose="020B0604020202020204" pitchFamily="34" charset="0"/>
              <a:cs typeface="Helvetica" panose="020B0604020202020204" pitchFamily="34" charset="0"/>
            </a:endParaRPr>
          </a:p>
        </p:txBody>
      </p:sp>
      <p:sp>
        <p:nvSpPr>
          <p:cNvPr id="3" name="Subtitle 2">
            <a:extLst>
              <a:ext uri="{FF2B5EF4-FFF2-40B4-BE49-F238E27FC236}">
                <a16:creationId xmlns:a16="http://schemas.microsoft.com/office/drawing/2014/main" id="{E8D38EF5-F74D-45E3-8C0A-7D94EF3A1DB6}"/>
              </a:ext>
            </a:extLst>
          </p:cNvPr>
          <p:cNvSpPr>
            <a:spLocks noGrp="1"/>
          </p:cNvSpPr>
          <p:nvPr>
            <p:ph type="subTitle" idx="1"/>
          </p:nvPr>
        </p:nvSpPr>
        <p:spPr>
          <a:xfrm>
            <a:off x="364273" y="1572322"/>
            <a:ext cx="5077521" cy="3090106"/>
          </a:xfrm>
        </p:spPr>
        <p:txBody>
          <a:bodyPr>
            <a:normAutofit fontScale="70000" lnSpcReduction="20000"/>
          </a:bodyPr>
          <a:lstStyle/>
          <a:p>
            <a:pPr algn="l"/>
            <a:r>
              <a:rPr lang="fr-FR" sz="2600" b="0" dirty="0">
                <a:solidFill>
                  <a:srgbClr val="8B2132"/>
                </a:solidFill>
                <a:effectLst/>
                <a:latin typeface="Helvetica" panose="020B0604020202020204" pitchFamily="34" charset="0"/>
                <a:cs typeface="Helvetica" panose="020B0604020202020204" pitchFamily="34" charset="0"/>
              </a:rPr>
              <a:t>What We've Accomplished:</a:t>
            </a:r>
          </a:p>
          <a:p>
            <a:pPr algn="l"/>
            <a:r>
              <a:rPr lang="fr-FR" sz="2600" b="0" dirty="0">
                <a:effectLst/>
                <a:latin typeface="Helvetica" panose="020B0604020202020204" pitchFamily="34" charset="0"/>
                <a:cs typeface="Helvetica" panose="020B0604020202020204" pitchFamily="34" charset="0"/>
              </a:rPr>
              <a:t>- Problem identified and solution developed</a:t>
            </a:r>
          </a:p>
          <a:p>
            <a:pPr algn="l"/>
            <a:r>
              <a:rPr lang="fr-FR" sz="2600" b="0" dirty="0">
                <a:effectLst/>
                <a:latin typeface="Helvetica" panose="020B0604020202020204" pitchFamily="34" charset="0"/>
                <a:cs typeface="Helvetica" panose="020B0604020202020204" pitchFamily="34" charset="0"/>
              </a:rPr>
              <a:t>- High-performance ML model (93% R²)</a:t>
            </a:r>
          </a:p>
          <a:p>
            <a:pPr algn="l"/>
            <a:r>
              <a:rPr lang="fr-FR" sz="2600" b="0" dirty="0">
                <a:effectLst/>
                <a:latin typeface="Helvetica" panose="020B0604020202020204" pitchFamily="34" charset="0"/>
                <a:cs typeface="Helvetica" panose="020B0604020202020204" pitchFamily="34" charset="0"/>
              </a:rPr>
              <a:t>- Explainable AI with SHAP</a:t>
            </a:r>
          </a:p>
          <a:p>
            <a:pPr algn="l"/>
            <a:r>
              <a:rPr lang="fr-FR" sz="2600" b="0" dirty="0">
                <a:effectLst/>
                <a:latin typeface="Helvetica" panose="020B0604020202020204" pitchFamily="34" charset="0"/>
                <a:cs typeface="Helvetica" panose="020B0604020202020204" pitchFamily="34" charset="0"/>
              </a:rPr>
              <a:t>- Cost and CO₂ impact analysis</a:t>
            </a:r>
          </a:p>
          <a:p>
            <a:pPr algn="l"/>
            <a:r>
              <a:rPr lang="fr-FR" sz="2600" b="0" dirty="0">
                <a:effectLst/>
                <a:latin typeface="Helvetica" panose="020B0604020202020204" pitchFamily="34" charset="0"/>
                <a:cs typeface="Helvetica" panose="020B0604020202020204" pitchFamily="34" charset="0"/>
              </a:rPr>
              <a:t>- Reliability indicators</a:t>
            </a:r>
          </a:p>
          <a:p>
            <a:pPr algn="l"/>
            <a:r>
              <a:rPr lang="fr-FR" sz="2600" b="0" dirty="0">
                <a:effectLst/>
                <a:latin typeface="Helvetica" panose="020B0604020202020204" pitchFamily="34" charset="0"/>
                <a:cs typeface="Helvetica" panose="020B0604020202020204" pitchFamily="34" charset="0"/>
              </a:rPr>
              <a:t>- Professional web application</a:t>
            </a:r>
          </a:p>
          <a:p>
            <a:pPr algn="l"/>
            <a:r>
              <a:rPr lang="fr-FR" sz="2600" b="0" dirty="0">
                <a:effectLst/>
                <a:latin typeface="Helvetica" panose="020B0604020202020204" pitchFamily="34" charset="0"/>
                <a:cs typeface="Helvetica" panose="020B0604020202020204" pitchFamily="34" charset="0"/>
              </a:rPr>
              <a:t>- Real data integration in progress</a:t>
            </a:r>
          </a:p>
          <a:p>
            <a:br>
              <a:rPr lang="fr-FR" b="0" dirty="0">
                <a:solidFill>
                  <a:srgbClr val="CCCCCC"/>
                </a:solidFill>
                <a:effectLst/>
                <a:latin typeface="Consolas" panose="020B0609020204030204" pitchFamily="49" charset="0"/>
              </a:rPr>
            </a:br>
            <a:endParaRPr lang="fr-FR" b="0" dirty="0">
              <a:solidFill>
                <a:srgbClr val="CCCCCC"/>
              </a:solidFill>
              <a:effectLst/>
              <a:latin typeface="Consolas" panose="020B0609020204030204" pitchFamily="49" charset="0"/>
            </a:endParaRPr>
          </a:p>
          <a:p>
            <a:endParaRPr lang="fr-FR" dirty="0"/>
          </a:p>
        </p:txBody>
      </p:sp>
      <p:sp>
        <p:nvSpPr>
          <p:cNvPr id="4" name="Subtitle 2">
            <a:extLst>
              <a:ext uri="{FF2B5EF4-FFF2-40B4-BE49-F238E27FC236}">
                <a16:creationId xmlns:a16="http://schemas.microsoft.com/office/drawing/2014/main" id="{BD376662-44A4-4AAD-877D-622ABA39025D}"/>
              </a:ext>
            </a:extLst>
          </p:cNvPr>
          <p:cNvSpPr txBox="1">
            <a:spLocks/>
          </p:cNvSpPr>
          <p:nvPr/>
        </p:nvSpPr>
        <p:spPr>
          <a:xfrm>
            <a:off x="5441794" y="1572322"/>
            <a:ext cx="5077522" cy="186103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0" dirty="0">
                <a:solidFill>
                  <a:srgbClr val="8B2132"/>
                </a:solidFill>
                <a:effectLst/>
                <a:latin typeface="Helvetica" panose="020B0604020202020204" pitchFamily="34" charset="0"/>
                <a:cs typeface="Helvetica" panose="020B0604020202020204" pitchFamily="34" charset="0"/>
              </a:rPr>
              <a:t>Next Steps:</a:t>
            </a:r>
          </a:p>
          <a:p>
            <a:pPr algn="l"/>
            <a:r>
              <a:rPr lang="en-US" sz="1800" b="0" dirty="0">
                <a:effectLst/>
                <a:latin typeface="Helvetica" panose="020B0604020202020204" pitchFamily="34" charset="0"/>
                <a:cs typeface="Helvetica" panose="020B0604020202020204" pitchFamily="34" charset="0"/>
              </a:rPr>
              <a:t>- Complete Hourie data integration</a:t>
            </a:r>
          </a:p>
          <a:p>
            <a:pPr algn="l"/>
            <a:r>
              <a:rPr lang="en-US" sz="1800" b="0" dirty="0">
                <a:effectLst/>
                <a:latin typeface="Helvetica" panose="020B0604020202020204" pitchFamily="34" charset="0"/>
                <a:cs typeface="Helvetica" panose="020B0604020202020204" pitchFamily="34" charset="0"/>
              </a:rPr>
              <a:t>- Model retraining and validation</a:t>
            </a:r>
          </a:p>
          <a:p>
            <a:pPr algn="l"/>
            <a:r>
              <a:rPr lang="en-US" sz="1800" b="0" dirty="0">
                <a:effectLst/>
                <a:latin typeface="Helvetica" panose="020B0604020202020204" pitchFamily="34" charset="0"/>
                <a:cs typeface="Helvetica" panose="020B0604020202020204" pitchFamily="34" charset="0"/>
              </a:rPr>
              <a:t>- User feedback collection</a:t>
            </a:r>
          </a:p>
          <a:p>
            <a:pPr algn="l"/>
            <a:r>
              <a:rPr lang="en-US" sz="1800" b="0" dirty="0">
                <a:effectLst/>
                <a:latin typeface="Helvetica" panose="020B0604020202020204" pitchFamily="34" charset="0"/>
                <a:cs typeface="Helvetica" panose="020B0604020202020204" pitchFamily="34" charset="0"/>
              </a:rPr>
              <a:t>- Final report completion</a:t>
            </a:r>
          </a:p>
        </p:txBody>
      </p:sp>
      <p:sp>
        <p:nvSpPr>
          <p:cNvPr id="5" name="Subtitle 2">
            <a:extLst>
              <a:ext uri="{FF2B5EF4-FFF2-40B4-BE49-F238E27FC236}">
                <a16:creationId xmlns:a16="http://schemas.microsoft.com/office/drawing/2014/main" id="{A564DBAE-45DD-4864-AB17-5D71EC50E8D5}"/>
              </a:ext>
            </a:extLst>
          </p:cNvPr>
          <p:cNvSpPr txBox="1">
            <a:spLocks/>
          </p:cNvSpPr>
          <p:nvPr/>
        </p:nvSpPr>
        <p:spPr>
          <a:xfrm>
            <a:off x="364272" y="4089843"/>
            <a:ext cx="6337609" cy="225279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r>
              <a:rPr lang="en-US" sz="1800" b="0" dirty="0">
                <a:solidFill>
                  <a:srgbClr val="8B2132"/>
                </a:solidFill>
                <a:effectLst/>
                <a:latin typeface="Helvetica" panose="020B0604020202020204" pitchFamily="34" charset="0"/>
                <a:cs typeface="Helvetica" panose="020B0604020202020204" pitchFamily="34" charset="0"/>
              </a:rPr>
            </a:br>
            <a:r>
              <a:rPr lang="en-US" sz="1800" b="0" dirty="0">
                <a:solidFill>
                  <a:srgbClr val="8B2132"/>
                </a:solidFill>
                <a:effectLst/>
                <a:latin typeface="Helvetica" panose="020B0604020202020204" pitchFamily="34" charset="0"/>
                <a:cs typeface="Helvetica" panose="020B0604020202020204" pitchFamily="34" charset="0"/>
              </a:rPr>
              <a:t>Key Takeaways:</a:t>
            </a:r>
          </a:p>
          <a:p>
            <a:pPr algn="l"/>
            <a:r>
              <a:rPr lang="en-US" sz="1800" b="0" dirty="0">
                <a:effectLst/>
                <a:latin typeface="Helvetica" panose="020B0604020202020204" pitchFamily="34" charset="0"/>
                <a:cs typeface="Helvetica" panose="020B0604020202020204" pitchFamily="34" charset="0"/>
              </a:rPr>
              <a:t>- Data-Driven Approach: ML outperforms traditional methods</a:t>
            </a:r>
          </a:p>
          <a:p>
            <a:pPr algn="l"/>
            <a:r>
              <a:rPr lang="en-US" sz="1800" b="0" dirty="0">
                <a:effectLst/>
                <a:latin typeface="Helvetica" panose="020B0604020202020204" pitchFamily="34" charset="0"/>
                <a:cs typeface="Helvetica" panose="020B0604020202020204" pitchFamily="34" charset="0"/>
              </a:rPr>
              <a:t>- Practical Value: Immediate cost and environmental benefits</a:t>
            </a:r>
          </a:p>
          <a:p>
            <a:pPr algn="l"/>
            <a:r>
              <a:rPr lang="en-US" sz="1800" b="0" dirty="0">
                <a:effectLst/>
                <a:latin typeface="Helvetica" panose="020B0604020202020204" pitchFamily="34" charset="0"/>
                <a:cs typeface="Helvetica" panose="020B0604020202020204" pitchFamily="34" charset="0"/>
              </a:rPr>
              <a:t>- Engineering Focus: Explainability and reliability for responsible use</a:t>
            </a:r>
          </a:p>
          <a:p>
            <a:pPr algn="l"/>
            <a:r>
              <a:rPr lang="en-US" sz="1800" b="0" dirty="0">
                <a:effectLst/>
                <a:latin typeface="Helvetica" panose="020B0604020202020204" pitchFamily="34" charset="0"/>
                <a:cs typeface="Helvetica" panose="020B0604020202020204" pitchFamily="34" charset="0"/>
              </a:rPr>
              <a:t>- Production-Ready: System ready for industry deployment</a:t>
            </a:r>
          </a:p>
        </p:txBody>
      </p:sp>
    </p:spTree>
    <p:extLst>
      <p:ext uri="{BB962C8B-B14F-4D97-AF65-F5344CB8AC3E}">
        <p14:creationId xmlns:p14="http://schemas.microsoft.com/office/powerpoint/2010/main" val="7256504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ank you.">
            <a:extLst>
              <a:ext uri="{FF2B5EF4-FFF2-40B4-BE49-F238E27FC236}">
                <a16:creationId xmlns:a16="http://schemas.microsoft.com/office/drawing/2014/main" id="{B4319C23-2995-A4C2-5E46-15A29F539897}"/>
              </a:ext>
            </a:extLst>
          </p:cNvPr>
          <p:cNvSpPr txBox="1"/>
          <p:nvPr/>
        </p:nvSpPr>
        <p:spPr>
          <a:xfrm>
            <a:off x="4062663" y="3429000"/>
            <a:ext cx="4066674" cy="3645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spAutoFit/>
          </a:bodyPr>
          <a:lstStyle>
            <a:lvl1pPr algn="l">
              <a:lnSpc>
                <a:spcPct val="90000"/>
              </a:lnSpc>
              <a:defRPr sz="4500" b="1" cap="all">
                <a:solidFill>
                  <a:srgbClr val="FFFFFF"/>
                </a:solidFill>
                <a:latin typeface="Proxima Nova Rg"/>
                <a:ea typeface="Proxima Nova Rg"/>
                <a:cs typeface="Proxima Nova Rg"/>
                <a:sym typeface="Proxima Nova"/>
              </a:defRPr>
            </a:lvl1pPr>
          </a:lstStyle>
          <a:p>
            <a:pPr algn="ctr"/>
            <a:r>
              <a:rPr sz="2250" dirty="0">
                <a:latin typeface="Helvetica" pitchFamily="2" charset="0"/>
              </a:rPr>
              <a:t>Thank you</a:t>
            </a:r>
          </a:p>
        </p:txBody>
      </p:sp>
    </p:spTree>
    <p:extLst>
      <p:ext uri="{BB962C8B-B14F-4D97-AF65-F5344CB8AC3E}">
        <p14:creationId xmlns:p14="http://schemas.microsoft.com/office/powerpoint/2010/main" val="4112918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advTm="20000">
        <p159:morph option="byObject"/>
      </p:transition>
    </mc:Choice>
    <mc:Fallback xmlns="">
      <p:transition advTm="200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4272b19-4791-4d73-aa4b-2eeb35b1876b">
      <Terms xmlns="http://schemas.microsoft.com/office/infopath/2007/PartnerControls"/>
    </lcf76f155ced4ddcb4097134ff3c332f>
    <TaxCatchAll xmlns="137939c2-9a96-4a4a-90eb-eede518ca26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FC4F955A51A24B98899D067437046D" ma:contentTypeVersion="17" ma:contentTypeDescription="Create a new document." ma:contentTypeScope="" ma:versionID="be7086db1e748eb8301044dd24c62b08">
  <xsd:schema xmlns:xsd="http://www.w3.org/2001/XMLSchema" xmlns:xs="http://www.w3.org/2001/XMLSchema" xmlns:p="http://schemas.microsoft.com/office/2006/metadata/properties" xmlns:ns2="04272b19-4791-4d73-aa4b-2eeb35b1876b" xmlns:ns3="137939c2-9a96-4a4a-90eb-eede518ca261" targetNamespace="http://schemas.microsoft.com/office/2006/metadata/properties" ma:root="true" ma:fieldsID="5eb7f14a5eb2660a50d57d4280e0e6d7" ns2:_="" ns3:_="">
    <xsd:import namespace="04272b19-4791-4d73-aa4b-2eeb35b1876b"/>
    <xsd:import namespace="137939c2-9a96-4a4a-90eb-eede518ca26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lcf76f155ced4ddcb4097134ff3c332f" minOccurs="0"/>
                <xsd:element ref="ns3:TaxCatchAll"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272b19-4791-4d73-aa4b-2eeb35b187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98592a98-4f2a-4e5e-9847-0c7f087500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7939c2-9a96-4a4a-90eb-eede518ca26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d1a535a2-0339-40e4-9e61-17f980d0336c}" ma:internalName="TaxCatchAll" ma:showField="CatchAllData" ma:web="137939c2-9a96-4a4a-90eb-eede518ca2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9474C8-8594-42FA-A66D-04EE01938346}">
  <ds:schemaRefs>
    <ds:schemaRef ds:uri="04272b19-4791-4d73-aa4b-2eeb35b1876b"/>
    <ds:schemaRef ds:uri="http://purl.org/dc/term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137939c2-9a96-4a4a-90eb-eede518ca261"/>
    <ds:schemaRef ds:uri="http://purl.org/dc/dcmitype/"/>
  </ds:schemaRefs>
</ds:datastoreItem>
</file>

<file path=customXml/itemProps2.xml><?xml version="1.0" encoding="utf-8"?>
<ds:datastoreItem xmlns:ds="http://schemas.openxmlformats.org/officeDocument/2006/customXml" ds:itemID="{F3DB0040-1EBF-4B68-A432-C5528C5647DE}">
  <ds:schemaRefs>
    <ds:schemaRef ds:uri="http://schemas.microsoft.com/sharepoint/v3/contenttype/forms"/>
  </ds:schemaRefs>
</ds:datastoreItem>
</file>

<file path=customXml/itemProps3.xml><?xml version="1.0" encoding="utf-8"?>
<ds:datastoreItem xmlns:ds="http://schemas.openxmlformats.org/officeDocument/2006/customXml" ds:itemID="{850670BF-BC79-4835-BCE4-56448BEA0C6D}">
  <ds:schemaRefs>
    <ds:schemaRef ds:uri="04272b19-4791-4d73-aa4b-2eeb35b1876b"/>
    <ds:schemaRef ds:uri="137939c2-9a96-4a4a-90eb-eede518ca26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779</TotalTime>
  <Words>7912</Words>
  <Application>Microsoft Office PowerPoint</Application>
  <PresentationFormat>Widescreen</PresentationFormat>
  <Paragraphs>523</Paragraphs>
  <Slides>32</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Aptos Display</vt:lpstr>
      <vt:lpstr>Arial</vt:lpstr>
      <vt:lpstr>Consolas</vt:lpstr>
      <vt:lpstr>Helvetica</vt:lpstr>
      <vt:lpstr>Proxima Nova Lt</vt:lpstr>
      <vt:lpstr>Office Theme</vt:lpstr>
      <vt:lpstr>PowerPoint Presentation</vt:lpstr>
      <vt:lpstr>Problem Statement</vt:lpstr>
      <vt:lpstr>Methodology</vt:lpstr>
      <vt:lpstr>Last Semester Work - Overview</vt:lpstr>
      <vt:lpstr>Last Semester Work - Data Generation Process </vt:lpstr>
      <vt:lpstr>Last Semester Work - Data Generation Process </vt:lpstr>
      <vt:lpstr>Website Interface Progression </vt:lpstr>
      <vt:lpstr>User Journey &amp; Ease of Use </vt:lpstr>
      <vt:lpstr>User Journey &amp; Ease of Use </vt:lpstr>
      <vt:lpstr>Website Example Walkthrough </vt:lpstr>
      <vt:lpstr>Website Example Walkthrough</vt:lpstr>
      <vt:lpstr>Hourie Data Acquisition </vt:lpstr>
      <vt:lpstr>Hourie Data Acquisition </vt:lpstr>
      <vt:lpstr>Hourie Data Acquisition </vt:lpstr>
      <vt:lpstr>Features Summary </vt:lpstr>
      <vt:lpstr>Technical Implementation: SHAP Explainability </vt:lpstr>
      <vt:lpstr>Technical Implementation: SHAP Explainability</vt:lpstr>
      <vt:lpstr>Technical Implementation: SHAP Explainability</vt:lpstr>
      <vt:lpstr>Technical Implementation: Reliability &amp; Cost/CO₂ </vt:lpstr>
      <vt:lpstr>Technical Implementation: Reliability &amp; Cost/CO₂ </vt:lpstr>
      <vt:lpstr>Technical Implementation: Reliability &amp; Cost/CO₂ </vt:lpstr>
      <vt:lpstr>Technical Implementation: Flask Backend </vt:lpstr>
      <vt:lpstr>Technical Implementation: Flask Backend </vt:lpstr>
      <vt:lpstr>Technical Implementation: Flask Backend </vt:lpstr>
      <vt:lpstr>Future Work </vt:lpstr>
      <vt:lpstr>Future Work</vt:lpstr>
      <vt:lpstr>Impact</vt:lpstr>
      <vt:lpstr>Impact</vt:lpstr>
      <vt:lpstr>Interactive Exercise - Try the Website </vt:lpstr>
      <vt:lpstr>Interactive Exercise - Try the Website </vt:lpstr>
      <vt:lpstr>Conclusion &amp; Thank You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Niveen Abi Ghannam</dc:creator>
  <cp:lastModifiedBy>Roben Fahed</cp:lastModifiedBy>
  <cp:revision>98</cp:revision>
  <dcterms:created xsi:type="dcterms:W3CDTF">2025-11-21T07:45:51Z</dcterms:created>
  <dcterms:modified xsi:type="dcterms:W3CDTF">2026-02-27T21:29:19Z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0x01010045FC4F955A51A24B98899D067437046D</vt:lpwstr>
  </property>
  <property fmtid="{D5CDD505-2E9C-101B-9397-08002B2CF9AE}" pid="3" name="MediaServiceImageTags">
    <vt:lpwstr/>
  </property>
</Properties>
</file>